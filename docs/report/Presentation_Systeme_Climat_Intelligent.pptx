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x="18288000" cy="10287000"/>
  <p:notesSz cx="6858000" cy="9144000"/>
  <p:embeddedFontLst>
    <p:embeddedFont>
      <p:font typeface="Passion One" charset="1" panose="02000506080000020004"/>
      <p:regular r:id="rId65"/>
    </p:embeddedFont>
    <p:embeddedFont>
      <p:font typeface="Open Sans Semi-Bold" charset="1" panose="00000000000000000000"/>
      <p:regular r:id="rId66"/>
    </p:embeddedFont>
    <p:embeddedFont>
      <p:font typeface="Open Sans" charset="1" panose="00000000000000000000"/>
      <p:regular r:id="rId67"/>
    </p:embeddedFont>
    <p:embeddedFont>
      <p:font typeface="Open Sans Bold" charset="1" panose="00000000000000000000"/>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16.png" Type="http://schemas.openxmlformats.org/officeDocument/2006/relationships/image"/><Relationship Id="rId9" Target="../media/image3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 Id="rId4" Target="../media/image5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svg" Type="http://schemas.openxmlformats.org/officeDocument/2006/relationships/image"/><Relationship Id="rId11" Target="../media/image77.png" Type="http://schemas.openxmlformats.org/officeDocument/2006/relationships/image"/><Relationship Id="rId12" Target="../media/image78.png" Type="http://schemas.openxmlformats.org/officeDocument/2006/relationships/image"/><Relationship Id="rId13" Target="../media/image79.png" Type="http://schemas.openxmlformats.org/officeDocument/2006/relationships/image"/><Relationship Id="rId2" Target="../media/image70.png" Type="http://schemas.openxmlformats.org/officeDocument/2006/relationships/image"/><Relationship Id="rId3" Target="../media/image71.svg" Type="http://schemas.openxmlformats.org/officeDocument/2006/relationships/image"/><Relationship Id="rId4" Target="../media/image72.png" Type="http://schemas.openxmlformats.org/officeDocument/2006/relationships/image"/><Relationship Id="rId5" Target="../media/image73.png" Type="http://schemas.openxmlformats.org/officeDocument/2006/relationships/image"/><Relationship Id="rId6" Target="../media/image74.png" Type="http://schemas.openxmlformats.org/officeDocument/2006/relationships/image"/><Relationship Id="rId7" Target="../media/image75.png" Type="http://schemas.openxmlformats.org/officeDocument/2006/relationships/image"/><Relationship Id="rId8" Target="../media/image76.png" Type="http://schemas.openxmlformats.org/officeDocument/2006/relationships/image"/><Relationship Id="rId9" Target="../media/image1.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0.png" Type="http://schemas.openxmlformats.org/officeDocument/2006/relationships/image"/><Relationship Id="rId5" Target="../media/image81.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4490074" y="-290214"/>
            <a:ext cx="3980429" cy="3313708"/>
          </a:xfrm>
          <a:custGeom>
            <a:avLst/>
            <a:gdLst/>
            <a:ahLst/>
            <a:cxnLst/>
            <a:rect r="r" b="b" t="t" l="l"/>
            <a:pathLst>
              <a:path h="3313708" w="3980429">
                <a:moveTo>
                  <a:pt x="3980430" y="0"/>
                </a:moveTo>
                <a:lnTo>
                  <a:pt x="0" y="0"/>
                </a:lnTo>
                <a:lnTo>
                  <a:pt x="0" y="3313707"/>
                </a:lnTo>
                <a:lnTo>
                  <a:pt x="3980430" y="3313707"/>
                </a:lnTo>
                <a:lnTo>
                  <a:pt x="398043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760" y="-290214"/>
            <a:ext cx="3980429" cy="3313708"/>
          </a:xfrm>
          <a:custGeom>
            <a:avLst/>
            <a:gdLst/>
            <a:ahLst/>
            <a:cxnLst/>
            <a:rect r="r" b="b" t="t" l="l"/>
            <a:pathLst>
              <a:path h="3313708" w="3980429">
                <a:moveTo>
                  <a:pt x="0" y="0"/>
                </a:moveTo>
                <a:lnTo>
                  <a:pt x="3980430" y="0"/>
                </a:lnTo>
                <a:lnTo>
                  <a:pt x="3980430" y="3313707"/>
                </a:lnTo>
                <a:lnTo>
                  <a:pt x="0" y="331370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2275103" y="1726370"/>
            <a:ext cx="5883158" cy="6834259"/>
          </a:xfrm>
          <a:custGeom>
            <a:avLst/>
            <a:gdLst/>
            <a:ahLst/>
            <a:cxnLst/>
            <a:rect r="r" b="b" t="t" l="l"/>
            <a:pathLst>
              <a:path h="6834259" w="5883158">
                <a:moveTo>
                  <a:pt x="5883158" y="0"/>
                </a:moveTo>
                <a:lnTo>
                  <a:pt x="0" y="0"/>
                </a:lnTo>
                <a:lnTo>
                  <a:pt x="0" y="6834260"/>
                </a:lnTo>
                <a:lnTo>
                  <a:pt x="5883158" y="6834260"/>
                </a:lnTo>
                <a:lnTo>
                  <a:pt x="58831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096177" y="2941337"/>
            <a:ext cx="4241010" cy="42410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grpSp>
        <p:nvGrpSpPr>
          <p:cNvPr name="Group 7" id="7"/>
          <p:cNvGrpSpPr/>
          <p:nvPr/>
        </p:nvGrpSpPr>
        <p:grpSpPr>
          <a:xfrm rot="0">
            <a:off x="-299593" y="9482103"/>
            <a:ext cx="18887186" cy="1193301"/>
            <a:chOff x="0" y="0"/>
            <a:chExt cx="4974403" cy="314285"/>
          </a:xfrm>
        </p:grpSpPr>
        <p:sp>
          <p:nvSpPr>
            <p:cNvPr name="Freeform 8" id="8"/>
            <p:cNvSpPr/>
            <p:nvPr/>
          </p:nvSpPr>
          <p:spPr>
            <a:xfrm flipH="false" flipV="false" rot="0">
              <a:off x="0" y="0"/>
              <a:ext cx="4974403" cy="314285"/>
            </a:xfrm>
            <a:custGeom>
              <a:avLst/>
              <a:gdLst/>
              <a:ahLst/>
              <a:cxnLst/>
              <a:rect r="r" b="b" t="t" l="l"/>
              <a:pathLst>
                <a:path h="314285" w="4974403">
                  <a:moveTo>
                    <a:pt x="0" y="0"/>
                  </a:moveTo>
                  <a:lnTo>
                    <a:pt x="4974403" y="0"/>
                  </a:lnTo>
                  <a:lnTo>
                    <a:pt x="4974403" y="314285"/>
                  </a:lnTo>
                  <a:lnTo>
                    <a:pt x="0" y="314285"/>
                  </a:lnTo>
                  <a:close/>
                </a:path>
              </a:pathLst>
            </a:custGeom>
            <a:gradFill rotWithShape="true">
              <a:gsLst>
                <a:gs pos="0">
                  <a:srgbClr val="000000">
                    <a:alpha val="100000"/>
                  </a:srgbClr>
                </a:gs>
                <a:gs pos="100000">
                  <a:srgbClr val="961E78">
                    <a:alpha val="100000"/>
                  </a:srgbClr>
                </a:gs>
              </a:gsLst>
              <a:lin ang="18900000"/>
            </a:gradFill>
          </p:spPr>
        </p:sp>
        <p:sp>
          <p:nvSpPr>
            <p:cNvPr name="TextBox 9" id="9"/>
            <p:cNvSpPr txBox="true"/>
            <p:nvPr/>
          </p:nvSpPr>
          <p:spPr>
            <a:xfrm>
              <a:off x="0" y="-38100"/>
              <a:ext cx="4974403" cy="352385"/>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8009869"/>
            <a:ext cx="892561" cy="567892"/>
          </a:xfrm>
          <a:custGeom>
            <a:avLst/>
            <a:gdLst/>
            <a:ahLst/>
            <a:cxnLst/>
            <a:rect r="r" b="b" t="t" l="l"/>
            <a:pathLst>
              <a:path h="567892" w="892561">
                <a:moveTo>
                  <a:pt x="0" y="0"/>
                </a:moveTo>
                <a:lnTo>
                  <a:pt x="892561" y="0"/>
                </a:lnTo>
                <a:lnTo>
                  <a:pt x="892561" y="567891"/>
                </a:lnTo>
                <a:lnTo>
                  <a:pt x="0" y="5678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9365124" y="3628677"/>
            <a:ext cx="7422708" cy="3346459"/>
          </a:xfrm>
          <a:prstGeom prst="rect">
            <a:avLst/>
          </a:prstGeom>
        </p:spPr>
        <p:txBody>
          <a:bodyPr anchor="t" rtlCol="false" tIns="0" lIns="0" bIns="0" rIns="0">
            <a:spAutoFit/>
          </a:bodyPr>
          <a:lstStyle/>
          <a:p>
            <a:pPr algn="l">
              <a:lnSpc>
                <a:spcPts val="5225"/>
              </a:lnSpc>
            </a:pPr>
          </a:p>
          <a:p>
            <a:pPr algn="l">
              <a:lnSpc>
                <a:spcPts val="5225"/>
              </a:lnSpc>
            </a:pPr>
            <a:r>
              <a:rPr lang="en-US" sz="5500">
                <a:solidFill>
                  <a:srgbClr val="FFFFFF"/>
                </a:solidFill>
                <a:latin typeface="Passion One"/>
                <a:ea typeface="Passion One"/>
                <a:cs typeface="Passion One"/>
                <a:sym typeface="Passion One"/>
              </a:rPr>
              <a:t>Système de </a:t>
            </a:r>
            <a:r>
              <a:rPr lang="en-US" sz="5500">
                <a:solidFill>
                  <a:srgbClr val="FFFFFF"/>
                </a:solidFill>
                <a:latin typeface="Passion One"/>
                <a:ea typeface="Passion One"/>
                <a:cs typeface="Passion One"/>
                <a:sym typeface="Passion One"/>
              </a:rPr>
              <a:t>CLIMAT INTELLIGENT : CONTRÔLER AUTOMATIQUEMENT </a:t>
            </a:r>
          </a:p>
          <a:p>
            <a:pPr algn="l">
              <a:lnSpc>
                <a:spcPts val="5225"/>
              </a:lnSpc>
            </a:pPr>
          </a:p>
        </p:txBody>
      </p:sp>
      <p:sp>
        <p:nvSpPr>
          <p:cNvPr name="Freeform 12" id="12"/>
          <p:cNvSpPr/>
          <p:nvPr/>
        </p:nvSpPr>
        <p:spPr>
          <a:xfrm flipH="false" flipV="false" rot="0">
            <a:off x="3402881" y="42062"/>
            <a:ext cx="1452448" cy="1181324"/>
          </a:xfrm>
          <a:custGeom>
            <a:avLst/>
            <a:gdLst/>
            <a:ahLst/>
            <a:cxnLst/>
            <a:rect r="r" b="b" t="t" l="l"/>
            <a:pathLst>
              <a:path h="1181324" w="1452448">
                <a:moveTo>
                  <a:pt x="0" y="0"/>
                </a:moveTo>
                <a:lnTo>
                  <a:pt x="1452448" y="0"/>
                </a:lnTo>
                <a:lnTo>
                  <a:pt x="1452448" y="1181325"/>
                </a:lnTo>
                <a:lnTo>
                  <a:pt x="0" y="1181325"/>
                </a:lnTo>
                <a:lnTo>
                  <a:pt x="0" y="0"/>
                </a:lnTo>
                <a:close/>
              </a:path>
            </a:pathLst>
          </a:custGeom>
          <a:blipFill>
            <a:blip r:embed="rId9"/>
            <a:stretch>
              <a:fillRect l="0" t="0" r="0" b="0"/>
            </a:stretch>
          </a:blipFill>
        </p:spPr>
      </p:sp>
      <p:sp>
        <p:nvSpPr>
          <p:cNvPr name="Freeform 13" id="13"/>
          <p:cNvSpPr/>
          <p:nvPr/>
        </p:nvSpPr>
        <p:spPr>
          <a:xfrm flipH="false" flipV="false" rot="0">
            <a:off x="13301579" y="101191"/>
            <a:ext cx="1188496" cy="1265449"/>
          </a:xfrm>
          <a:custGeom>
            <a:avLst/>
            <a:gdLst/>
            <a:ahLst/>
            <a:cxnLst/>
            <a:rect r="r" b="b" t="t" l="l"/>
            <a:pathLst>
              <a:path h="1265449" w="1188496">
                <a:moveTo>
                  <a:pt x="0" y="0"/>
                </a:moveTo>
                <a:lnTo>
                  <a:pt x="1188495" y="0"/>
                </a:lnTo>
                <a:lnTo>
                  <a:pt x="1188495" y="1265449"/>
                </a:lnTo>
                <a:lnTo>
                  <a:pt x="0" y="1265449"/>
                </a:lnTo>
                <a:lnTo>
                  <a:pt x="0" y="0"/>
                </a:lnTo>
                <a:close/>
              </a:path>
            </a:pathLst>
          </a:custGeom>
          <a:blipFill>
            <a:blip r:embed="rId10"/>
            <a:stretch>
              <a:fillRect l="0" t="0" r="0" b="0"/>
            </a:stretch>
          </a:blipFill>
        </p:spPr>
      </p:sp>
      <p:sp>
        <p:nvSpPr>
          <p:cNvPr name="TextBox 14" id="14"/>
          <p:cNvSpPr txBox="true"/>
          <p:nvPr/>
        </p:nvSpPr>
        <p:spPr>
          <a:xfrm rot="0">
            <a:off x="5703885" y="283886"/>
            <a:ext cx="6708693" cy="1425581"/>
          </a:xfrm>
          <a:prstGeom prst="rect">
            <a:avLst/>
          </a:prstGeom>
        </p:spPr>
        <p:txBody>
          <a:bodyPr anchor="t" rtlCol="false" tIns="0" lIns="0" bIns="0" rIns="0">
            <a:spAutoFit/>
          </a:bodyPr>
          <a:lstStyle/>
          <a:p>
            <a:pPr algn="ctr">
              <a:lnSpc>
                <a:spcPts val="2845"/>
              </a:lnSpc>
              <a:spcBef>
                <a:spcPct val="0"/>
              </a:spcBef>
            </a:pPr>
            <a:r>
              <a:rPr lang="en-US" b="true" sz="2032">
                <a:solidFill>
                  <a:srgbClr val="FFFFFF"/>
                </a:solidFill>
                <a:latin typeface="Open Sans Semi-Bold"/>
                <a:ea typeface="Open Sans Semi-Bold"/>
                <a:cs typeface="Open Sans Semi-Bold"/>
                <a:sym typeface="Open Sans Semi-Bold"/>
              </a:rPr>
              <a:t> Université Abdelmalek essaadi</a:t>
            </a:r>
          </a:p>
          <a:p>
            <a:pPr algn="ctr">
              <a:lnSpc>
                <a:spcPts val="2845"/>
              </a:lnSpc>
              <a:spcBef>
                <a:spcPct val="0"/>
              </a:spcBef>
            </a:pPr>
            <a:r>
              <a:rPr lang="en-US" b="true" sz="2032">
                <a:solidFill>
                  <a:srgbClr val="FFFFFF"/>
                </a:solidFill>
                <a:latin typeface="Open Sans Semi-Bold"/>
                <a:ea typeface="Open Sans Semi-Bold"/>
                <a:cs typeface="Open Sans Semi-Bold"/>
                <a:sym typeface="Open Sans Semi-Bold"/>
              </a:rPr>
              <a:t> Ecole Nationale des Sciences Appliquées d'AlHoceima</a:t>
            </a:r>
          </a:p>
          <a:p>
            <a:pPr algn="ctr">
              <a:lnSpc>
                <a:spcPts val="2845"/>
              </a:lnSpc>
              <a:spcBef>
                <a:spcPct val="0"/>
              </a:spcBef>
            </a:pPr>
            <a:r>
              <a:rPr lang="en-US" b="true" sz="2032">
                <a:solidFill>
                  <a:srgbClr val="FFFFFF"/>
                </a:solidFill>
                <a:latin typeface="Open Sans Semi-Bold"/>
                <a:ea typeface="Open Sans Semi-Bold"/>
                <a:cs typeface="Open Sans Semi-Bold"/>
                <a:sym typeface="Open Sans Semi-Bold"/>
              </a:rPr>
              <a:t> </a:t>
            </a:r>
          </a:p>
          <a:p>
            <a:pPr algn="ctr">
              <a:lnSpc>
                <a:spcPts val="2845"/>
              </a:lnSpc>
              <a:spcBef>
                <a:spcPct val="0"/>
              </a:spcBef>
            </a:pPr>
            <a:r>
              <a:rPr lang="en-US" b="true" sz="2032">
                <a:solidFill>
                  <a:srgbClr val="FFFFFF"/>
                </a:solidFill>
                <a:latin typeface="Open Sans Semi-Bold"/>
                <a:ea typeface="Open Sans Semi-Bold"/>
                <a:cs typeface="Open Sans Semi-Bold"/>
                <a:sym typeface="Open Sans Semi-Bold"/>
              </a:rPr>
              <a:t> </a:t>
            </a:r>
          </a:p>
        </p:txBody>
      </p:sp>
      <p:sp>
        <p:nvSpPr>
          <p:cNvPr name="TextBox 15" id="15"/>
          <p:cNvSpPr txBox="true"/>
          <p:nvPr/>
        </p:nvSpPr>
        <p:spPr>
          <a:xfrm rot="0">
            <a:off x="14865346" y="8352790"/>
            <a:ext cx="2873693" cy="905510"/>
          </a:xfrm>
          <a:prstGeom prst="rect">
            <a:avLst/>
          </a:prstGeom>
        </p:spPr>
        <p:txBody>
          <a:bodyPr anchor="t" rtlCol="false" tIns="0" lIns="0" bIns="0" rIns="0">
            <a:spAutoFit/>
          </a:bodyPr>
          <a:lstStyle/>
          <a:p>
            <a:pPr algn="ctr">
              <a:lnSpc>
                <a:spcPts val="3640"/>
              </a:lnSpc>
              <a:spcBef>
                <a:spcPct val="0"/>
              </a:spcBef>
            </a:pPr>
            <a:r>
              <a:rPr lang="en-US" b="true" sz="2600">
                <a:solidFill>
                  <a:srgbClr val="FFFFFF"/>
                </a:solidFill>
                <a:latin typeface="Open Sans Semi-Bold"/>
                <a:ea typeface="Open Sans Semi-Bold"/>
                <a:cs typeface="Open Sans Semi-Bold"/>
                <a:sym typeface="Open Sans Semi-Bold"/>
              </a:rPr>
              <a:t>Encadré par: </a:t>
            </a:r>
          </a:p>
          <a:p>
            <a:pPr algn="ctr">
              <a:lnSpc>
                <a:spcPts val="3640"/>
              </a:lnSpc>
              <a:spcBef>
                <a:spcPct val="0"/>
              </a:spcBef>
            </a:pPr>
            <a:r>
              <a:rPr lang="en-US" b="true" sz="2600">
                <a:solidFill>
                  <a:srgbClr val="FFFFFF"/>
                </a:solidFill>
                <a:latin typeface="Open Sans Semi-Bold"/>
                <a:ea typeface="Open Sans Semi-Bold"/>
                <a:cs typeface="Open Sans Semi-Bold"/>
                <a:sym typeface="Open Sans Semi-Bold"/>
              </a:rPr>
              <a:t> Pr. Hayat Routaib</a:t>
            </a:r>
          </a:p>
        </p:txBody>
      </p:sp>
      <p:sp>
        <p:nvSpPr>
          <p:cNvPr name="TextBox 16" id="16"/>
          <p:cNvSpPr txBox="true"/>
          <p:nvPr/>
        </p:nvSpPr>
        <p:spPr>
          <a:xfrm rot="0">
            <a:off x="714448" y="8834935"/>
            <a:ext cx="11552988" cy="448310"/>
          </a:xfrm>
          <a:prstGeom prst="rect">
            <a:avLst/>
          </a:prstGeom>
        </p:spPr>
        <p:txBody>
          <a:bodyPr anchor="t" rtlCol="false" tIns="0" lIns="0" bIns="0" rIns="0">
            <a:spAutoFit/>
          </a:bodyPr>
          <a:lstStyle/>
          <a:p>
            <a:pPr algn="ctr">
              <a:lnSpc>
                <a:spcPts val="3640"/>
              </a:lnSpc>
              <a:spcBef>
                <a:spcPct val="0"/>
              </a:spcBef>
            </a:pPr>
            <a:r>
              <a:rPr lang="en-US" b="true" sz="2600">
                <a:solidFill>
                  <a:srgbClr val="FFFFFF"/>
                </a:solidFill>
                <a:latin typeface="Open Sans Semi-Bold"/>
                <a:ea typeface="Open Sans Semi-Bold"/>
                <a:cs typeface="Open Sans Semi-Bold"/>
                <a:sym typeface="Open Sans Semi-Bold"/>
              </a:rPr>
              <a:t>Réalisé par : Asahaad Kaoutar ,Daouad Asmae,Taouni Ouiam</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4691587" y="4079915"/>
            <a:ext cx="9985307" cy="1656209"/>
          </a:xfrm>
          <a:prstGeom prst="rect">
            <a:avLst/>
          </a:prstGeom>
        </p:spPr>
        <p:txBody>
          <a:bodyPr anchor="t" rtlCol="false" tIns="0" lIns="0" bIns="0" rIns="0">
            <a:spAutoFit/>
          </a:bodyPr>
          <a:lstStyle/>
          <a:p>
            <a:pPr algn="l">
              <a:lnSpc>
                <a:spcPts val="12220"/>
              </a:lnSpc>
            </a:pPr>
            <a:r>
              <a:rPr lang="en-US" sz="12864">
                <a:solidFill>
                  <a:srgbClr val="FFFFFF"/>
                </a:solidFill>
                <a:latin typeface="Passion One"/>
                <a:ea typeface="Passion One"/>
                <a:cs typeface="Passion One"/>
                <a:sym typeface="Passion One"/>
              </a:rPr>
              <a:t>INTRODUCTION</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382747" y="3807234"/>
            <a:ext cx="7191307" cy="2510307"/>
          </a:xfrm>
          <a:prstGeom prst="rect">
            <a:avLst/>
          </a:prstGeom>
        </p:spPr>
        <p:txBody>
          <a:bodyPr anchor="t" rtlCol="false" tIns="0" lIns="0" bIns="0" rIns="0">
            <a:spAutoFit/>
          </a:bodyPr>
          <a:lstStyle/>
          <a:p>
            <a:pPr algn="l">
              <a:lnSpc>
                <a:spcPts val="9561"/>
              </a:lnSpc>
            </a:pPr>
            <a:r>
              <a:rPr lang="en-US" sz="10064">
                <a:solidFill>
                  <a:srgbClr val="FFFFFF"/>
                </a:solidFill>
                <a:latin typeface="Passion One"/>
                <a:ea typeface="Passion One"/>
                <a:cs typeface="Passion One"/>
                <a:sym typeface="Passion One"/>
              </a:rPr>
              <a:t>TABLE DES MATIÈRES</a:t>
            </a:r>
          </a:p>
        </p:txBody>
      </p:sp>
      <p:sp>
        <p:nvSpPr>
          <p:cNvPr name="TextBox 3" id="3"/>
          <p:cNvSpPr txBox="true"/>
          <p:nvPr/>
        </p:nvSpPr>
        <p:spPr>
          <a:xfrm rot="0">
            <a:off x="8574053" y="1780949"/>
            <a:ext cx="8286138" cy="511810"/>
          </a:xfrm>
          <a:prstGeom prst="rect">
            <a:avLst/>
          </a:prstGeom>
        </p:spPr>
        <p:txBody>
          <a:bodyPr anchor="t" rtlCol="false" tIns="0" lIns="0" bIns="0" rIns="0">
            <a:spAutoFit/>
          </a:bodyPr>
          <a:lstStyle/>
          <a:p>
            <a:pPr algn="l" marL="0" indent="0" lvl="0">
              <a:lnSpc>
                <a:spcPts val="4339"/>
              </a:lnSpc>
              <a:spcBef>
                <a:spcPct val="0"/>
              </a:spcBef>
            </a:pPr>
            <a:r>
              <a:rPr lang="en-US" b="true" sz="3099" strike="noStrike" u="none">
                <a:solidFill>
                  <a:srgbClr val="FFFFFF"/>
                </a:solidFill>
                <a:latin typeface="Open Sans Semi-Bold"/>
                <a:ea typeface="Open Sans Semi-Bold"/>
                <a:cs typeface="Open Sans Semi-Bold"/>
                <a:sym typeface="Open Sans Semi-Bold"/>
              </a:rPr>
              <a:t> Phase 1 : Simulation et Prototypage</a:t>
            </a:r>
          </a:p>
        </p:txBody>
      </p:sp>
      <p:sp>
        <p:nvSpPr>
          <p:cNvPr name="TextBox 4" id="4"/>
          <p:cNvSpPr txBox="true"/>
          <p:nvPr/>
        </p:nvSpPr>
        <p:spPr>
          <a:xfrm rot="0">
            <a:off x="8621857" y="3531009"/>
            <a:ext cx="8068509" cy="511810"/>
          </a:xfrm>
          <a:prstGeom prst="rect">
            <a:avLst/>
          </a:prstGeom>
        </p:spPr>
        <p:txBody>
          <a:bodyPr anchor="t" rtlCol="false" tIns="0" lIns="0" bIns="0" rIns="0">
            <a:spAutoFit/>
          </a:bodyPr>
          <a:lstStyle/>
          <a:p>
            <a:pPr algn="ctr">
              <a:lnSpc>
                <a:spcPts val="4339"/>
              </a:lnSpc>
              <a:spcBef>
                <a:spcPct val="0"/>
              </a:spcBef>
            </a:pPr>
            <a:r>
              <a:rPr lang="en-US" b="true" sz="3099">
                <a:solidFill>
                  <a:srgbClr val="FFFFFF"/>
                </a:solidFill>
                <a:latin typeface="Open Sans Semi-Bold"/>
                <a:ea typeface="Open Sans Semi-Bold"/>
                <a:cs typeface="Open Sans Semi-Bold"/>
                <a:sym typeface="Open Sans Semi-Bold"/>
              </a:rPr>
              <a:t>Phase 2 : Implémentation du Système Réel</a:t>
            </a:r>
          </a:p>
        </p:txBody>
      </p:sp>
      <p:sp>
        <p:nvSpPr>
          <p:cNvPr name="TextBox 5" id="5"/>
          <p:cNvSpPr txBox="true"/>
          <p:nvPr/>
        </p:nvSpPr>
        <p:spPr>
          <a:xfrm rot="0">
            <a:off x="8574053" y="5281069"/>
            <a:ext cx="9604474" cy="511810"/>
          </a:xfrm>
          <a:prstGeom prst="rect">
            <a:avLst/>
          </a:prstGeom>
        </p:spPr>
        <p:txBody>
          <a:bodyPr anchor="t" rtlCol="false" tIns="0" lIns="0" bIns="0" rIns="0">
            <a:spAutoFit/>
          </a:bodyPr>
          <a:lstStyle/>
          <a:p>
            <a:pPr algn="ctr">
              <a:lnSpc>
                <a:spcPts val="4339"/>
              </a:lnSpc>
              <a:spcBef>
                <a:spcPct val="0"/>
              </a:spcBef>
            </a:pPr>
            <a:r>
              <a:rPr lang="en-US" b="true" sz="3099">
                <a:solidFill>
                  <a:srgbClr val="FFFFFF"/>
                </a:solidFill>
                <a:latin typeface="Open Sans Semi-Bold"/>
                <a:ea typeface="Open Sans Semi-Bold"/>
                <a:cs typeface="Open Sans Semi-Bold"/>
                <a:sym typeface="Open Sans Semi-Bold"/>
              </a:rPr>
              <a:t> Phase 3 : Génération des données et Entrainment </a:t>
            </a:r>
          </a:p>
        </p:txBody>
      </p:sp>
      <p:sp>
        <p:nvSpPr>
          <p:cNvPr name="TextBox 6" id="6"/>
          <p:cNvSpPr txBox="true"/>
          <p:nvPr/>
        </p:nvSpPr>
        <p:spPr>
          <a:xfrm rot="0">
            <a:off x="8574053" y="8392457"/>
            <a:ext cx="9432012" cy="511810"/>
          </a:xfrm>
          <a:prstGeom prst="rect">
            <a:avLst/>
          </a:prstGeom>
        </p:spPr>
        <p:txBody>
          <a:bodyPr anchor="t" rtlCol="false" tIns="0" lIns="0" bIns="0" rIns="0">
            <a:spAutoFit/>
          </a:bodyPr>
          <a:lstStyle/>
          <a:p>
            <a:pPr algn="ctr">
              <a:lnSpc>
                <a:spcPts val="4339"/>
              </a:lnSpc>
              <a:spcBef>
                <a:spcPct val="0"/>
              </a:spcBef>
            </a:pPr>
            <a:r>
              <a:rPr lang="en-US" b="true" sz="3099">
                <a:solidFill>
                  <a:srgbClr val="FFFFFF"/>
                </a:solidFill>
                <a:latin typeface="Open Sans Semi-Bold"/>
                <a:ea typeface="Open Sans Semi-Bold"/>
                <a:cs typeface="Open Sans Semi-Bold"/>
                <a:sym typeface="Open Sans Semi-Bold"/>
              </a:rPr>
              <a:t> Phase 5 :  Déploiement de l’application sur Azure </a:t>
            </a:r>
          </a:p>
        </p:txBody>
      </p:sp>
      <p:sp>
        <p:nvSpPr>
          <p:cNvPr name="TextBox 7" id="7"/>
          <p:cNvSpPr txBox="true"/>
          <p:nvPr/>
        </p:nvSpPr>
        <p:spPr>
          <a:xfrm rot="0">
            <a:off x="8574053" y="6689622"/>
            <a:ext cx="8679418" cy="511810"/>
          </a:xfrm>
          <a:prstGeom prst="rect">
            <a:avLst/>
          </a:prstGeom>
        </p:spPr>
        <p:txBody>
          <a:bodyPr anchor="t" rtlCol="false" tIns="0" lIns="0" bIns="0" rIns="0">
            <a:spAutoFit/>
          </a:bodyPr>
          <a:lstStyle/>
          <a:p>
            <a:pPr algn="ctr">
              <a:lnSpc>
                <a:spcPts val="4339"/>
              </a:lnSpc>
              <a:spcBef>
                <a:spcPct val="0"/>
              </a:spcBef>
            </a:pPr>
            <a:r>
              <a:rPr lang="en-US" b="true" sz="3099">
                <a:solidFill>
                  <a:srgbClr val="FFFFFF"/>
                </a:solidFill>
                <a:latin typeface="Open Sans Semi-Bold"/>
                <a:ea typeface="Open Sans Semi-Bold"/>
                <a:cs typeface="Open Sans Semi-Bold"/>
                <a:sym typeface="Open Sans Semi-Bold"/>
              </a:rPr>
              <a:t> Phase 4 : création d’une interface utilisateur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06310" y="3642127"/>
            <a:ext cx="11079074" cy="2740018"/>
          </a:xfrm>
          <a:prstGeom prst="rect">
            <a:avLst/>
          </a:prstGeom>
        </p:spPr>
        <p:txBody>
          <a:bodyPr anchor="t" rtlCol="false" tIns="0" lIns="0" bIns="0" rIns="0">
            <a:spAutoFit/>
          </a:bodyPr>
          <a:lstStyle/>
          <a:p>
            <a:pPr algn="r">
              <a:lnSpc>
                <a:spcPts val="10599"/>
              </a:lnSpc>
            </a:pPr>
            <a:r>
              <a:rPr lang="en-US" sz="9999">
                <a:solidFill>
                  <a:srgbClr val="FFFFFF"/>
                </a:solidFill>
                <a:latin typeface="Passion One"/>
                <a:ea typeface="Passion One"/>
                <a:cs typeface="Passion One"/>
                <a:sym typeface="Passion One"/>
              </a:rPr>
              <a:t> PHASE</a:t>
            </a:r>
            <a:r>
              <a:rPr lang="en-US" sz="9999">
                <a:solidFill>
                  <a:srgbClr val="FFFFFF"/>
                </a:solidFill>
                <a:latin typeface="Passion One"/>
                <a:ea typeface="Passion One"/>
                <a:cs typeface="Passion One"/>
                <a:sym typeface="Passion One"/>
              </a:rPr>
              <a:t> 1 : SIMULATION ET PROTOTYPAGE</a:t>
            </a:r>
          </a:p>
        </p:txBody>
      </p:sp>
      <p:sp>
        <p:nvSpPr>
          <p:cNvPr name="Freeform 4" id="4"/>
          <p:cNvSpPr/>
          <p:nvPr/>
        </p:nvSpPr>
        <p:spPr>
          <a:xfrm flipH="true" flipV="false" rot="0">
            <a:off x="14529553" y="6382145"/>
            <a:ext cx="1327201" cy="393183"/>
          </a:xfrm>
          <a:custGeom>
            <a:avLst/>
            <a:gdLst/>
            <a:ahLst/>
            <a:cxnLst/>
            <a:rect r="r" b="b" t="t" l="l"/>
            <a:pathLst>
              <a:path h="393183" w="1327201">
                <a:moveTo>
                  <a:pt x="1327202" y="0"/>
                </a:moveTo>
                <a:lnTo>
                  <a:pt x="0" y="0"/>
                </a:lnTo>
                <a:lnTo>
                  <a:pt x="0" y="393183"/>
                </a:lnTo>
                <a:lnTo>
                  <a:pt x="1327202" y="393183"/>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15212" y="4114838"/>
            <a:ext cx="11079074" cy="1396993"/>
          </a:xfrm>
          <a:prstGeom prst="rect">
            <a:avLst/>
          </a:prstGeom>
        </p:spPr>
        <p:txBody>
          <a:bodyPr anchor="t" rtlCol="false" tIns="0" lIns="0" bIns="0" rIns="0">
            <a:spAutoFit/>
          </a:bodyPr>
          <a:lstStyle/>
          <a:p>
            <a:pPr algn="r">
              <a:lnSpc>
                <a:spcPts val="10599"/>
              </a:lnSpc>
            </a:pPr>
            <a:r>
              <a:rPr lang="en-US" sz="9999">
                <a:solidFill>
                  <a:srgbClr val="78219F"/>
                </a:solidFill>
                <a:latin typeface="Passion One"/>
                <a:ea typeface="Passion One"/>
                <a:cs typeface="Passion One"/>
                <a:sym typeface="Passion One"/>
              </a:rPr>
              <a:t>POURQUOI WOKWI ?</a:t>
            </a:r>
          </a:p>
        </p:txBody>
      </p:sp>
      <p:sp>
        <p:nvSpPr>
          <p:cNvPr name="Freeform 4" id="4"/>
          <p:cNvSpPr/>
          <p:nvPr/>
        </p:nvSpPr>
        <p:spPr>
          <a:xfrm flipH="true" flipV="false" rot="0">
            <a:off x="14191903" y="6382145"/>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2111627" y="880021"/>
            <a:ext cx="14811431" cy="1057279"/>
          </a:xfrm>
          <a:prstGeom prst="rect">
            <a:avLst/>
          </a:prstGeom>
        </p:spPr>
        <p:txBody>
          <a:bodyPr anchor="t" rtlCol="false" tIns="0" lIns="0" bIns="0" rIns="0">
            <a:spAutoFit/>
          </a:bodyPr>
          <a:lstStyle/>
          <a:p>
            <a:pPr algn="r" marL="0" indent="0" lvl="0">
              <a:lnSpc>
                <a:spcPts val="7950"/>
              </a:lnSpc>
              <a:spcBef>
                <a:spcPct val="0"/>
              </a:spcBef>
            </a:pPr>
            <a:r>
              <a:rPr lang="en-US" sz="7500" strike="noStrike" u="none">
                <a:solidFill>
                  <a:srgbClr val="FFFFFF"/>
                </a:solidFill>
                <a:latin typeface="Passion One"/>
                <a:ea typeface="Passion One"/>
                <a:cs typeface="Passion One"/>
                <a:sym typeface="Passion One"/>
              </a:rPr>
              <a:t>PHASE DE SIMULATION - WOKWI:</a:t>
            </a:r>
          </a:p>
        </p:txBody>
      </p:sp>
      <p:sp>
        <p:nvSpPr>
          <p:cNvPr name="TextBox 3" id="3"/>
          <p:cNvSpPr txBox="true"/>
          <p:nvPr/>
        </p:nvSpPr>
        <p:spPr>
          <a:xfrm rot="0">
            <a:off x="1472690" y="2785025"/>
            <a:ext cx="13928319"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B81342"/>
                </a:solidFill>
                <a:latin typeface="Open Sans Semi-Bold"/>
                <a:ea typeface="Open Sans Semi-Bold"/>
                <a:cs typeface="Open Sans Semi-Bold"/>
                <a:sym typeface="Open Sans Semi-Bold"/>
              </a:rPr>
              <a:t>Problématique :</a:t>
            </a:r>
            <a:r>
              <a:rPr lang="en-US" b="true" sz="2400">
                <a:solidFill>
                  <a:srgbClr val="78219F"/>
                </a:solidFill>
                <a:latin typeface="Open Sans Semi-Bold"/>
                <a:ea typeface="Open Sans Semi-Bold"/>
                <a:cs typeface="Open Sans Semi-Bold"/>
                <a:sym typeface="Open Sans Semi-Bold"/>
              </a:rPr>
              <a:t> </a:t>
            </a:r>
            <a:r>
              <a:rPr lang="en-US" b="true" sz="2400">
                <a:solidFill>
                  <a:srgbClr val="FFFFFF"/>
                </a:solidFill>
                <a:latin typeface="Open Sans Semi-Bold"/>
                <a:ea typeface="Open Sans Semi-Bold"/>
                <a:cs typeface="Open Sans Semi-Bold"/>
                <a:sym typeface="Open Sans Semi-Bold"/>
              </a:rPr>
              <a:t>Tester le système sans risquer d'endommager les composants réels</a:t>
            </a:r>
          </a:p>
        </p:txBody>
      </p:sp>
      <p:sp>
        <p:nvSpPr>
          <p:cNvPr name="TextBox 4" id="4"/>
          <p:cNvSpPr txBox="true"/>
          <p:nvPr/>
        </p:nvSpPr>
        <p:spPr>
          <a:xfrm rot="0">
            <a:off x="1504540" y="4366088"/>
            <a:ext cx="7495061"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8FAD57"/>
                </a:solidFill>
                <a:latin typeface="Open Sans Semi-Bold"/>
                <a:ea typeface="Open Sans Semi-Bold"/>
                <a:cs typeface="Open Sans Semi-Bold"/>
                <a:sym typeface="Open Sans Semi-Bold"/>
              </a:rPr>
              <a:t>Solution :</a:t>
            </a:r>
            <a:r>
              <a:rPr lang="en-US" b="true" sz="2400">
                <a:solidFill>
                  <a:srgbClr val="FFFFFF"/>
                </a:solidFill>
                <a:latin typeface="Open Sans Semi-Bold"/>
                <a:ea typeface="Open Sans Semi-Bold"/>
                <a:cs typeface="Open Sans Semi-Bold"/>
                <a:sym typeface="Open Sans Semi-Bold"/>
              </a:rPr>
              <a:t> Simulation virtuelle avec Wokwi</a:t>
            </a:r>
          </a:p>
        </p:txBody>
      </p:sp>
      <p:sp>
        <p:nvSpPr>
          <p:cNvPr name="TextBox 5" id="5"/>
          <p:cNvSpPr txBox="true"/>
          <p:nvPr/>
        </p:nvSpPr>
        <p:spPr>
          <a:xfrm rot="0">
            <a:off x="2247371" y="5600528"/>
            <a:ext cx="11195265" cy="2314145"/>
          </a:xfrm>
          <a:prstGeom prst="rect">
            <a:avLst/>
          </a:prstGeom>
        </p:spPr>
        <p:txBody>
          <a:bodyPr anchor="t" rtlCol="false" tIns="0" lIns="0" bIns="0" rIns="0">
            <a:spAutoFit/>
          </a:bodyPr>
          <a:lstStyle/>
          <a:p>
            <a:pPr algn="l">
              <a:lnSpc>
                <a:spcPts val="3698"/>
              </a:lnSpc>
              <a:spcBef>
                <a:spcPct val="0"/>
              </a:spcBef>
            </a:pPr>
            <a:r>
              <a:rPr lang="en-US" b="true" sz="2641">
                <a:solidFill>
                  <a:srgbClr val="FF5757"/>
                </a:solidFill>
                <a:latin typeface="Open Sans Semi-Bold"/>
                <a:ea typeface="Open Sans Semi-Bold"/>
                <a:cs typeface="Open Sans Semi-Bold"/>
                <a:sym typeface="Open Sans Semi-Bold"/>
              </a:rPr>
              <a:t>Avantages :</a:t>
            </a:r>
          </a:p>
          <a:p>
            <a:pPr algn="l" marL="570391" indent="-285195" lvl="1">
              <a:lnSpc>
                <a:spcPts val="3698"/>
              </a:lnSpc>
              <a:buFont typeface="Arial"/>
              <a:buChar char="•"/>
            </a:pPr>
            <a:r>
              <a:rPr lang="en-US" b="true" sz="2641">
                <a:solidFill>
                  <a:srgbClr val="FFFFFF"/>
                </a:solidFill>
                <a:latin typeface="Open Sans Semi-Bold"/>
                <a:ea typeface="Open Sans Semi-Bold"/>
                <a:cs typeface="Open Sans Semi-Bold"/>
                <a:sym typeface="Open Sans Semi-Bold"/>
              </a:rPr>
              <a:t>Modification rapide du code</a:t>
            </a:r>
          </a:p>
          <a:p>
            <a:pPr algn="l" marL="570391" indent="-285195" lvl="1">
              <a:lnSpc>
                <a:spcPts val="3698"/>
              </a:lnSpc>
              <a:buFont typeface="Arial"/>
              <a:buChar char="•"/>
            </a:pPr>
            <a:r>
              <a:rPr lang="en-US" b="true" sz="2641">
                <a:solidFill>
                  <a:srgbClr val="FFFFFF"/>
                </a:solidFill>
                <a:latin typeface="Open Sans Semi-Bold"/>
                <a:ea typeface="Open Sans Semi-Bold"/>
                <a:cs typeface="Open Sans Semi-Bold"/>
                <a:sym typeface="Open Sans Semi-Bold"/>
              </a:rPr>
              <a:t>Test de différents scénarios de température</a:t>
            </a:r>
          </a:p>
          <a:p>
            <a:pPr algn="l" marL="570391" indent="-285195" lvl="1">
              <a:lnSpc>
                <a:spcPts val="3698"/>
              </a:lnSpc>
              <a:buFont typeface="Arial"/>
              <a:buChar char="•"/>
            </a:pPr>
            <a:r>
              <a:rPr lang="en-US" b="true" sz="2641">
                <a:solidFill>
                  <a:srgbClr val="FFFFFF"/>
                </a:solidFill>
                <a:latin typeface="Open Sans Semi-Bold"/>
                <a:ea typeface="Open Sans Semi-Bold"/>
                <a:cs typeface="Open Sans Semi-Bold"/>
                <a:sym typeface="Open Sans Semi-Bold"/>
              </a:rPr>
              <a:t>Validation de la logique avant investissement matériel</a:t>
            </a:r>
          </a:p>
          <a:p>
            <a:pPr algn="l" marL="570391" indent="-285195" lvl="1">
              <a:lnSpc>
                <a:spcPts val="3698"/>
              </a:lnSpc>
              <a:buFont typeface="Arial"/>
              <a:buChar char="•"/>
            </a:pPr>
            <a:r>
              <a:rPr lang="en-US" b="true" sz="2641">
                <a:solidFill>
                  <a:srgbClr val="FFFFFF"/>
                </a:solidFill>
                <a:latin typeface="Open Sans Semi-Bold"/>
                <a:ea typeface="Open Sans Semi-Bold"/>
                <a:cs typeface="Open Sans Semi-Bold"/>
                <a:sym typeface="Open Sans Semi-Bold"/>
              </a:rPr>
              <a:t>Débogage facile et sûr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75373" y="4485379"/>
            <a:ext cx="11079074" cy="947805"/>
          </a:xfrm>
          <a:prstGeom prst="rect">
            <a:avLst/>
          </a:prstGeom>
        </p:spPr>
        <p:txBody>
          <a:bodyPr anchor="t" rtlCol="false" tIns="0" lIns="0" bIns="0" rIns="0">
            <a:spAutoFit/>
          </a:bodyPr>
          <a:lstStyle/>
          <a:p>
            <a:pPr algn="r">
              <a:lnSpc>
                <a:spcPts val="7102"/>
              </a:lnSpc>
            </a:pPr>
            <a:r>
              <a:rPr lang="en-US" sz="6700">
                <a:solidFill>
                  <a:srgbClr val="78219F"/>
                </a:solidFill>
                <a:latin typeface="Passion One"/>
                <a:ea typeface="Passion One"/>
                <a:cs typeface="Passion One"/>
                <a:sym typeface="Passion One"/>
              </a:rPr>
              <a:t>ARCHITECTURE DU CIRCUIT WOKWI</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7878514" y="542923"/>
            <a:ext cx="14811431"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CIRCUIT</a:t>
            </a:r>
            <a:r>
              <a:rPr lang="en-US" sz="7500" strike="noStrike" u="none">
                <a:solidFill>
                  <a:srgbClr val="FFFFFF"/>
                </a:solidFill>
                <a:latin typeface="Passion One"/>
                <a:ea typeface="Passion One"/>
                <a:cs typeface="Passion One"/>
                <a:sym typeface="Passion One"/>
              </a:rPr>
              <a:t> SIMUL</a:t>
            </a:r>
            <a:r>
              <a:rPr lang="en-US" sz="7500" strike="noStrike" u="none">
                <a:solidFill>
                  <a:srgbClr val="FFFFFF"/>
                </a:solidFill>
                <a:latin typeface="Passion One"/>
                <a:ea typeface="Passion One"/>
                <a:cs typeface="Passion One"/>
                <a:sym typeface="Passion One"/>
              </a:rPr>
              <a:t>É</a:t>
            </a:r>
            <a:r>
              <a:rPr lang="en-US" sz="7500" strike="noStrike" u="none">
                <a:solidFill>
                  <a:srgbClr val="FFFFFF"/>
                </a:solidFill>
                <a:latin typeface="Passion One"/>
                <a:ea typeface="Passion One"/>
                <a:cs typeface="Passion One"/>
                <a:sym typeface="Passion One"/>
              </a:rPr>
              <a:t> :</a:t>
            </a:r>
          </a:p>
        </p:txBody>
      </p:sp>
      <p:sp>
        <p:nvSpPr>
          <p:cNvPr name="Freeform 3" id="3"/>
          <p:cNvSpPr/>
          <p:nvPr/>
        </p:nvSpPr>
        <p:spPr>
          <a:xfrm flipH="false" flipV="false" rot="0">
            <a:off x="1966439" y="1847260"/>
            <a:ext cx="14217656" cy="7037740"/>
          </a:xfrm>
          <a:custGeom>
            <a:avLst/>
            <a:gdLst/>
            <a:ahLst/>
            <a:cxnLst/>
            <a:rect r="r" b="b" t="t" l="l"/>
            <a:pathLst>
              <a:path h="7037740" w="14217656">
                <a:moveTo>
                  <a:pt x="0" y="0"/>
                </a:moveTo>
                <a:lnTo>
                  <a:pt x="14217657" y="0"/>
                </a:lnTo>
                <a:lnTo>
                  <a:pt x="14217657" y="7037740"/>
                </a:lnTo>
                <a:lnTo>
                  <a:pt x="0" y="703774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33497" y="1448949"/>
            <a:ext cx="3050098" cy="3050098"/>
          </a:xfrm>
          <a:custGeom>
            <a:avLst/>
            <a:gdLst/>
            <a:ahLst/>
            <a:cxnLst/>
            <a:rect r="r" b="b" t="t" l="l"/>
            <a:pathLst>
              <a:path h="3050098" w="3050098">
                <a:moveTo>
                  <a:pt x="0" y="0"/>
                </a:moveTo>
                <a:lnTo>
                  <a:pt x="3050098" y="0"/>
                </a:lnTo>
                <a:lnTo>
                  <a:pt x="3050098" y="3050098"/>
                </a:lnTo>
                <a:lnTo>
                  <a:pt x="0" y="3050098"/>
                </a:lnTo>
                <a:lnTo>
                  <a:pt x="0" y="0"/>
                </a:lnTo>
                <a:close/>
              </a:path>
            </a:pathLst>
          </a:custGeom>
          <a:blipFill>
            <a:blip r:embed="rId2"/>
            <a:stretch>
              <a:fillRect l="0" t="0" r="0" b="0"/>
            </a:stretch>
          </a:blipFill>
        </p:spPr>
      </p:sp>
      <p:sp>
        <p:nvSpPr>
          <p:cNvPr name="Freeform 3" id="3"/>
          <p:cNvSpPr/>
          <p:nvPr/>
        </p:nvSpPr>
        <p:spPr>
          <a:xfrm flipH="false" flipV="false" rot="0">
            <a:off x="7678753" y="1144149"/>
            <a:ext cx="2991707" cy="2991707"/>
          </a:xfrm>
          <a:custGeom>
            <a:avLst/>
            <a:gdLst/>
            <a:ahLst/>
            <a:cxnLst/>
            <a:rect r="r" b="b" t="t" l="l"/>
            <a:pathLst>
              <a:path h="2991707" w="2991707">
                <a:moveTo>
                  <a:pt x="0" y="0"/>
                </a:moveTo>
                <a:lnTo>
                  <a:pt x="2991707" y="0"/>
                </a:lnTo>
                <a:lnTo>
                  <a:pt x="2991707" y="2991707"/>
                </a:lnTo>
                <a:lnTo>
                  <a:pt x="0" y="2991707"/>
                </a:lnTo>
                <a:lnTo>
                  <a:pt x="0" y="0"/>
                </a:lnTo>
                <a:close/>
              </a:path>
            </a:pathLst>
          </a:custGeom>
          <a:blipFill>
            <a:blip r:embed="rId3"/>
            <a:stretch>
              <a:fillRect l="0" t="0" r="0" b="0"/>
            </a:stretch>
          </a:blipFill>
        </p:spPr>
      </p:sp>
      <p:sp>
        <p:nvSpPr>
          <p:cNvPr name="Freeform 4" id="4"/>
          <p:cNvSpPr/>
          <p:nvPr/>
        </p:nvSpPr>
        <p:spPr>
          <a:xfrm flipH="false" flipV="false" rot="0">
            <a:off x="13484768" y="529034"/>
            <a:ext cx="2960476" cy="2960476"/>
          </a:xfrm>
          <a:custGeom>
            <a:avLst/>
            <a:gdLst/>
            <a:ahLst/>
            <a:cxnLst/>
            <a:rect r="r" b="b" t="t" l="l"/>
            <a:pathLst>
              <a:path h="2960476" w="2960476">
                <a:moveTo>
                  <a:pt x="0" y="0"/>
                </a:moveTo>
                <a:lnTo>
                  <a:pt x="2960476" y="0"/>
                </a:lnTo>
                <a:lnTo>
                  <a:pt x="2960476" y="2960476"/>
                </a:lnTo>
                <a:lnTo>
                  <a:pt x="0" y="2960476"/>
                </a:lnTo>
                <a:lnTo>
                  <a:pt x="0" y="0"/>
                </a:lnTo>
                <a:close/>
              </a:path>
            </a:pathLst>
          </a:custGeom>
          <a:blipFill>
            <a:blip r:embed="rId4"/>
            <a:stretch>
              <a:fillRect l="0" t="0" r="0" b="0"/>
            </a:stretch>
          </a:blipFill>
        </p:spPr>
      </p:sp>
      <p:sp>
        <p:nvSpPr>
          <p:cNvPr name="Freeform 5" id="5"/>
          <p:cNvSpPr/>
          <p:nvPr/>
        </p:nvSpPr>
        <p:spPr>
          <a:xfrm flipH="false" flipV="false" rot="0">
            <a:off x="13850833" y="4798122"/>
            <a:ext cx="2228346" cy="2228346"/>
          </a:xfrm>
          <a:custGeom>
            <a:avLst/>
            <a:gdLst/>
            <a:ahLst/>
            <a:cxnLst/>
            <a:rect r="r" b="b" t="t" l="l"/>
            <a:pathLst>
              <a:path h="2228346" w="2228346">
                <a:moveTo>
                  <a:pt x="0" y="0"/>
                </a:moveTo>
                <a:lnTo>
                  <a:pt x="2228346" y="0"/>
                </a:lnTo>
                <a:lnTo>
                  <a:pt x="2228346" y="2228345"/>
                </a:lnTo>
                <a:lnTo>
                  <a:pt x="0" y="2228345"/>
                </a:lnTo>
                <a:lnTo>
                  <a:pt x="0" y="0"/>
                </a:lnTo>
                <a:close/>
              </a:path>
            </a:pathLst>
          </a:custGeom>
          <a:blipFill>
            <a:blip r:embed="rId5"/>
            <a:stretch>
              <a:fillRect l="0" t="0" r="0" b="0"/>
            </a:stretch>
          </a:blipFill>
        </p:spPr>
      </p:sp>
      <p:sp>
        <p:nvSpPr>
          <p:cNvPr name="Freeform 6" id="6"/>
          <p:cNvSpPr/>
          <p:nvPr/>
        </p:nvSpPr>
        <p:spPr>
          <a:xfrm flipH="false" flipV="false" rot="0">
            <a:off x="5386270" y="4351817"/>
            <a:ext cx="3261746" cy="3261746"/>
          </a:xfrm>
          <a:custGeom>
            <a:avLst/>
            <a:gdLst/>
            <a:ahLst/>
            <a:cxnLst/>
            <a:rect r="r" b="b" t="t" l="l"/>
            <a:pathLst>
              <a:path h="3261746" w="3261746">
                <a:moveTo>
                  <a:pt x="0" y="0"/>
                </a:moveTo>
                <a:lnTo>
                  <a:pt x="3261747" y="0"/>
                </a:lnTo>
                <a:lnTo>
                  <a:pt x="3261747" y="3261746"/>
                </a:lnTo>
                <a:lnTo>
                  <a:pt x="0" y="3261746"/>
                </a:lnTo>
                <a:lnTo>
                  <a:pt x="0" y="0"/>
                </a:lnTo>
                <a:close/>
              </a:path>
            </a:pathLst>
          </a:custGeom>
          <a:blipFill>
            <a:blip r:embed="rId6"/>
            <a:stretch>
              <a:fillRect l="0" t="0" r="0" b="0"/>
            </a:stretch>
          </a:blipFill>
        </p:spPr>
      </p:sp>
      <p:sp>
        <p:nvSpPr>
          <p:cNvPr name="Freeform 7" id="7"/>
          <p:cNvSpPr/>
          <p:nvPr/>
        </p:nvSpPr>
        <p:spPr>
          <a:xfrm flipH="false" flipV="false" rot="5472899">
            <a:off x="3958344" y="5258991"/>
            <a:ext cx="1952557" cy="1549968"/>
          </a:xfrm>
          <a:custGeom>
            <a:avLst/>
            <a:gdLst/>
            <a:ahLst/>
            <a:cxnLst/>
            <a:rect r="r" b="b" t="t" l="l"/>
            <a:pathLst>
              <a:path h="1549968" w="1952557">
                <a:moveTo>
                  <a:pt x="0" y="0"/>
                </a:moveTo>
                <a:lnTo>
                  <a:pt x="1952557" y="0"/>
                </a:lnTo>
                <a:lnTo>
                  <a:pt x="1952557" y="1549968"/>
                </a:lnTo>
                <a:lnTo>
                  <a:pt x="0" y="1549968"/>
                </a:lnTo>
                <a:lnTo>
                  <a:pt x="0" y="0"/>
                </a:lnTo>
                <a:close/>
              </a:path>
            </a:pathLst>
          </a:custGeom>
          <a:blipFill>
            <a:blip r:embed="rId7"/>
            <a:stretch>
              <a:fillRect l="0" t="0" r="0" b="0"/>
            </a:stretch>
          </a:blipFill>
        </p:spPr>
      </p:sp>
      <p:sp>
        <p:nvSpPr>
          <p:cNvPr name="TextBox 8" id="8"/>
          <p:cNvSpPr txBox="true"/>
          <p:nvPr/>
        </p:nvSpPr>
        <p:spPr>
          <a:xfrm rot="0">
            <a:off x="-5830100" y="677983"/>
            <a:ext cx="14811431"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COMPOSANTS</a:t>
            </a:r>
            <a:r>
              <a:rPr lang="en-US" sz="7500" strike="noStrike" u="none">
                <a:solidFill>
                  <a:srgbClr val="FFFFFF"/>
                </a:solidFill>
                <a:latin typeface="Passion One"/>
                <a:ea typeface="Passion One"/>
                <a:cs typeface="Passion One"/>
                <a:sym typeface="Passion One"/>
              </a:rPr>
              <a:t> UTILISÉ</a:t>
            </a:r>
            <a:r>
              <a:rPr lang="en-US" sz="7500" strike="noStrike" u="none">
                <a:solidFill>
                  <a:srgbClr val="FFFFFF"/>
                </a:solidFill>
                <a:latin typeface="Passion One"/>
                <a:ea typeface="Passion One"/>
                <a:cs typeface="Passion One"/>
                <a:sym typeface="Passion One"/>
              </a:rPr>
              <a:t>S:</a:t>
            </a:r>
          </a:p>
        </p:txBody>
      </p:sp>
      <p:sp>
        <p:nvSpPr>
          <p:cNvPr name="TextBox 9" id="9"/>
          <p:cNvSpPr txBox="true"/>
          <p:nvPr/>
        </p:nvSpPr>
        <p:spPr>
          <a:xfrm rot="0">
            <a:off x="1575615" y="4363504"/>
            <a:ext cx="3677126" cy="297179"/>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Open Sans Semi-Bold"/>
                <a:ea typeface="Open Sans Semi-Bold"/>
                <a:cs typeface="Open Sans Semi-Bold"/>
                <a:sym typeface="Open Sans Semi-Bold"/>
              </a:rPr>
              <a:t>ESP32 (Microcontrôleur principal)</a:t>
            </a:r>
          </a:p>
        </p:txBody>
      </p:sp>
      <p:sp>
        <p:nvSpPr>
          <p:cNvPr name="TextBox 10" id="10"/>
          <p:cNvSpPr txBox="true"/>
          <p:nvPr/>
        </p:nvSpPr>
        <p:spPr>
          <a:xfrm rot="0">
            <a:off x="6745367" y="3880987"/>
            <a:ext cx="4797266" cy="264159"/>
          </a:xfrm>
          <a:prstGeom prst="rect">
            <a:avLst/>
          </a:prstGeom>
        </p:spPr>
        <p:txBody>
          <a:bodyPr anchor="t" rtlCol="false" tIns="0" lIns="0" bIns="0" rIns="0">
            <a:spAutoFit/>
          </a:bodyPr>
          <a:lstStyle/>
          <a:p>
            <a:pPr algn="ctr">
              <a:lnSpc>
                <a:spcPts val="2240"/>
              </a:lnSpc>
              <a:spcBef>
                <a:spcPct val="0"/>
              </a:spcBef>
            </a:pPr>
            <a:r>
              <a:rPr lang="en-US" b="true" sz="1600">
                <a:solidFill>
                  <a:srgbClr val="FFFFFF"/>
                </a:solidFill>
                <a:latin typeface="Open Sans Semi-Bold"/>
                <a:ea typeface="Open Sans Semi-Bold"/>
                <a:cs typeface="Open Sans Semi-Bold"/>
                <a:sym typeface="Open Sans Semi-Bold"/>
              </a:rPr>
              <a:t>DHT22 (Capteur température/humidité) → Pin 23</a:t>
            </a:r>
          </a:p>
        </p:txBody>
      </p:sp>
      <p:sp>
        <p:nvSpPr>
          <p:cNvPr name="TextBox 11" id="11"/>
          <p:cNvSpPr txBox="true"/>
          <p:nvPr/>
        </p:nvSpPr>
        <p:spPr>
          <a:xfrm rot="0">
            <a:off x="12454454" y="3746685"/>
            <a:ext cx="5021104" cy="280669"/>
          </a:xfrm>
          <a:prstGeom prst="rect">
            <a:avLst/>
          </a:prstGeom>
        </p:spPr>
        <p:txBody>
          <a:bodyPr anchor="t" rtlCol="false" tIns="0" lIns="0" bIns="0" rIns="0">
            <a:spAutoFit/>
          </a:bodyPr>
          <a:lstStyle/>
          <a:p>
            <a:pPr algn="ctr">
              <a:lnSpc>
                <a:spcPts val="2380"/>
              </a:lnSpc>
              <a:spcBef>
                <a:spcPct val="0"/>
              </a:spcBef>
            </a:pPr>
            <a:r>
              <a:rPr lang="en-US" b="true" sz="1700">
                <a:solidFill>
                  <a:srgbClr val="FFFFFF"/>
                </a:solidFill>
                <a:latin typeface="Open Sans Semi-Bold"/>
                <a:ea typeface="Open Sans Semi-Bold"/>
                <a:cs typeface="Open Sans Semi-Bold"/>
                <a:sym typeface="Open Sans Semi-Bold"/>
              </a:rPr>
              <a:t>LCD I2C 16×2 (Écran d'affichage) → Adresse 0x27</a:t>
            </a:r>
          </a:p>
        </p:txBody>
      </p:sp>
      <p:sp>
        <p:nvSpPr>
          <p:cNvPr name="TextBox 12" id="12"/>
          <p:cNvSpPr txBox="true"/>
          <p:nvPr/>
        </p:nvSpPr>
        <p:spPr>
          <a:xfrm rot="0">
            <a:off x="12861369" y="7264314"/>
            <a:ext cx="4397931" cy="349249"/>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Open Sans Semi-Bold"/>
                <a:ea typeface="Open Sans Semi-Bold"/>
                <a:cs typeface="Open Sans Semi-Bold"/>
                <a:sym typeface="Open Sans Semi-Bold"/>
              </a:rPr>
              <a:t>Servo moteur (Ventilateur) → Pin 32</a:t>
            </a:r>
          </a:p>
        </p:txBody>
      </p:sp>
      <p:sp>
        <p:nvSpPr>
          <p:cNvPr name="TextBox 13" id="13"/>
          <p:cNvSpPr txBox="true"/>
          <p:nvPr/>
        </p:nvSpPr>
        <p:spPr>
          <a:xfrm rot="0">
            <a:off x="4768825" y="7378892"/>
            <a:ext cx="4675465" cy="297179"/>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Open Sans Semi-Bold"/>
                <a:ea typeface="Open Sans Semi-Bold"/>
                <a:cs typeface="Open Sans Semi-Bold"/>
                <a:sym typeface="Open Sans Semi-Bold"/>
              </a:rPr>
              <a:t>LED Rouge (Indicateur chauffage) → Pin 26</a:t>
            </a:r>
          </a:p>
        </p:txBody>
      </p:sp>
      <p:sp>
        <p:nvSpPr>
          <p:cNvPr name="TextBox 14" id="14"/>
          <p:cNvSpPr txBox="true"/>
          <p:nvPr/>
        </p:nvSpPr>
        <p:spPr>
          <a:xfrm rot="0">
            <a:off x="6626335" y="8018759"/>
            <a:ext cx="4043362" cy="297179"/>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Open Sans Semi-Bold"/>
                <a:ea typeface="Open Sans Semi-Bold"/>
                <a:cs typeface="Open Sans Semi-Bold"/>
                <a:sym typeface="Open Sans Semi-Bold"/>
              </a:rPr>
              <a:t>LED Bleue (Indicateur froid) → Pin 25</a:t>
            </a:r>
          </a:p>
        </p:txBody>
      </p:sp>
      <p:sp>
        <p:nvSpPr>
          <p:cNvPr name="TextBox 15" id="15"/>
          <p:cNvSpPr txBox="true"/>
          <p:nvPr/>
        </p:nvSpPr>
        <p:spPr>
          <a:xfrm rot="0">
            <a:off x="1458252" y="8461378"/>
            <a:ext cx="2800588" cy="448310"/>
          </a:xfrm>
          <a:prstGeom prst="rect">
            <a:avLst/>
          </a:prstGeom>
        </p:spPr>
        <p:txBody>
          <a:bodyPr anchor="t" rtlCol="false" tIns="0" lIns="0" bIns="0" rIns="0">
            <a:spAutoFit/>
          </a:bodyPr>
          <a:lstStyle/>
          <a:p>
            <a:pPr algn="ctr">
              <a:lnSpc>
                <a:spcPts val="3640"/>
              </a:lnSpc>
              <a:spcBef>
                <a:spcPct val="0"/>
              </a:spcBef>
            </a:pPr>
            <a:r>
              <a:rPr lang="en-US" b="true" sz="2600">
                <a:solidFill>
                  <a:srgbClr val="FFFFFF"/>
                </a:solidFill>
                <a:latin typeface="Open Sans Semi-Bold"/>
                <a:ea typeface="Open Sans Semi-Bold"/>
                <a:cs typeface="Open Sans Semi-Bold"/>
                <a:sym typeface="Open Sans Semi-Bold"/>
              </a:rPr>
              <a:t>Connexions WiFi :</a:t>
            </a:r>
          </a:p>
        </p:txBody>
      </p:sp>
      <p:sp>
        <p:nvSpPr>
          <p:cNvPr name="TextBox 16" id="16"/>
          <p:cNvSpPr txBox="true"/>
          <p:nvPr/>
        </p:nvSpPr>
        <p:spPr>
          <a:xfrm rot="0">
            <a:off x="1575615" y="9059863"/>
            <a:ext cx="5441528" cy="349249"/>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Open Sans"/>
                <a:ea typeface="Open Sans"/>
                <a:cs typeface="Open Sans"/>
                <a:sym typeface="Open Sans"/>
              </a:rPr>
              <a:t>SSID : Wokwi-GUEST (WiFi simulé)</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75373" y="4494904"/>
            <a:ext cx="11079074" cy="883544"/>
          </a:xfrm>
          <a:prstGeom prst="rect">
            <a:avLst/>
          </a:prstGeom>
        </p:spPr>
        <p:txBody>
          <a:bodyPr anchor="t" rtlCol="false" tIns="0" lIns="0" bIns="0" rIns="0">
            <a:spAutoFit/>
          </a:bodyPr>
          <a:lstStyle/>
          <a:p>
            <a:pPr algn="r">
              <a:lnSpc>
                <a:spcPts val="6678"/>
              </a:lnSpc>
            </a:pPr>
            <a:r>
              <a:rPr lang="en-US" sz="6300">
                <a:solidFill>
                  <a:srgbClr val="78219F"/>
                </a:solidFill>
                <a:latin typeface="Passion One"/>
                <a:ea typeface="Passion One"/>
                <a:cs typeface="Passion One"/>
                <a:sym typeface="Passion One"/>
              </a:rPr>
              <a:t>LOGIQUE DE CONTRÔLE INTELLIGENTE</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871368" y="533479"/>
            <a:ext cx="5387932" cy="2667026"/>
          </a:xfrm>
          <a:custGeom>
            <a:avLst/>
            <a:gdLst/>
            <a:ahLst/>
            <a:cxnLst/>
            <a:rect r="r" b="b" t="t" l="l"/>
            <a:pathLst>
              <a:path h="2667026" w="5387932">
                <a:moveTo>
                  <a:pt x="0" y="0"/>
                </a:moveTo>
                <a:lnTo>
                  <a:pt x="5387932" y="0"/>
                </a:lnTo>
                <a:lnTo>
                  <a:pt x="5387932" y="2667026"/>
                </a:lnTo>
                <a:lnTo>
                  <a:pt x="0" y="2667026"/>
                </a:lnTo>
                <a:lnTo>
                  <a:pt x="0" y="0"/>
                </a:lnTo>
                <a:close/>
              </a:path>
            </a:pathLst>
          </a:custGeom>
          <a:blipFill>
            <a:blip r:embed="rId2"/>
            <a:stretch>
              <a:fillRect l="0" t="0" r="0" b="0"/>
            </a:stretch>
          </a:blipFill>
        </p:spPr>
      </p:sp>
      <p:sp>
        <p:nvSpPr>
          <p:cNvPr name="Freeform 3" id="3"/>
          <p:cNvSpPr/>
          <p:nvPr/>
        </p:nvSpPr>
        <p:spPr>
          <a:xfrm flipH="false" flipV="false" rot="0">
            <a:off x="11871368" y="3710082"/>
            <a:ext cx="5387932" cy="2667026"/>
          </a:xfrm>
          <a:custGeom>
            <a:avLst/>
            <a:gdLst/>
            <a:ahLst/>
            <a:cxnLst/>
            <a:rect r="r" b="b" t="t" l="l"/>
            <a:pathLst>
              <a:path h="2667026" w="5387932">
                <a:moveTo>
                  <a:pt x="0" y="0"/>
                </a:moveTo>
                <a:lnTo>
                  <a:pt x="5387932" y="0"/>
                </a:lnTo>
                <a:lnTo>
                  <a:pt x="5387932" y="2667026"/>
                </a:lnTo>
                <a:lnTo>
                  <a:pt x="0" y="2667026"/>
                </a:lnTo>
                <a:lnTo>
                  <a:pt x="0" y="0"/>
                </a:lnTo>
                <a:close/>
              </a:path>
            </a:pathLst>
          </a:custGeom>
          <a:blipFill>
            <a:blip r:embed="rId3"/>
            <a:stretch>
              <a:fillRect l="0" t="0" r="0" b="0"/>
            </a:stretch>
          </a:blipFill>
        </p:spPr>
      </p:sp>
      <p:sp>
        <p:nvSpPr>
          <p:cNvPr name="Freeform 4" id="4"/>
          <p:cNvSpPr/>
          <p:nvPr/>
        </p:nvSpPr>
        <p:spPr>
          <a:xfrm flipH="false" flipV="false" rot="0">
            <a:off x="11871368" y="7074919"/>
            <a:ext cx="5410154" cy="2529247"/>
          </a:xfrm>
          <a:custGeom>
            <a:avLst/>
            <a:gdLst/>
            <a:ahLst/>
            <a:cxnLst/>
            <a:rect r="r" b="b" t="t" l="l"/>
            <a:pathLst>
              <a:path h="2529247" w="5410154">
                <a:moveTo>
                  <a:pt x="0" y="0"/>
                </a:moveTo>
                <a:lnTo>
                  <a:pt x="5410154" y="0"/>
                </a:lnTo>
                <a:lnTo>
                  <a:pt x="5410154" y="2529247"/>
                </a:lnTo>
                <a:lnTo>
                  <a:pt x="0" y="2529247"/>
                </a:lnTo>
                <a:lnTo>
                  <a:pt x="0" y="0"/>
                </a:lnTo>
                <a:close/>
              </a:path>
            </a:pathLst>
          </a:custGeom>
          <a:blipFill>
            <a:blip r:embed="rId4"/>
            <a:stretch>
              <a:fillRect l="0" t="0" r="0" b="0"/>
            </a:stretch>
          </a:blipFill>
        </p:spPr>
      </p:sp>
      <p:sp>
        <p:nvSpPr>
          <p:cNvPr name="TextBox 5" id="5"/>
          <p:cNvSpPr txBox="true"/>
          <p:nvPr/>
        </p:nvSpPr>
        <p:spPr>
          <a:xfrm rot="0">
            <a:off x="1823830" y="1466308"/>
            <a:ext cx="8357950" cy="763269"/>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Open Sans"/>
                <a:ea typeface="Open Sans"/>
                <a:cs typeface="Open Sans"/>
                <a:sym typeface="Open Sans"/>
              </a:rPr>
              <a:t>Si la température dépasse le seuil chaud → activation progressive du ventilateur (selon un niveau proportionnel).</a:t>
            </a:r>
          </a:p>
        </p:txBody>
      </p:sp>
      <p:sp>
        <p:nvSpPr>
          <p:cNvPr name="TextBox 6" id="6"/>
          <p:cNvSpPr txBox="true"/>
          <p:nvPr/>
        </p:nvSpPr>
        <p:spPr>
          <a:xfrm rot="0">
            <a:off x="1685131" y="4591941"/>
            <a:ext cx="8635349" cy="763269"/>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Open Sans Semi-Bold"/>
                <a:ea typeface="Open Sans Semi-Bold"/>
                <a:cs typeface="Open Sans Semi-Bold"/>
                <a:sym typeface="Open Sans Semi-Bold"/>
              </a:rPr>
              <a:t>Si la température descend sous le seuil froid → activation du chauffage (mode doux ou fort).</a:t>
            </a:r>
          </a:p>
        </p:txBody>
      </p:sp>
      <p:sp>
        <p:nvSpPr>
          <p:cNvPr name="TextBox 7" id="7"/>
          <p:cNvSpPr txBox="true"/>
          <p:nvPr/>
        </p:nvSpPr>
        <p:spPr>
          <a:xfrm rot="0">
            <a:off x="1189910" y="7938858"/>
            <a:ext cx="10181773" cy="763269"/>
          </a:xfrm>
          <a:prstGeom prst="rect">
            <a:avLst/>
          </a:prstGeom>
        </p:spPr>
        <p:txBody>
          <a:bodyPr anchor="t" rtlCol="false" tIns="0" lIns="0" bIns="0" rIns="0">
            <a:spAutoFit/>
          </a:bodyPr>
          <a:lstStyle/>
          <a:p>
            <a:pPr algn="ctr">
              <a:lnSpc>
                <a:spcPts val="3080"/>
              </a:lnSpc>
              <a:spcBef>
                <a:spcPct val="0"/>
              </a:spcBef>
            </a:pPr>
            <a:r>
              <a:rPr lang="en-US" b="true" sz="2200">
                <a:solidFill>
                  <a:srgbClr val="FFFFFF"/>
                </a:solidFill>
                <a:latin typeface="Open Sans Semi-Bold"/>
                <a:ea typeface="Open Sans Semi-Bold"/>
                <a:cs typeface="Open Sans Semi-Bold"/>
                <a:sym typeface="Open Sans Semi-Bold"/>
              </a:rPr>
              <a:t>Si la température se situe dans la zone de confort → désactivation des dispositifs.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75373" y="4494904"/>
            <a:ext cx="11079074" cy="883544"/>
          </a:xfrm>
          <a:prstGeom prst="rect">
            <a:avLst/>
          </a:prstGeom>
        </p:spPr>
        <p:txBody>
          <a:bodyPr anchor="t" rtlCol="false" tIns="0" lIns="0" bIns="0" rIns="0">
            <a:spAutoFit/>
          </a:bodyPr>
          <a:lstStyle/>
          <a:p>
            <a:pPr algn="r">
              <a:lnSpc>
                <a:spcPts val="6678"/>
              </a:lnSpc>
            </a:pPr>
            <a:r>
              <a:rPr lang="en-US" sz="6300">
                <a:solidFill>
                  <a:srgbClr val="78219F"/>
                </a:solidFill>
                <a:latin typeface="Passion One"/>
                <a:ea typeface="Passion One"/>
                <a:cs typeface="Passion One"/>
                <a:sym typeface="Passion One"/>
              </a:rPr>
              <a:t>THINGSPEAK - VISUALISATION CLOUD </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161465" y="279420"/>
            <a:ext cx="2437395" cy="1523372"/>
          </a:xfrm>
          <a:custGeom>
            <a:avLst/>
            <a:gdLst/>
            <a:ahLst/>
            <a:cxnLst/>
            <a:rect r="r" b="b" t="t" l="l"/>
            <a:pathLst>
              <a:path h="1523372" w="2437395">
                <a:moveTo>
                  <a:pt x="0" y="0"/>
                </a:moveTo>
                <a:lnTo>
                  <a:pt x="2437396" y="0"/>
                </a:lnTo>
                <a:lnTo>
                  <a:pt x="2437396" y="1523372"/>
                </a:lnTo>
                <a:lnTo>
                  <a:pt x="0" y="1523372"/>
                </a:lnTo>
                <a:lnTo>
                  <a:pt x="0" y="0"/>
                </a:lnTo>
                <a:close/>
              </a:path>
            </a:pathLst>
          </a:custGeom>
          <a:blipFill>
            <a:blip r:embed="rId2"/>
            <a:stretch>
              <a:fillRect l="0" t="0" r="0" b="0"/>
            </a:stretch>
          </a:blipFill>
        </p:spPr>
      </p:sp>
      <p:sp>
        <p:nvSpPr>
          <p:cNvPr name="TextBox 3" id="3"/>
          <p:cNvSpPr txBox="true"/>
          <p:nvPr/>
        </p:nvSpPr>
        <p:spPr>
          <a:xfrm rot="0">
            <a:off x="656748" y="3609321"/>
            <a:ext cx="12491912" cy="3234439"/>
          </a:xfrm>
          <a:prstGeom prst="rect">
            <a:avLst/>
          </a:prstGeom>
        </p:spPr>
        <p:txBody>
          <a:bodyPr anchor="t" rtlCol="false" tIns="0" lIns="0" bIns="0" rIns="0">
            <a:spAutoFit/>
          </a:bodyPr>
          <a:lstStyle/>
          <a:p>
            <a:pPr algn="l">
              <a:lnSpc>
                <a:spcPts val="4395"/>
              </a:lnSpc>
              <a:spcBef>
                <a:spcPct val="0"/>
              </a:spcBef>
            </a:pPr>
            <a:r>
              <a:rPr lang="en-US" b="true" sz="3139">
                <a:solidFill>
                  <a:srgbClr val="FFFFFF"/>
                </a:solidFill>
                <a:latin typeface="Open Sans Semi-Bold"/>
                <a:ea typeface="Open Sans Semi-Bold"/>
                <a:cs typeface="Open Sans Semi-Bold"/>
                <a:sym typeface="Open Sans Semi-Bold"/>
              </a:rPr>
              <a:t>Caractéristiques principales :</a:t>
            </a:r>
          </a:p>
          <a:p>
            <a:pPr algn="l">
              <a:lnSpc>
                <a:spcPts val="4395"/>
              </a:lnSpc>
              <a:spcBef>
                <a:spcPct val="0"/>
              </a:spcBef>
            </a:pPr>
          </a:p>
          <a:p>
            <a:pPr algn="l" marL="524733" indent="-262366" lvl="1">
              <a:lnSpc>
                <a:spcPts val="3402"/>
              </a:lnSpc>
              <a:buFont typeface="Arial"/>
              <a:buChar char="•"/>
            </a:pPr>
            <a:r>
              <a:rPr lang="en-US" b="true" sz="2430">
                <a:solidFill>
                  <a:srgbClr val="FFFFFF"/>
                </a:solidFill>
                <a:latin typeface="Open Sans Semi-Bold"/>
                <a:ea typeface="Open Sans Semi-Bold"/>
                <a:cs typeface="Open Sans Semi-Bold"/>
                <a:sym typeface="Open Sans Semi-Bold"/>
              </a:rPr>
              <a:t> </a:t>
            </a:r>
            <a:r>
              <a:rPr lang="en-US" sz="2430">
                <a:solidFill>
                  <a:srgbClr val="FFFFFF"/>
                </a:solidFill>
                <a:latin typeface="Open Sans"/>
                <a:ea typeface="Open Sans"/>
                <a:cs typeface="Open Sans"/>
                <a:sym typeface="Open Sans"/>
              </a:rPr>
              <a:t>Stockage de données dans le cloud</a:t>
            </a:r>
          </a:p>
          <a:p>
            <a:pPr algn="l" marL="524733" indent="-262366" lvl="1">
              <a:lnSpc>
                <a:spcPts val="3402"/>
              </a:lnSpc>
              <a:buFont typeface="Arial"/>
              <a:buChar char="•"/>
            </a:pPr>
            <a:r>
              <a:rPr lang="en-US" sz="2430">
                <a:solidFill>
                  <a:srgbClr val="FFFFFF"/>
                </a:solidFill>
                <a:latin typeface="Open Sans"/>
                <a:ea typeface="Open Sans"/>
                <a:cs typeface="Open Sans"/>
                <a:sym typeface="Open Sans"/>
              </a:rPr>
              <a:t> Visualisation automatique en graphiques</a:t>
            </a:r>
          </a:p>
          <a:p>
            <a:pPr algn="l" marL="524733" indent="-262366" lvl="1">
              <a:lnSpc>
                <a:spcPts val="3402"/>
              </a:lnSpc>
              <a:buFont typeface="Arial"/>
              <a:buChar char="•"/>
            </a:pPr>
            <a:r>
              <a:rPr lang="en-US" sz="2430">
                <a:solidFill>
                  <a:srgbClr val="FFFFFF"/>
                </a:solidFill>
                <a:latin typeface="Open Sans"/>
                <a:ea typeface="Open Sans"/>
                <a:cs typeface="Open Sans"/>
                <a:sym typeface="Open Sans"/>
              </a:rPr>
              <a:t> API REST pour envoi/réception de données</a:t>
            </a:r>
          </a:p>
          <a:p>
            <a:pPr algn="l" marL="524733" indent="-262366" lvl="1">
              <a:lnSpc>
                <a:spcPts val="3402"/>
              </a:lnSpc>
              <a:buFont typeface="Arial"/>
              <a:buChar char="•"/>
            </a:pPr>
            <a:r>
              <a:rPr lang="en-US" sz="2430">
                <a:solidFill>
                  <a:srgbClr val="FFFFFF"/>
                </a:solidFill>
                <a:latin typeface="Open Sans"/>
                <a:ea typeface="Open Sans"/>
                <a:cs typeface="Open Sans"/>
                <a:sym typeface="Open Sans"/>
              </a:rPr>
              <a:t>Version gratuite suffisante pour notre projet</a:t>
            </a:r>
          </a:p>
          <a:p>
            <a:pPr algn="l" marL="524733" indent="-262366" lvl="1">
              <a:lnSpc>
                <a:spcPts val="3402"/>
              </a:lnSpc>
              <a:buFont typeface="Arial"/>
              <a:buChar char="•"/>
            </a:pPr>
            <a:r>
              <a:rPr lang="en-US" sz="2430">
                <a:solidFill>
                  <a:srgbClr val="FFFFFF"/>
                </a:solidFill>
                <a:latin typeface="Open Sans"/>
                <a:ea typeface="Open Sans"/>
                <a:cs typeface="Open Sans"/>
                <a:sym typeface="Open Sans"/>
              </a:rPr>
              <a:t> Compatible avec ESP32/Arduino</a:t>
            </a:r>
          </a:p>
        </p:txBody>
      </p:sp>
      <p:grpSp>
        <p:nvGrpSpPr>
          <p:cNvPr name="Group 4" id="4"/>
          <p:cNvGrpSpPr/>
          <p:nvPr/>
        </p:nvGrpSpPr>
        <p:grpSpPr>
          <a:xfrm rot="0">
            <a:off x="6057900" y="7694371"/>
            <a:ext cx="3086100" cy="2036826"/>
            <a:chOff x="0" y="0"/>
            <a:chExt cx="635000" cy="419100"/>
          </a:xfrm>
        </p:grpSpPr>
        <p:sp>
          <p:nvSpPr>
            <p:cNvPr name="Freeform 5" id="5"/>
            <p:cNvSpPr/>
            <p:nvPr/>
          </p:nvSpPr>
          <p:spPr>
            <a:xfrm flipH="false" flipV="false" rot="0">
              <a:off x="0" y="0"/>
              <a:ext cx="635000" cy="419100"/>
            </a:xfrm>
            <a:custGeom>
              <a:avLst/>
              <a:gdLst/>
              <a:ahLst/>
              <a:cxnLst/>
              <a:rect r="r" b="b" t="t" l="l"/>
              <a:pathLst>
                <a:path h="419100" w="6350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CEA2E1"/>
            </a:solidFill>
          </p:spPr>
        </p:sp>
        <p:sp>
          <p:nvSpPr>
            <p:cNvPr name="TextBox 6" id="6"/>
            <p:cNvSpPr txBox="true"/>
            <p:nvPr/>
          </p:nvSpPr>
          <p:spPr>
            <a:xfrm>
              <a:off x="0" y="-38100"/>
              <a:ext cx="635000" cy="457200"/>
            </a:xfrm>
            <a:prstGeom prst="rect">
              <a:avLst/>
            </a:prstGeom>
          </p:spPr>
          <p:txBody>
            <a:bodyPr anchor="ctr" rtlCol="false" tIns="50800" lIns="50800" bIns="50800" rIns="50800"/>
            <a:lstStyle/>
            <a:p>
              <a:pPr algn="ctr">
                <a:lnSpc>
                  <a:spcPts val="3360"/>
                </a:lnSpc>
              </a:pPr>
              <a:r>
                <a:rPr lang="en-US" sz="2400" b="true">
                  <a:solidFill>
                    <a:srgbClr val="FFFFFF"/>
                  </a:solidFill>
                  <a:latin typeface="Open Sans Semi-Bold"/>
                  <a:ea typeface="Open Sans Semi-Bold"/>
                  <a:cs typeface="Open Sans Semi-Bold"/>
                  <a:sym typeface="Open Sans Semi-Bold"/>
                </a:rPr>
                <a:t>Wokwi ESP </a:t>
              </a:r>
            </a:p>
            <a:p>
              <a:pPr algn="ctr">
                <a:lnSpc>
                  <a:spcPts val="3360"/>
                </a:lnSpc>
              </a:pPr>
              <a:r>
                <a:rPr lang="en-US" b="true" sz="2400">
                  <a:solidFill>
                    <a:srgbClr val="FFFFFF"/>
                  </a:solidFill>
                  <a:latin typeface="Open Sans Semi-Bold"/>
                  <a:ea typeface="Open Sans Semi-Bold"/>
                  <a:cs typeface="Open Sans Semi-Bold"/>
                  <a:sym typeface="Open Sans Semi-Bold"/>
                </a:rPr>
                <a:t>(Virtuel)</a:t>
              </a:r>
            </a:p>
          </p:txBody>
        </p:sp>
      </p:grpSp>
      <p:grpSp>
        <p:nvGrpSpPr>
          <p:cNvPr name="Group 7" id="7"/>
          <p:cNvGrpSpPr/>
          <p:nvPr/>
        </p:nvGrpSpPr>
        <p:grpSpPr>
          <a:xfrm rot="0">
            <a:off x="12055811" y="7694371"/>
            <a:ext cx="3086100" cy="2036826"/>
            <a:chOff x="0" y="0"/>
            <a:chExt cx="635000" cy="419100"/>
          </a:xfrm>
        </p:grpSpPr>
        <p:sp>
          <p:nvSpPr>
            <p:cNvPr name="Freeform 8" id="8"/>
            <p:cNvSpPr/>
            <p:nvPr/>
          </p:nvSpPr>
          <p:spPr>
            <a:xfrm flipH="false" flipV="false" rot="0">
              <a:off x="0" y="0"/>
              <a:ext cx="635000" cy="419100"/>
            </a:xfrm>
            <a:custGeom>
              <a:avLst/>
              <a:gdLst/>
              <a:ahLst/>
              <a:cxnLst/>
              <a:rect r="r" b="b" t="t" l="l"/>
              <a:pathLst>
                <a:path h="419100" w="6350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CEA2E1"/>
            </a:solidFill>
          </p:spPr>
        </p:sp>
        <p:sp>
          <p:nvSpPr>
            <p:cNvPr name="TextBox 9" id="9"/>
            <p:cNvSpPr txBox="true"/>
            <p:nvPr/>
          </p:nvSpPr>
          <p:spPr>
            <a:xfrm>
              <a:off x="0" y="-38100"/>
              <a:ext cx="635000" cy="457200"/>
            </a:xfrm>
            <a:prstGeom prst="rect">
              <a:avLst/>
            </a:prstGeom>
          </p:spPr>
          <p:txBody>
            <a:bodyPr anchor="ctr" rtlCol="false" tIns="50800" lIns="50800" bIns="50800" rIns="50800"/>
            <a:lstStyle/>
            <a:p>
              <a:pPr algn="ctr">
                <a:lnSpc>
                  <a:spcPts val="3360"/>
                </a:lnSpc>
              </a:pPr>
              <a:r>
                <a:rPr lang="en-US" sz="2400" b="true">
                  <a:solidFill>
                    <a:srgbClr val="FFFFFF"/>
                  </a:solidFill>
                  <a:latin typeface="Open Sans Semi-Bold"/>
                  <a:ea typeface="Open Sans Semi-Bold"/>
                  <a:cs typeface="Open Sans Semi-Bold"/>
                  <a:sym typeface="Open Sans Semi-Bold"/>
                </a:rPr>
                <a:t>ThingSpeak</a:t>
              </a:r>
            </a:p>
            <a:p>
              <a:pPr algn="ctr">
                <a:lnSpc>
                  <a:spcPts val="3360"/>
                </a:lnSpc>
              </a:pPr>
              <a:r>
                <a:rPr lang="en-US" sz="2400" b="true">
                  <a:solidFill>
                    <a:srgbClr val="FFFFFF"/>
                  </a:solidFill>
                  <a:latin typeface="Open Sans Semi-Bold"/>
                  <a:ea typeface="Open Sans Semi-Bold"/>
                  <a:cs typeface="Open Sans Semi-Bold"/>
                  <a:sym typeface="Open Sans Semi-Bold"/>
                </a:rPr>
                <a:t>Cloud</a:t>
              </a:r>
            </a:p>
            <a:p>
              <a:pPr algn="ctr">
                <a:lnSpc>
                  <a:spcPts val="3360"/>
                </a:lnSpc>
              </a:pPr>
              <a:r>
                <a:rPr lang="en-US" b="true" sz="2400">
                  <a:solidFill>
                    <a:srgbClr val="FFFFFF"/>
                  </a:solidFill>
                  <a:latin typeface="Open Sans Semi-Bold"/>
                  <a:ea typeface="Open Sans Semi-Bold"/>
                  <a:cs typeface="Open Sans Semi-Bold"/>
                  <a:sym typeface="Open Sans Semi-Bold"/>
                </a:rPr>
                <a:t> (Réel) </a:t>
              </a:r>
            </a:p>
          </p:txBody>
        </p:sp>
      </p:grpSp>
      <p:sp>
        <p:nvSpPr>
          <p:cNvPr name="Freeform 10" id="10"/>
          <p:cNvSpPr/>
          <p:nvPr/>
        </p:nvSpPr>
        <p:spPr>
          <a:xfrm flipH="false" flipV="false" rot="0">
            <a:off x="9706045" y="8005518"/>
            <a:ext cx="1787720" cy="1414533"/>
          </a:xfrm>
          <a:custGeom>
            <a:avLst/>
            <a:gdLst/>
            <a:ahLst/>
            <a:cxnLst/>
            <a:rect r="r" b="b" t="t" l="l"/>
            <a:pathLst>
              <a:path h="1414533" w="1787720">
                <a:moveTo>
                  <a:pt x="0" y="0"/>
                </a:moveTo>
                <a:lnTo>
                  <a:pt x="1787720" y="0"/>
                </a:lnTo>
                <a:lnTo>
                  <a:pt x="1787720" y="1414533"/>
                </a:lnTo>
                <a:lnTo>
                  <a:pt x="0" y="14145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431648" y="745513"/>
            <a:ext cx="10531793" cy="1057279"/>
          </a:xfrm>
          <a:prstGeom prst="rect">
            <a:avLst/>
          </a:prstGeom>
        </p:spPr>
        <p:txBody>
          <a:bodyPr anchor="t" rtlCol="false" tIns="0" lIns="0" bIns="0" rIns="0">
            <a:spAutoFit/>
          </a:bodyPr>
          <a:lstStyle/>
          <a:p>
            <a:pPr algn="r" marL="0" indent="0" lvl="0">
              <a:lnSpc>
                <a:spcPts val="7950"/>
              </a:lnSpc>
              <a:spcBef>
                <a:spcPct val="0"/>
              </a:spcBef>
            </a:pPr>
            <a:r>
              <a:rPr lang="en-US" sz="7500" strike="noStrike" u="none">
                <a:solidFill>
                  <a:srgbClr val="FFFFFF"/>
                </a:solidFill>
                <a:latin typeface="Passion One"/>
                <a:ea typeface="Passion One"/>
                <a:cs typeface="Passion One"/>
                <a:sym typeface="Passion One"/>
              </a:rPr>
              <a:t> QU'EST-CE QUE THINGSPEAK ?</a:t>
            </a:r>
          </a:p>
        </p:txBody>
      </p:sp>
      <p:sp>
        <p:nvSpPr>
          <p:cNvPr name="TextBox 12" id="12"/>
          <p:cNvSpPr txBox="true"/>
          <p:nvPr/>
        </p:nvSpPr>
        <p:spPr>
          <a:xfrm rot="0">
            <a:off x="656748" y="2308206"/>
            <a:ext cx="17259300" cy="815340"/>
          </a:xfrm>
          <a:prstGeom prst="rect">
            <a:avLst/>
          </a:prstGeom>
        </p:spPr>
        <p:txBody>
          <a:bodyPr anchor="t" rtlCol="false" tIns="0" lIns="0" bIns="0" rIns="0">
            <a:spAutoFit/>
          </a:bodyPr>
          <a:lstStyle/>
          <a:p>
            <a:pPr algn="l">
              <a:lnSpc>
                <a:spcPts val="3360"/>
              </a:lnSpc>
              <a:spcBef>
                <a:spcPct val="0"/>
              </a:spcBef>
            </a:pPr>
            <a:r>
              <a:rPr lang="en-US" sz="2400">
                <a:solidFill>
                  <a:srgbClr val="FFFFFF"/>
                </a:solidFill>
                <a:latin typeface="Open Sans"/>
                <a:ea typeface="Open Sans"/>
                <a:cs typeface="Open Sans"/>
                <a:sym typeface="Open Sans"/>
              </a:rPr>
              <a:t>ThingSpeak est une plateforme IoT cloud open-source de MathWorks qui permet de collecter, visualiser et analyser des données de capteurs en temps réel via Internet.</a:t>
            </a:r>
          </a:p>
        </p:txBody>
      </p:sp>
      <p:sp>
        <p:nvSpPr>
          <p:cNvPr name="TextBox 13" id="13"/>
          <p:cNvSpPr txBox="true"/>
          <p:nvPr/>
        </p:nvSpPr>
        <p:spPr>
          <a:xfrm rot="0">
            <a:off x="656748" y="7180794"/>
            <a:ext cx="5401152" cy="513577"/>
          </a:xfrm>
          <a:prstGeom prst="rect">
            <a:avLst/>
          </a:prstGeom>
        </p:spPr>
        <p:txBody>
          <a:bodyPr anchor="t" rtlCol="false" tIns="0" lIns="0" bIns="0" rIns="0">
            <a:spAutoFit/>
          </a:bodyPr>
          <a:lstStyle/>
          <a:p>
            <a:pPr algn="l">
              <a:lnSpc>
                <a:spcPts val="4242"/>
              </a:lnSpc>
              <a:spcBef>
                <a:spcPct val="0"/>
              </a:spcBef>
            </a:pPr>
            <a:r>
              <a:rPr lang="en-US" b="true" sz="3030">
                <a:solidFill>
                  <a:srgbClr val="FFFFFF"/>
                </a:solidFill>
                <a:latin typeface="Open Sans Semi-Bold"/>
                <a:ea typeface="Open Sans Semi-Bold"/>
                <a:cs typeface="Open Sans Semi-Bold"/>
                <a:sym typeface="Open Sans Semi-Bold"/>
              </a:rPr>
              <a:t>Comment ça fonctionne ?</a:t>
            </a:r>
          </a:p>
        </p:txBody>
      </p:sp>
      <p:sp>
        <p:nvSpPr>
          <p:cNvPr name="TextBox 14" id="14"/>
          <p:cNvSpPr txBox="true"/>
          <p:nvPr/>
        </p:nvSpPr>
        <p:spPr>
          <a:xfrm rot="0">
            <a:off x="10120300" y="8862060"/>
            <a:ext cx="1686282"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HTTP POST </a:t>
            </a:r>
          </a:p>
        </p:txBody>
      </p:sp>
      <p:sp>
        <p:nvSpPr>
          <p:cNvPr name="TextBox 15" id="15"/>
          <p:cNvSpPr txBox="true"/>
          <p:nvPr/>
        </p:nvSpPr>
        <p:spPr>
          <a:xfrm rot="0">
            <a:off x="9706045" y="7656271"/>
            <a:ext cx="620554"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WiFi</a:t>
            </a:r>
          </a:p>
        </p:txBody>
      </p:sp>
      <p:sp>
        <p:nvSpPr>
          <p:cNvPr name="TextBox 16" id="16"/>
          <p:cNvSpPr txBox="true"/>
          <p:nvPr/>
        </p:nvSpPr>
        <p:spPr>
          <a:xfrm rot="0">
            <a:off x="9453847" y="8023936"/>
            <a:ext cx="1332905" cy="297179"/>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Open Sans Semi-Bold"/>
                <a:ea typeface="Open Sans Semi-Bold"/>
                <a:cs typeface="Open Sans Semi-Bold"/>
                <a:sym typeface="Open Sans Semi-Bold"/>
              </a:rPr>
              <a:t>(Simulation)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17731" y="542923"/>
            <a:ext cx="14258266" cy="1057279"/>
          </a:xfrm>
          <a:prstGeom prst="rect">
            <a:avLst/>
          </a:prstGeom>
        </p:spPr>
        <p:txBody>
          <a:bodyPr anchor="t" rtlCol="false" tIns="0" lIns="0" bIns="0" rIns="0">
            <a:spAutoFit/>
          </a:bodyPr>
          <a:lstStyle/>
          <a:p>
            <a:pPr algn="r" marL="0" indent="0" lvl="0">
              <a:lnSpc>
                <a:spcPts val="7950"/>
              </a:lnSpc>
              <a:spcBef>
                <a:spcPct val="0"/>
              </a:spcBef>
            </a:pPr>
            <a:r>
              <a:rPr lang="en-US" sz="7500" strike="noStrike" u="none">
                <a:solidFill>
                  <a:srgbClr val="FFFFFF"/>
                </a:solidFill>
                <a:latin typeface="Passion One"/>
                <a:ea typeface="Passion One"/>
                <a:cs typeface="Passion One"/>
                <a:sym typeface="Passion One"/>
              </a:rPr>
              <a:t>CONFIGURATION DE NOTRE CHANNEL:</a:t>
            </a:r>
          </a:p>
        </p:txBody>
      </p:sp>
      <p:sp>
        <p:nvSpPr>
          <p:cNvPr name="Freeform 3" id="3"/>
          <p:cNvSpPr/>
          <p:nvPr/>
        </p:nvSpPr>
        <p:spPr>
          <a:xfrm flipH="false" flipV="false" rot="0">
            <a:off x="1643427" y="3457307"/>
            <a:ext cx="7752914" cy="4421308"/>
          </a:xfrm>
          <a:custGeom>
            <a:avLst/>
            <a:gdLst/>
            <a:ahLst/>
            <a:cxnLst/>
            <a:rect r="r" b="b" t="t" l="l"/>
            <a:pathLst>
              <a:path h="4421308" w="7752914">
                <a:moveTo>
                  <a:pt x="0" y="0"/>
                </a:moveTo>
                <a:lnTo>
                  <a:pt x="7752914" y="0"/>
                </a:lnTo>
                <a:lnTo>
                  <a:pt x="7752914" y="4421308"/>
                </a:lnTo>
                <a:lnTo>
                  <a:pt x="0" y="4421308"/>
                </a:lnTo>
                <a:lnTo>
                  <a:pt x="0" y="0"/>
                </a:lnTo>
                <a:close/>
              </a:path>
            </a:pathLst>
          </a:custGeom>
          <a:blipFill>
            <a:blip r:embed="rId2"/>
            <a:stretch>
              <a:fillRect l="0" t="0" r="-45293" b="0"/>
            </a:stretch>
          </a:blipFill>
        </p:spPr>
      </p:sp>
      <p:sp>
        <p:nvSpPr>
          <p:cNvPr name="Freeform 4" id="4"/>
          <p:cNvSpPr/>
          <p:nvPr/>
        </p:nvSpPr>
        <p:spPr>
          <a:xfrm flipH="false" flipV="false" rot="0">
            <a:off x="10544701" y="2736986"/>
            <a:ext cx="6391669" cy="6199655"/>
          </a:xfrm>
          <a:custGeom>
            <a:avLst/>
            <a:gdLst/>
            <a:ahLst/>
            <a:cxnLst/>
            <a:rect r="r" b="b" t="t" l="l"/>
            <a:pathLst>
              <a:path h="6199655" w="6391669">
                <a:moveTo>
                  <a:pt x="0" y="0"/>
                </a:moveTo>
                <a:lnTo>
                  <a:pt x="6391669" y="0"/>
                </a:lnTo>
                <a:lnTo>
                  <a:pt x="6391669" y="6199655"/>
                </a:lnTo>
                <a:lnTo>
                  <a:pt x="0" y="6199655"/>
                </a:lnTo>
                <a:lnTo>
                  <a:pt x="0" y="0"/>
                </a:lnTo>
                <a:close/>
              </a:path>
            </a:pathLst>
          </a:custGeom>
          <a:blipFill>
            <a:blip r:embed="rId3"/>
            <a:stretch>
              <a:fillRect l="0" t="0" r="-114355" b="0"/>
            </a:stretch>
          </a:blipFill>
        </p:spPr>
      </p:sp>
      <p:sp>
        <p:nvSpPr>
          <p:cNvPr name="TextBox 5" id="5"/>
          <p:cNvSpPr txBox="true"/>
          <p:nvPr/>
        </p:nvSpPr>
        <p:spPr>
          <a:xfrm rot="0">
            <a:off x="11079628" y="2112575"/>
            <a:ext cx="5627981"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Champs (Fields) configurés :</a:t>
            </a:r>
          </a:p>
        </p:txBody>
      </p:sp>
      <p:sp>
        <p:nvSpPr>
          <p:cNvPr name="TextBox 6" id="6"/>
          <p:cNvSpPr txBox="true"/>
          <p:nvPr/>
        </p:nvSpPr>
        <p:spPr>
          <a:xfrm rot="0">
            <a:off x="3235227" y="2470715"/>
            <a:ext cx="5154574"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Informations du Channel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635373" y="1971105"/>
            <a:ext cx="15017253" cy="6344790"/>
          </a:xfrm>
          <a:custGeom>
            <a:avLst/>
            <a:gdLst/>
            <a:ahLst/>
            <a:cxnLst/>
            <a:rect r="r" b="b" t="t" l="l"/>
            <a:pathLst>
              <a:path h="6344790" w="15017253">
                <a:moveTo>
                  <a:pt x="0" y="0"/>
                </a:moveTo>
                <a:lnTo>
                  <a:pt x="15017254" y="0"/>
                </a:lnTo>
                <a:lnTo>
                  <a:pt x="15017254" y="6344790"/>
                </a:lnTo>
                <a:lnTo>
                  <a:pt x="0" y="6344790"/>
                </a:lnTo>
                <a:lnTo>
                  <a:pt x="0" y="0"/>
                </a:lnTo>
                <a:close/>
              </a:path>
            </a:pathLst>
          </a:custGeom>
          <a:blipFill>
            <a:blip r:embed="rId2"/>
            <a:stretch>
              <a:fillRect l="0" t="0" r="0" b="0"/>
            </a:stretch>
          </a:blipFill>
        </p:spPr>
      </p:sp>
      <p:sp>
        <p:nvSpPr>
          <p:cNvPr name="TextBox 3" id="3"/>
          <p:cNvSpPr txBox="true"/>
          <p:nvPr/>
        </p:nvSpPr>
        <p:spPr>
          <a:xfrm rot="0">
            <a:off x="817358" y="742950"/>
            <a:ext cx="5488305" cy="5143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Open Sans"/>
                <a:ea typeface="Open Sans"/>
                <a:cs typeface="Open Sans"/>
                <a:sym typeface="Open Sans"/>
              </a:rPr>
              <a:t>2-Visualisation sur ThingSpeak:</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15212" y="4667453"/>
            <a:ext cx="12677287" cy="828807"/>
          </a:xfrm>
          <a:prstGeom prst="rect">
            <a:avLst/>
          </a:prstGeom>
        </p:spPr>
        <p:txBody>
          <a:bodyPr anchor="t" rtlCol="false" tIns="0" lIns="0" bIns="0" rIns="0">
            <a:spAutoFit/>
          </a:bodyPr>
          <a:lstStyle/>
          <a:p>
            <a:pPr algn="r">
              <a:lnSpc>
                <a:spcPts val="6254"/>
              </a:lnSpc>
            </a:pPr>
            <a:r>
              <a:rPr lang="en-US" sz="5900">
                <a:solidFill>
                  <a:srgbClr val="FFFFFF"/>
                </a:solidFill>
                <a:latin typeface="Passion One"/>
                <a:ea typeface="Passion One"/>
                <a:cs typeface="Passion One"/>
                <a:sym typeface="Passion One"/>
              </a:rPr>
              <a:t>PH</a:t>
            </a:r>
            <a:r>
              <a:rPr lang="en-US" sz="5900">
                <a:solidFill>
                  <a:srgbClr val="FFFFFF"/>
                </a:solidFill>
                <a:latin typeface="Passion One"/>
                <a:ea typeface="Passion One"/>
                <a:cs typeface="Passion One"/>
                <a:sym typeface="Passion One"/>
              </a:rPr>
              <a:t>ASE 2 : IMPLÉMENTA</a:t>
            </a:r>
            <a:r>
              <a:rPr lang="en-US" sz="5900">
                <a:solidFill>
                  <a:srgbClr val="FFFFFF"/>
                </a:solidFill>
                <a:latin typeface="Passion One"/>
                <a:ea typeface="Passion One"/>
                <a:cs typeface="Passion One"/>
                <a:sym typeface="Passion One"/>
              </a:rPr>
              <a:t>TION DU SYSTÈME RÉEL</a:t>
            </a:r>
          </a:p>
        </p:txBody>
      </p:sp>
      <p:sp>
        <p:nvSpPr>
          <p:cNvPr name="Freeform 4" id="4"/>
          <p:cNvSpPr/>
          <p:nvPr/>
        </p:nvSpPr>
        <p:spPr>
          <a:xfrm flipH="true" flipV="false" rot="0">
            <a:off x="14529553" y="6382145"/>
            <a:ext cx="1327201" cy="393183"/>
          </a:xfrm>
          <a:custGeom>
            <a:avLst/>
            <a:gdLst/>
            <a:ahLst/>
            <a:cxnLst/>
            <a:rect r="r" b="b" t="t" l="l"/>
            <a:pathLst>
              <a:path h="393183" w="1327201">
                <a:moveTo>
                  <a:pt x="1327202" y="0"/>
                </a:moveTo>
                <a:lnTo>
                  <a:pt x="0" y="0"/>
                </a:lnTo>
                <a:lnTo>
                  <a:pt x="0" y="393183"/>
                </a:lnTo>
                <a:lnTo>
                  <a:pt x="1327202" y="393183"/>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75373" y="4475854"/>
            <a:ext cx="11079074" cy="774070"/>
          </a:xfrm>
          <a:prstGeom prst="rect">
            <a:avLst/>
          </a:prstGeom>
        </p:spPr>
        <p:txBody>
          <a:bodyPr anchor="t" rtlCol="false" tIns="0" lIns="0" bIns="0" rIns="0">
            <a:spAutoFit/>
          </a:bodyPr>
          <a:lstStyle/>
          <a:p>
            <a:pPr algn="r">
              <a:lnSpc>
                <a:spcPts val="5830"/>
              </a:lnSpc>
            </a:pPr>
            <a:r>
              <a:rPr lang="en-US" sz="5500">
                <a:solidFill>
                  <a:srgbClr val="78219F"/>
                </a:solidFill>
                <a:latin typeface="Passion One"/>
                <a:ea typeface="Passion One"/>
                <a:cs typeface="Passion One"/>
                <a:sym typeface="Passion One"/>
              </a:rPr>
              <a:t> MONTAGE PHYSIQUE - COMPOSANTS RÉELS</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17731" y="723003"/>
            <a:ext cx="14811431"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CIRCUIT</a:t>
            </a:r>
            <a:r>
              <a:rPr lang="en-US" sz="7500" strike="noStrike" u="none">
                <a:solidFill>
                  <a:srgbClr val="FFFFFF"/>
                </a:solidFill>
                <a:latin typeface="Passion One"/>
                <a:ea typeface="Passion One"/>
                <a:cs typeface="Passion One"/>
                <a:sym typeface="Passion One"/>
              </a:rPr>
              <a:t> PHYSIQUE - ESP8266 NODEMCU</a:t>
            </a:r>
          </a:p>
        </p:txBody>
      </p:sp>
      <p:sp>
        <p:nvSpPr>
          <p:cNvPr name="Freeform 3" id="3"/>
          <p:cNvSpPr/>
          <p:nvPr/>
        </p:nvSpPr>
        <p:spPr>
          <a:xfrm flipH="false" flipV="false" rot="0">
            <a:off x="1298820" y="2540061"/>
            <a:ext cx="7693031" cy="5769773"/>
          </a:xfrm>
          <a:custGeom>
            <a:avLst/>
            <a:gdLst/>
            <a:ahLst/>
            <a:cxnLst/>
            <a:rect r="r" b="b" t="t" l="l"/>
            <a:pathLst>
              <a:path h="5769773" w="7693031">
                <a:moveTo>
                  <a:pt x="0" y="0"/>
                </a:moveTo>
                <a:lnTo>
                  <a:pt x="7693032" y="0"/>
                </a:lnTo>
                <a:lnTo>
                  <a:pt x="7693032" y="5769773"/>
                </a:lnTo>
                <a:lnTo>
                  <a:pt x="0" y="5769773"/>
                </a:lnTo>
                <a:lnTo>
                  <a:pt x="0" y="0"/>
                </a:lnTo>
                <a:close/>
              </a:path>
            </a:pathLst>
          </a:custGeom>
          <a:blipFill>
            <a:blip r:embed="rId2"/>
            <a:stretch>
              <a:fillRect l="0" t="0" r="0" b="0"/>
            </a:stretch>
          </a:blipFill>
        </p:spPr>
      </p:sp>
      <p:sp>
        <p:nvSpPr>
          <p:cNvPr name="Freeform 4" id="4"/>
          <p:cNvSpPr/>
          <p:nvPr/>
        </p:nvSpPr>
        <p:spPr>
          <a:xfrm flipH="false" flipV="false" rot="0">
            <a:off x="9909341" y="2382491"/>
            <a:ext cx="6852090" cy="6257446"/>
          </a:xfrm>
          <a:custGeom>
            <a:avLst/>
            <a:gdLst/>
            <a:ahLst/>
            <a:cxnLst/>
            <a:rect r="r" b="b" t="t" l="l"/>
            <a:pathLst>
              <a:path h="6257446" w="6852090">
                <a:moveTo>
                  <a:pt x="0" y="0"/>
                </a:moveTo>
                <a:lnTo>
                  <a:pt x="6852090" y="0"/>
                </a:lnTo>
                <a:lnTo>
                  <a:pt x="6852090" y="6257445"/>
                </a:lnTo>
                <a:lnTo>
                  <a:pt x="0" y="6257445"/>
                </a:lnTo>
                <a:lnTo>
                  <a:pt x="0" y="0"/>
                </a:lnTo>
                <a:close/>
              </a:path>
            </a:pathLst>
          </a:custGeom>
          <a:blipFill>
            <a:blip r:embed="rId3"/>
            <a:stretch>
              <a:fillRect l="-26882" t="0" r="0" b="-4205"/>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2178166"/>
            <a:ext cx="4484554" cy="3447361"/>
          </a:xfrm>
          <a:custGeom>
            <a:avLst/>
            <a:gdLst/>
            <a:ahLst/>
            <a:cxnLst/>
            <a:rect r="r" b="b" t="t" l="l"/>
            <a:pathLst>
              <a:path h="3447361" w="4484554">
                <a:moveTo>
                  <a:pt x="0" y="0"/>
                </a:moveTo>
                <a:lnTo>
                  <a:pt x="4484554" y="0"/>
                </a:lnTo>
                <a:lnTo>
                  <a:pt x="4484554" y="3447361"/>
                </a:lnTo>
                <a:lnTo>
                  <a:pt x="0" y="3447361"/>
                </a:lnTo>
                <a:lnTo>
                  <a:pt x="0" y="0"/>
                </a:lnTo>
                <a:close/>
              </a:path>
            </a:pathLst>
          </a:custGeom>
          <a:blipFill>
            <a:blip r:embed="rId2"/>
            <a:stretch>
              <a:fillRect l="0" t="0" r="0" b="0"/>
            </a:stretch>
          </a:blipFill>
        </p:spPr>
      </p:sp>
      <p:sp>
        <p:nvSpPr>
          <p:cNvPr name="Freeform 3" id="3"/>
          <p:cNvSpPr/>
          <p:nvPr/>
        </p:nvSpPr>
        <p:spPr>
          <a:xfrm flipH="false" flipV="false" rot="0">
            <a:off x="1451498" y="5291050"/>
            <a:ext cx="4331876" cy="3254190"/>
          </a:xfrm>
          <a:custGeom>
            <a:avLst/>
            <a:gdLst/>
            <a:ahLst/>
            <a:cxnLst/>
            <a:rect r="r" b="b" t="t" l="l"/>
            <a:pathLst>
              <a:path h="3254190" w="4331876">
                <a:moveTo>
                  <a:pt x="0" y="0"/>
                </a:moveTo>
                <a:lnTo>
                  <a:pt x="4331876" y="0"/>
                </a:lnTo>
                <a:lnTo>
                  <a:pt x="4331876" y="3254190"/>
                </a:lnTo>
                <a:lnTo>
                  <a:pt x="0" y="3254190"/>
                </a:lnTo>
                <a:lnTo>
                  <a:pt x="0" y="0"/>
                </a:lnTo>
                <a:close/>
              </a:path>
            </a:pathLst>
          </a:custGeom>
          <a:blipFill>
            <a:blip r:embed="rId3"/>
            <a:stretch>
              <a:fillRect l="0" t="0" r="0" b="0"/>
            </a:stretch>
          </a:blipFill>
        </p:spPr>
      </p:sp>
      <p:sp>
        <p:nvSpPr>
          <p:cNvPr name="Freeform 4" id="4"/>
          <p:cNvSpPr/>
          <p:nvPr/>
        </p:nvSpPr>
        <p:spPr>
          <a:xfrm flipH="false" flipV="false" rot="0">
            <a:off x="6202418" y="1377477"/>
            <a:ext cx="6234321" cy="4675741"/>
          </a:xfrm>
          <a:custGeom>
            <a:avLst/>
            <a:gdLst/>
            <a:ahLst/>
            <a:cxnLst/>
            <a:rect r="r" b="b" t="t" l="l"/>
            <a:pathLst>
              <a:path h="4675741" w="6234321">
                <a:moveTo>
                  <a:pt x="0" y="0"/>
                </a:moveTo>
                <a:lnTo>
                  <a:pt x="6234321" y="0"/>
                </a:lnTo>
                <a:lnTo>
                  <a:pt x="6234321" y="4675740"/>
                </a:lnTo>
                <a:lnTo>
                  <a:pt x="0" y="4675740"/>
                </a:lnTo>
                <a:lnTo>
                  <a:pt x="0" y="0"/>
                </a:lnTo>
                <a:close/>
              </a:path>
            </a:pathLst>
          </a:custGeom>
          <a:blipFill>
            <a:blip r:embed="rId4"/>
            <a:stretch>
              <a:fillRect l="0" t="0" r="0" b="0"/>
            </a:stretch>
          </a:blipFill>
        </p:spPr>
      </p:sp>
      <p:sp>
        <p:nvSpPr>
          <p:cNvPr name="TextBox 5" id="5"/>
          <p:cNvSpPr txBox="true"/>
          <p:nvPr/>
        </p:nvSpPr>
        <p:spPr>
          <a:xfrm rot="0">
            <a:off x="8922456" y="5252950"/>
            <a:ext cx="1748671"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Breadboard</a:t>
            </a:r>
          </a:p>
        </p:txBody>
      </p:sp>
      <p:sp>
        <p:nvSpPr>
          <p:cNvPr name="TextBox 6" id="6"/>
          <p:cNvSpPr txBox="true"/>
          <p:nvPr/>
        </p:nvSpPr>
        <p:spPr>
          <a:xfrm rot="0">
            <a:off x="13844765" y="4566170"/>
            <a:ext cx="1718429"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Résistances</a:t>
            </a:r>
          </a:p>
        </p:txBody>
      </p:sp>
      <p:sp>
        <p:nvSpPr>
          <p:cNvPr name="Freeform 7" id="7"/>
          <p:cNvSpPr/>
          <p:nvPr/>
        </p:nvSpPr>
        <p:spPr>
          <a:xfrm flipH="false" flipV="false" rot="0">
            <a:off x="13844765" y="1932961"/>
            <a:ext cx="2190491" cy="1968885"/>
          </a:xfrm>
          <a:custGeom>
            <a:avLst/>
            <a:gdLst/>
            <a:ahLst/>
            <a:cxnLst/>
            <a:rect r="r" b="b" t="t" l="l"/>
            <a:pathLst>
              <a:path h="1968885" w="2190491">
                <a:moveTo>
                  <a:pt x="0" y="0"/>
                </a:moveTo>
                <a:lnTo>
                  <a:pt x="2190491" y="0"/>
                </a:lnTo>
                <a:lnTo>
                  <a:pt x="2190491" y="1968885"/>
                </a:lnTo>
                <a:lnTo>
                  <a:pt x="0" y="1968885"/>
                </a:lnTo>
                <a:lnTo>
                  <a:pt x="0" y="0"/>
                </a:lnTo>
                <a:close/>
              </a:path>
            </a:pathLst>
          </a:custGeom>
          <a:blipFill>
            <a:blip r:embed="rId5"/>
            <a:stretch>
              <a:fillRect l="0" t="0" r="0" b="0"/>
            </a:stretch>
          </a:blipFill>
        </p:spPr>
      </p:sp>
      <p:sp>
        <p:nvSpPr>
          <p:cNvPr name="Freeform 8" id="8"/>
          <p:cNvSpPr/>
          <p:nvPr/>
        </p:nvSpPr>
        <p:spPr>
          <a:xfrm flipH="false" flipV="false" rot="0">
            <a:off x="10081690" y="5283493"/>
            <a:ext cx="3261746" cy="3261746"/>
          </a:xfrm>
          <a:custGeom>
            <a:avLst/>
            <a:gdLst/>
            <a:ahLst/>
            <a:cxnLst/>
            <a:rect r="r" b="b" t="t" l="l"/>
            <a:pathLst>
              <a:path h="3261746" w="3261746">
                <a:moveTo>
                  <a:pt x="0" y="0"/>
                </a:moveTo>
                <a:lnTo>
                  <a:pt x="3261746" y="0"/>
                </a:lnTo>
                <a:lnTo>
                  <a:pt x="3261746" y="3261747"/>
                </a:lnTo>
                <a:lnTo>
                  <a:pt x="0" y="3261747"/>
                </a:lnTo>
                <a:lnTo>
                  <a:pt x="0" y="0"/>
                </a:lnTo>
                <a:close/>
              </a:path>
            </a:pathLst>
          </a:custGeom>
          <a:blipFill>
            <a:blip r:embed="rId6"/>
            <a:stretch>
              <a:fillRect l="0" t="0" r="0" b="0"/>
            </a:stretch>
          </a:blipFill>
        </p:spPr>
      </p:sp>
      <p:sp>
        <p:nvSpPr>
          <p:cNvPr name="Freeform 9" id="9"/>
          <p:cNvSpPr/>
          <p:nvPr/>
        </p:nvSpPr>
        <p:spPr>
          <a:xfrm flipH="false" flipV="false" rot="5472899">
            <a:off x="9694848" y="6217221"/>
            <a:ext cx="1952557" cy="1549968"/>
          </a:xfrm>
          <a:custGeom>
            <a:avLst/>
            <a:gdLst/>
            <a:ahLst/>
            <a:cxnLst/>
            <a:rect r="r" b="b" t="t" l="l"/>
            <a:pathLst>
              <a:path h="1549968" w="1952557">
                <a:moveTo>
                  <a:pt x="0" y="0"/>
                </a:moveTo>
                <a:lnTo>
                  <a:pt x="1952557" y="0"/>
                </a:lnTo>
                <a:lnTo>
                  <a:pt x="1952557" y="1549968"/>
                </a:lnTo>
                <a:lnTo>
                  <a:pt x="0" y="1549968"/>
                </a:lnTo>
                <a:lnTo>
                  <a:pt x="0" y="0"/>
                </a:lnTo>
                <a:close/>
              </a:path>
            </a:pathLst>
          </a:custGeom>
          <a:blipFill>
            <a:blip r:embed="rId7"/>
            <a:stretch>
              <a:fillRect l="0" t="0" r="0" b="0"/>
            </a:stretch>
          </a:blipFill>
        </p:spPr>
      </p:sp>
      <p:sp>
        <p:nvSpPr>
          <p:cNvPr name="TextBox 10" id="10"/>
          <p:cNvSpPr txBox="true"/>
          <p:nvPr/>
        </p:nvSpPr>
        <p:spPr>
          <a:xfrm rot="0">
            <a:off x="15548648" y="7588458"/>
            <a:ext cx="973217"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DHT22</a:t>
            </a:r>
          </a:p>
        </p:txBody>
      </p:sp>
      <p:sp>
        <p:nvSpPr>
          <p:cNvPr name="Freeform 11" id="11"/>
          <p:cNvSpPr/>
          <p:nvPr/>
        </p:nvSpPr>
        <p:spPr>
          <a:xfrm flipH="false" flipV="false" rot="0">
            <a:off x="14067341" y="4813920"/>
            <a:ext cx="2991707" cy="2991707"/>
          </a:xfrm>
          <a:custGeom>
            <a:avLst/>
            <a:gdLst/>
            <a:ahLst/>
            <a:cxnLst/>
            <a:rect r="r" b="b" t="t" l="l"/>
            <a:pathLst>
              <a:path h="2991707" w="2991707">
                <a:moveTo>
                  <a:pt x="0" y="0"/>
                </a:moveTo>
                <a:lnTo>
                  <a:pt x="2991707" y="0"/>
                </a:lnTo>
                <a:lnTo>
                  <a:pt x="2991707" y="2991708"/>
                </a:lnTo>
                <a:lnTo>
                  <a:pt x="0" y="2991708"/>
                </a:lnTo>
                <a:lnTo>
                  <a:pt x="0" y="0"/>
                </a:lnTo>
                <a:close/>
              </a:path>
            </a:pathLst>
          </a:custGeom>
          <a:blipFill>
            <a:blip r:embed="rId8"/>
            <a:stretch>
              <a:fillRect l="0" t="0" r="0" b="0"/>
            </a:stretch>
          </a:blipFill>
        </p:spPr>
      </p:sp>
      <p:sp>
        <p:nvSpPr>
          <p:cNvPr name="Freeform 12" id="12"/>
          <p:cNvSpPr/>
          <p:nvPr/>
        </p:nvSpPr>
        <p:spPr>
          <a:xfrm flipH="false" flipV="false" rot="0">
            <a:off x="6501966" y="5593270"/>
            <a:ext cx="2649749" cy="2649749"/>
          </a:xfrm>
          <a:custGeom>
            <a:avLst/>
            <a:gdLst/>
            <a:ahLst/>
            <a:cxnLst/>
            <a:rect r="r" b="b" t="t" l="l"/>
            <a:pathLst>
              <a:path h="2649749" w="2649749">
                <a:moveTo>
                  <a:pt x="0" y="0"/>
                </a:moveTo>
                <a:lnTo>
                  <a:pt x="2649750" y="0"/>
                </a:lnTo>
                <a:lnTo>
                  <a:pt x="2649750" y="2649750"/>
                </a:lnTo>
                <a:lnTo>
                  <a:pt x="0" y="2649750"/>
                </a:lnTo>
                <a:lnTo>
                  <a:pt x="0" y="0"/>
                </a:lnTo>
                <a:close/>
              </a:path>
            </a:pathLst>
          </a:custGeom>
          <a:blipFill>
            <a:blip r:embed="rId9"/>
            <a:stretch>
              <a:fillRect l="0" t="0" r="0" b="0"/>
            </a:stretch>
          </a:blipFill>
        </p:spPr>
      </p:sp>
      <p:sp>
        <p:nvSpPr>
          <p:cNvPr name="TextBox 13" id="13"/>
          <p:cNvSpPr txBox="true"/>
          <p:nvPr/>
        </p:nvSpPr>
        <p:spPr>
          <a:xfrm rot="0">
            <a:off x="-2701205" y="700493"/>
            <a:ext cx="14811431"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LISTE</a:t>
            </a:r>
            <a:r>
              <a:rPr lang="en-US" sz="7500" strike="noStrike" u="none">
                <a:solidFill>
                  <a:srgbClr val="FFFFFF"/>
                </a:solidFill>
                <a:latin typeface="Passion One"/>
                <a:ea typeface="Passion One"/>
                <a:cs typeface="Passion One"/>
                <a:sym typeface="Passion One"/>
              </a:rPr>
              <a:t> DES COMPOSANTS UTILISÉS</a:t>
            </a:r>
          </a:p>
        </p:txBody>
      </p:sp>
      <p:sp>
        <p:nvSpPr>
          <p:cNvPr name="TextBox 14" id="14"/>
          <p:cNvSpPr txBox="true"/>
          <p:nvPr/>
        </p:nvSpPr>
        <p:spPr>
          <a:xfrm rot="0">
            <a:off x="2221488" y="7946597"/>
            <a:ext cx="3764735" cy="396240"/>
          </a:xfrm>
          <a:prstGeom prst="rect">
            <a:avLst/>
          </a:prstGeom>
        </p:spPr>
        <p:txBody>
          <a:bodyPr anchor="t" rtlCol="false" tIns="0" lIns="0" bIns="0" rIns="0">
            <a:spAutoFit/>
          </a:bodyPr>
          <a:lstStyle/>
          <a:p>
            <a:pPr algn="ctr" marL="0" indent="0" lvl="0">
              <a:lnSpc>
                <a:spcPts val="3360"/>
              </a:lnSpc>
              <a:spcBef>
                <a:spcPct val="0"/>
              </a:spcBef>
            </a:pPr>
            <a:r>
              <a:rPr lang="en-US" b="true" sz="2400" strike="noStrike" u="none">
                <a:solidFill>
                  <a:srgbClr val="FFFFFF"/>
                </a:solidFill>
                <a:latin typeface="Open Sans Semi-Bold"/>
                <a:ea typeface="Open Sans Semi-Bold"/>
                <a:cs typeface="Open Sans Semi-Bold"/>
                <a:sym typeface="Open Sans Semi-Bold"/>
              </a:rPr>
              <a:t>ESP8266 NodeMCU</a:t>
            </a:r>
          </a:p>
        </p:txBody>
      </p:sp>
      <p:sp>
        <p:nvSpPr>
          <p:cNvPr name="TextBox 15" id="15"/>
          <p:cNvSpPr txBox="true"/>
          <p:nvPr/>
        </p:nvSpPr>
        <p:spPr>
          <a:xfrm rot="0">
            <a:off x="2221488" y="8478092"/>
            <a:ext cx="3764735"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Microcontrôleur WiFi</a:t>
            </a:r>
          </a:p>
        </p:txBody>
      </p:sp>
      <p:sp>
        <p:nvSpPr>
          <p:cNvPr name="TextBox 16" id="16"/>
          <p:cNvSpPr txBox="true"/>
          <p:nvPr/>
        </p:nvSpPr>
        <p:spPr>
          <a:xfrm rot="0">
            <a:off x="12287547" y="8125667"/>
            <a:ext cx="1557218"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LED Rouge</a:t>
            </a:r>
          </a:p>
        </p:txBody>
      </p:sp>
      <p:sp>
        <p:nvSpPr>
          <p:cNvPr name="TextBox 17" id="17"/>
          <p:cNvSpPr txBox="true"/>
          <p:nvPr/>
        </p:nvSpPr>
        <p:spPr>
          <a:xfrm rot="0">
            <a:off x="12436739" y="8507140"/>
            <a:ext cx="1585793"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D3 (GPIO0)</a:t>
            </a:r>
          </a:p>
        </p:txBody>
      </p:sp>
      <p:sp>
        <p:nvSpPr>
          <p:cNvPr name="TextBox 18" id="18"/>
          <p:cNvSpPr txBox="true"/>
          <p:nvPr/>
        </p:nvSpPr>
        <p:spPr>
          <a:xfrm rot="0">
            <a:off x="10354497" y="8686210"/>
            <a:ext cx="1585793"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D4 (GPIO2)</a:t>
            </a:r>
          </a:p>
        </p:txBody>
      </p:sp>
      <p:sp>
        <p:nvSpPr>
          <p:cNvPr name="TextBox 19" id="19"/>
          <p:cNvSpPr txBox="true"/>
          <p:nvPr/>
        </p:nvSpPr>
        <p:spPr>
          <a:xfrm rot="0">
            <a:off x="10500646" y="8299022"/>
            <a:ext cx="1293495"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LED Blue</a:t>
            </a:r>
          </a:p>
        </p:txBody>
      </p:sp>
      <p:sp>
        <p:nvSpPr>
          <p:cNvPr name="TextBox 20" id="20"/>
          <p:cNvSpPr txBox="true"/>
          <p:nvPr/>
        </p:nvSpPr>
        <p:spPr>
          <a:xfrm rot="0">
            <a:off x="15242360" y="8119953"/>
            <a:ext cx="1585793"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D2 (GPIO4)</a:t>
            </a:r>
          </a:p>
        </p:txBody>
      </p:sp>
      <p:sp>
        <p:nvSpPr>
          <p:cNvPr name="TextBox 21" id="21"/>
          <p:cNvSpPr txBox="true"/>
          <p:nvPr/>
        </p:nvSpPr>
        <p:spPr>
          <a:xfrm rot="0">
            <a:off x="7199383" y="7969930"/>
            <a:ext cx="1723073"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Connexions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51612" y="4369430"/>
            <a:ext cx="11079074" cy="774070"/>
          </a:xfrm>
          <a:prstGeom prst="rect">
            <a:avLst/>
          </a:prstGeom>
        </p:spPr>
        <p:txBody>
          <a:bodyPr anchor="t" rtlCol="false" tIns="0" lIns="0" bIns="0" rIns="0">
            <a:spAutoFit/>
          </a:bodyPr>
          <a:lstStyle/>
          <a:p>
            <a:pPr algn="r">
              <a:lnSpc>
                <a:spcPts val="5830"/>
              </a:lnSpc>
            </a:pPr>
            <a:r>
              <a:rPr lang="en-US" sz="5500">
                <a:solidFill>
                  <a:srgbClr val="78219F"/>
                </a:solidFill>
                <a:latin typeface="Passion One"/>
                <a:ea typeface="Passion One"/>
                <a:cs typeface="Passion One"/>
                <a:sym typeface="Passion One"/>
              </a:rPr>
              <a:t>SCHÉMA D'ARCHITECTURE GLOBAL</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1661714" y="-23864"/>
            <a:ext cx="2633741" cy="4382043"/>
          </a:xfrm>
          <a:custGeom>
            <a:avLst/>
            <a:gdLst/>
            <a:ahLst/>
            <a:cxnLst/>
            <a:rect r="r" b="b" t="t" l="l"/>
            <a:pathLst>
              <a:path h="4382043" w="2633741">
                <a:moveTo>
                  <a:pt x="0" y="0"/>
                </a:moveTo>
                <a:lnTo>
                  <a:pt x="2633741" y="0"/>
                </a:lnTo>
                <a:lnTo>
                  <a:pt x="2633741" y="4382043"/>
                </a:lnTo>
                <a:lnTo>
                  <a:pt x="0" y="4382043"/>
                </a:lnTo>
                <a:lnTo>
                  <a:pt x="0" y="0"/>
                </a:lnTo>
                <a:close/>
              </a:path>
            </a:pathLst>
          </a:custGeom>
          <a:blipFill>
            <a:blip r:embed="rId2"/>
            <a:stretch>
              <a:fillRect l="-15384" t="0" r="-9401" b="0"/>
            </a:stretch>
          </a:blipFill>
        </p:spPr>
      </p:sp>
      <p:sp>
        <p:nvSpPr>
          <p:cNvPr name="Freeform 3" id="3"/>
          <p:cNvSpPr/>
          <p:nvPr/>
        </p:nvSpPr>
        <p:spPr>
          <a:xfrm flipH="false" flipV="false" rot="-5400000">
            <a:off x="11630968" y="3007859"/>
            <a:ext cx="2695232" cy="4382043"/>
          </a:xfrm>
          <a:custGeom>
            <a:avLst/>
            <a:gdLst/>
            <a:ahLst/>
            <a:cxnLst/>
            <a:rect r="r" b="b" t="t" l="l"/>
            <a:pathLst>
              <a:path h="4382043" w="2695232">
                <a:moveTo>
                  <a:pt x="0" y="0"/>
                </a:moveTo>
                <a:lnTo>
                  <a:pt x="2695233" y="0"/>
                </a:lnTo>
                <a:lnTo>
                  <a:pt x="2695233" y="4382043"/>
                </a:lnTo>
                <a:lnTo>
                  <a:pt x="0" y="4382043"/>
                </a:lnTo>
                <a:lnTo>
                  <a:pt x="0" y="0"/>
                </a:lnTo>
                <a:close/>
              </a:path>
            </a:pathLst>
          </a:custGeom>
          <a:blipFill>
            <a:blip r:embed="rId3"/>
            <a:stretch>
              <a:fillRect l="0" t="0" r="-21938" b="0"/>
            </a:stretch>
          </a:blipFill>
        </p:spPr>
      </p:sp>
      <p:sp>
        <p:nvSpPr>
          <p:cNvPr name="Freeform 4" id="4"/>
          <p:cNvSpPr/>
          <p:nvPr/>
        </p:nvSpPr>
        <p:spPr>
          <a:xfrm flipH="false" flipV="false" rot="-5270877">
            <a:off x="11696601" y="6150026"/>
            <a:ext cx="2563967" cy="4654448"/>
          </a:xfrm>
          <a:custGeom>
            <a:avLst/>
            <a:gdLst/>
            <a:ahLst/>
            <a:cxnLst/>
            <a:rect r="r" b="b" t="t" l="l"/>
            <a:pathLst>
              <a:path h="4654448" w="2563967">
                <a:moveTo>
                  <a:pt x="0" y="0"/>
                </a:moveTo>
                <a:lnTo>
                  <a:pt x="2563967" y="0"/>
                </a:lnTo>
                <a:lnTo>
                  <a:pt x="2563967" y="4654448"/>
                </a:lnTo>
                <a:lnTo>
                  <a:pt x="0" y="4654448"/>
                </a:lnTo>
                <a:lnTo>
                  <a:pt x="0" y="0"/>
                </a:lnTo>
                <a:close/>
              </a:path>
            </a:pathLst>
          </a:custGeom>
          <a:blipFill>
            <a:blip r:embed="rId4"/>
            <a:stretch>
              <a:fillRect l="-38616" t="-38590" r="-50073" b="0"/>
            </a:stretch>
          </a:blipFill>
        </p:spPr>
      </p:sp>
      <p:sp>
        <p:nvSpPr>
          <p:cNvPr name="TextBox 5" id="5"/>
          <p:cNvSpPr txBox="true"/>
          <p:nvPr/>
        </p:nvSpPr>
        <p:spPr>
          <a:xfrm rot="0">
            <a:off x="1192580" y="659826"/>
            <a:ext cx="7163038" cy="794898"/>
          </a:xfrm>
          <a:prstGeom prst="rect">
            <a:avLst/>
          </a:prstGeom>
        </p:spPr>
        <p:txBody>
          <a:bodyPr anchor="t" rtlCol="false" tIns="0" lIns="0" bIns="0" rIns="0">
            <a:spAutoFit/>
          </a:bodyPr>
          <a:lstStyle/>
          <a:p>
            <a:pPr algn="r" marL="0" indent="0" lvl="0">
              <a:lnSpc>
                <a:spcPts val="5936"/>
              </a:lnSpc>
              <a:spcBef>
                <a:spcPct val="0"/>
              </a:spcBef>
            </a:pPr>
            <a:r>
              <a:rPr lang="en-US" sz="5600">
                <a:solidFill>
                  <a:srgbClr val="FFFFFF"/>
                </a:solidFill>
                <a:latin typeface="Passion One"/>
                <a:ea typeface="Passion One"/>
                <a:cs typeface="Passion One"/>
                <a:sym typeface="Passion One"/>
              </a:rPr>
              <a:t>ALGO</a:t>
            </a:r>
            <a:r>
              <a:rPr lang="en-US" sz="5600" strike="noStrike" u="none">
                <a:solidFill>
                  <a:srgbClr val="FFFFFF"/>
                </a:solidFill>
                <a:latin typeface="Passion One"/>
                <a:ea typeface="Passion One"/>
                <a:cs typeface="Passion One"/>
                <a:sym typeface="Passion One"/>
              </a:rPr>
              <a:t>RIT</a:t>
            </a:r>
            <a:r>
              <a:rPr lang="en-US" sz="5600" strike="noStrike" u="none">
                <a:solidFill>
                  <a:srgbClr val="FFFFFF"/>
                </a:solidFill>
                <a:latin typeface="Passion One"/>
                <a:ea typeface="Passion One"/>
                <a:cs typeface="Passion One"/>
                <a:sym typeface="Passion One"/>
              </a:rPr>
              <a:t>HME</a:t>
            </a:r>
            <a:r>
              <a:rPr lang="en-US" sz="5600" strike="noStrike" u="none">
                <a:solidFill>
                  <a:srgbClr val="FFFFFF"/>
                </a:solidFill>
                <a:latin typeface="Passion One"/>
                <a:ea typeface="Passion One"/>
                <a:cs typeface="Passion One"/>
                <a:sym typeface="Passion One"/>
              </a:rPr>
              <a:t> DE CONT</a:t>
            </a:r>
            <a:r>
              <a:rPr lang="en-US" sz="5600" strike="noStrike" u="none">
                <a:solidFill>
                  <a:srgbClr val="FFFFFF"/>
                </a:solidFill>
                <a:latin typeface="Passion One"/>
                <a:ea typeface="Passion One"/>
                <a:cs typeface="Passion One"/>
                <a:sym typeface="Passion One"/>
              </a:rPr>
              <a:t>RÔL</a:t>
            </a:r>
            <a:r>
              <a:rPr lang="en-US" sz="5600" strike="noStrike" u="none">
                <a:solidFill>
                  <a:srgbClr val="FFFFFF"/>
                </a:solidFill>
                <a:latin typeface="Passion One"/>
                <a:ea typeface="Passion One"/>
                <a:cs typeface="Passion One"/>
                <a:sym typeface="Passion One"/>
              </a:rPr>
              <a:t>E:</a:t>
            </a:r>
          </a:p>
        </p:txBody>
      </p:sp>
      <p:sp>
        <p:nvSpPr>
          <p:cNvPr name="TextBox 6" id="6"/>
          <p:cNvSpPr txBox="true"/>
          <p:nvPr/>
        </p:nvSpPr>
        <p:spPr>
          <a:xfrm rot="0">
            <a:off x="1028700" y="2129057"/>
            <a:ext cx="8368944"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Si Température ≥ 25°C → Ventilation (niveau 1-5)</a:t>
            </a:r>
          </a:p>
        </p:txBody>
      </p:sp>
      <p:sp>
        <p:nvSpPr>
          <p:cNvPr name="TextBox 7" id="7"/>
          <p:cNvSpPr txBox="true"/>
          <p:nvPr/>
        </p:nvSpPr>
        <p:spPr>
          <a:xfrm rot="0">
            <a:off x="1028700" y="4981711"/>
            <a:ext cx="8115300"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Si Température ≤ 22°C → Chauffage (niveau 1-5)</a:t>
            </a:r>
          </a:p>
        </p:txBody>
      </p:sp>
      <p:sp>
        <p:nvSpPr>
          <p:cNvPr name="TextBox 8" id="8"/>
          <p:cNvSpPr txBox="true"/>
          <p:nvPr/>
        </p:nvSpPr>
        <p:spPr>
          <a:xfrm rot="0">
            <a:off x="1794041" y="8210087"/>
            <a:ext cx="5454708"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Sinon → Zone confort (rien)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300062" y="947837"/>
            <a:ext cx="16522194"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CONFIGURATION NODE-RED :</a:t>
            </a:r>
          </a:p>
        </p:txBody>
      </p:sp>
      <p:sp>
        <p:nvSpPr>
          <p:cNvPr name="Freeform 3" id="3"/>
          <p:cNvSpPr/>
          <p:nvPr/>
        </p:nvSpPr>
        <p:spPr>
          <a:xfrm flipH="false" flipV="false" rot="0">
            <a:off x="1821634" y="2815732"/>
            <a:ext cx="14644731" cy="5455162"/>
          </a:xfrm>
          <a:custGeom>
            <a:avLst/>
            <a:gdLst/>
            <a:ahLst/>
            <a:cxnLst/>
            <a:rect r="r" b="b" t="t" l="l"/>
            <a:pathLst>
              <a:path h="5455162" w="14644731">
                <a:moveTo>
                  <a:pt x="0" y="0"/>
                </a:moveTo>
                <a:lnTo>
                  <a:pt x="14644732" y="0"/>
                </a:lnTo>
                <a:lnTo>
                  <a:pt x="14644732" y="5455162"/>
                </a:lnTo>
                <a:lnTo>
                  <a:pt x="0" y="5455162"/>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9852635" y="3923828"/>
            <a:ext cx="6365838" cy="3678040"/>
          </a:xfrm>
          <a:custGeom>
            <a:avLst/>
            <a:gdLst/>
            <a:ahLst/>
            <a:cxnLst/>
            <a:rect r="r" b="b" t="t" l="l"/>
            <a:pathLst>
              <a:path h="3678040" w="6365838">
                <a:moveTo>
                  <a:pt x="0" y="0"/>
                </a:moveTo>
                <a:lnTo>
                  <a:pt x="6365839" y="0"/>
                </a:lnTo>
                <a:lnTo>
                  <a:pt x="6365839" y="3678040"/>
                </a:lnTo>
                <a:lnTo>
                  <a:pt x="0" y="3678040"/>
                </a:lnTo>
                <a:lnTo>
                  <a:pt x="0" y="0"/>
                </a:lnTo>
                <a:close/>
              </a:path>
            </a:pathLst>
          </a:custGeom>
          <a:blipFill>
            <a:blip r:embed="rId2"/>
            <a:stretch>
              <a:fillRect l="0" t="0" r="0" b="0"/>
            </a:stretch>
          </a:blipFill>
        </p:spPr>
      </p:sp>
      <p:sp>
        <p:nvSpPr>
          <p:cNvPr name="Freeform 3" id="3"/>
          <p:cNvSpPr/>
          <p:nvPr/>
        </p:nvSpPr>
        <p:spPr>
          <a:xfrm flipH="false" flipV="false" rot="0">
            <a:off x="2211052" y="2069871"/>
            <a:ext cx="10659190" cy="1358524"/>
          </a:xfrm>
          <a:custGeom>
            <a:avLst/>
            <a:gdLst/>
            <a:ahLst/>
            <a:cxnLst/>
            <a:rect r="r" b="b" t="t" l="l"/>
            <a:pathLst>
              <a:path h="1358524" w="10659190">
                <a:moveTo>
                  <a:pt x="0" y="0"/>
                </a:moveTo>
                <a:lnTo>
                  <a:pt x="10659190" y="0"/>
                </a:lnTo>
                <a:lnTo>
                  <a:pt x="10659190" y="1358525"/>
                </a:lnTo>
                <a:lnTo>
                  <a:pt x="0" y="1358525"/>
                </a:lnTo>
                <a:lnTo>
                  <a:pt x="0" y="0"/>
                </a:lnTo>
                <a:close/>
              </a:path>
            </a:pathLst>
          </a:custGeom>
          <a:blipFill>
            <a:blip r:embed="rId3"/>
            <a:stretch>
              <a:fillRect l="0" t="0" r="0" b="0"/>
            </a:stretch>
          </a:blipFill>
        </p:spPr>
      </p:sp>
      <p:sp>
        <p:nvSpPr>
          <p:cNvPr name="Freeform 4" id="4"/>
          <p:cNvSpPr/>
          <p:nvPr/>
        </p:nvSpPr>
        <p:spPr>
          <a:xfrm flipH="false" flipV="false" rot="0">
            <a:off x="1028700" y="3923828"/>
            <a:ext cx="6359888" cy="3906376"/>
          </a:xfrm>
          <a:custGeom>
            <a:avLst/>
            <a:gdLst/>
            <a:ahLst/>
            <a:cxnLst/>
            <a:rect r="r" b="b" t="t" l="l"/>
            <a:pathLst>
              <a:path h="3906376" w="6359888">
                <a:moveTo>
                  <a:pt x="0" y="0"/>
                </a:moveTo>
                <a:lnTo>
                  <a:pt x="6359888" y="0"/>
                </a:lnTo>
                <a:lnTo>
                  <a:pt x="6359888" y="3906375"/>
                </a:lnTo>
                <a:lnTo>
                  <a:pt x="0" y="3906375"/>
                </a:lnTo>
                <a:lnTo>
                  <a:pt x="0" y="0"/>
                </a:lnTo>
                <a:close/>
              </a:path>
            </a:pathLst>
          </a:custGeom>
          <a:blipFill>
            <a:blip r:embed="rId4"/>
            <a:stretch>
              <a:fillRect l="0" t="0" r="0" b="0"/>
            </a:stretch>
          </a:blipFill>
        </p:spPr>
      </p:sp>
      <p:sp>
        <p:nvSpPr>
          <p:cNvPr name="TextBox 5" id="5"/>
          <p:cNvSpPr txBox="true"/>
          <p:nvPr/>
        </p:nvSpPr>
        <p:spPr>
          <a:xfrm rot="0">
            <a:off x="-5187512" y="407596"/>
            <a:ext cx="16522194"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CONFIGURATION NODE-RED :</a:t>
            </a:r>
          </a:p>
        </p:txBody>
      </p:sp>
      <p:sp>
        <p:nvSpPr>
          <p:cNvPr name="Freeform 6" id="6"/>
          <p:cNvSpPr/>
          <p:nvPr/>
        </p:nvSpPr>
        <p:spPr>
          <a:xfrm flipH="false" flipV="false" rot="0">
            <a:off x="7726751" y="5169749"/>
            <a:ext cx="1787720" cy="1414533"/>
          </a:xfrm>
          <a:custGeom>
            <a:avLst/>
            <a:gdLst/>
            <a:ahLst/>
            <a:cxnLst/>
            <a:rect r="r" b="b" t="t" l="l"/>
            <a:pathLst>
              <a:path h="1414533" w="1787720">
                <a:moveTo>
                  <a:pt x="0" y="0"/>
                </a:moveTo>
                <a:lnTo>
                  <a:pt x="1787721" y="0"/>
                </a:lnTo>
                <a:lnTo>
                  <a:pt x="1787721" y="1414533"/>
                </a:lnTo>
                <a:lnTo>
                  <a:pt x="0" y="14145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187512" y="407596"/>
            <a:ext cx="16522194"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CONFIGURATION NODE-RED :</a:t>
            </a:r>
          </a:p>
        </p:txBody>
      </p:sp>
      <p:sp>
        <p:nvSpPr>
          <p:cNvPr name="TextBox 3" id="3"/>
          <p:cNvSpPr txBox="true"/>
          <p:nvPr/>
        </p:nvSpPr>
        <p:spPr>
          <a:xfrm rot="0">
            <a:off x="1028700" y="7665595"/>
            <a:ext cx="9848255" cy="815340"/>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a:t>
            </a:r>
            <a:r>
              <a:rPr lang="en-US" b="true" sz="2400">
                <a:solidFill>
                  <a:srgbClr val="FFFFFF"/>
                </a:solidFill>
                <a:latin typeface="Open Sans Semi-Bold"/>
                <a:ea typeface="Open Sans Semi-Bold"/>
                <a:cs typeface="Open Sans Semi-Bold"/>
                <a:sym typeface="Open Sans Semi-Bold"/>
              </a:rPr>
              <a:t>Node-RED reçoit les données au format texte.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-Le nœud JSON convertit ce texte en véritable objet JSON utilisable.</a:t>
            </a:r>
          </a:p>
        </p:txBody>
      </p:sp>
      <p:sp>
        <p:nvSpPr>
          <p:cNvPr name="Freeform 4" id="4"/>
          <p:cNvSpPr/>
          <p:nvPr/>
        </p:nvSpPr>
        <p:spPr>
          <a:xfrm flipH="false" flipV="false" rot="0">
            <a:off x="4047569" y="1630924"/>
            <a:ext cx="7287113" cy="5524051"/>
          </a:xfrm>
          <a:custGeom>
            <a:avLst/>
            <a:gdLst/>
            <a:ahLst/>
            <a:cxnLst/>
            <a:rect r="r" b="b" t="t" l="l"/>
            <a:pathLst>
              <a:path h="5524051" w="7287113">
                <a:moveTo>
                  <a:pt x="0" y="0"/>
                </a:moveTo>
                <a:lnTo>
                  <a:pt x="7287113" y="0"/>
                </a:lnTo>
                <a:lnTo>
                  <a:pt x="7287113" y="5524052"/>
                </a:lnTo>
                <a:lnTo>
                  <a:pt x="0" y="5524052"/>
                </a:lnTo>
                <a:lnTo>
                  <a:pt x="0" y="0"/>
                </a:lnTo>
                <a:close/>
              </a:path>
            </a:pathLst>
          </a:custGeom>
          <a:blipFill>
            <a:blip r:embed="rId2"/>
            <a:stretch>
              <a:fillRect l="0" t="0" r="0" b="-22775"/>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916329" y="1464875"/>
            <a:ext cx="8202810" cy="5147264"/>
          </a:xfrm>
          <a:custGeom>
            <a:avLst/>
            <a:gdLst/>
            <a:ahLst/>
            <a:cxnLst/>
            <a:rect r="r" b="b" t="t" l="l"/>
            <a:pathLst>
              <a:path h="5147264" w="8202810">
                <a:moveTo>
                  <a:pt x="0" y="0"/>
                </a:moveTo>
                <a:lnTo>
                  <a:pt x="8202810" y="0"/>
                </a:lnTo>
                <a:lnTo>
                  <a:pt x="8202810" y="5147264"/>
                </a:lnTo>
                <a:lnTo>
                  <a:pt x="0" y="5147264"/>
                </a:lnTo>
                <a:lnTo>
                  <a:pt x="0" y="0"/>
                </a:lnTo>
                <a:close/>
              </a:path>
            </a:pathLst>
          </a:custGeom>
          <a:blipFill>
            <a:blip r:embed="rId2"/>
            <a:stretch>
              <a:fillRect l="0" t="0" r="0" b="0"/>
            </a:stretch>
          </a:blipFill>
        </p:spPr>
      </p:sp>
      <p:sp>
        <p:nvSpPr>
          <p:cNvPr name="Freeform 3" id="3"/>
          <p:cNvSpPr/>
          <p:nvPr/>
        </p:nvSpPr>
        <p:spPr>
          <a:xfrm flipH="false" flipV="false" rot="0">
            <a:off x="10771931" y="1464875"/>
            <a:ext cx="5498198" cy="1239950"/>
          </a:xfrm>
          <a:custGeom>
            <a:avLst/>
            <a:gdLst/>
            <a:ahLst/>
            <a:cxnLst/>
            <a:rect r="r" b="b" t="t" l="l"/>
            <a:pathLst>
              <a:path h="1239950" w="5498198">
                <a:moveTo>
                  <a:pt x="0" y="0"/>
                </a:moveTo>
                <a:lnTo>
                  <a:pt x="5498198" y="0"/>
                </a:lnTo>
                <a:lnTo>
                  <a:pt x="5498198" y="1239950"/>
                </a:lnTo>
                <a:lnTo>
                  <a:pt x="0" y="1239950"/>
                </a:lnTo>
                <a:lnTo>
                  <a:pt x="0" y="0"/>
                </a:lnTo>
                <a:close/>
              </a:path>
            </a:pathLst>
          </a:custGeom>
          <a:blipFill>
            <a:blip r:embed="rId3"/>
            <a:stretch>
              <a:fillRect l="0" t="0" r="0" b="0"/>
            </a:stretch>
          </a:blipFill>
        </p:spPr>
      </p:sp>
      <p:sp>
        <p:nvSpPr>
          <p:cNvPr name="TextBox 4" id="4"/>
          <p:cNvSpPr txBox="true"/>
          <p:nvPr/>
        </p:nvSpPr>
        <p:spPr>
          <a:xfrm rot="0">
            <a:off x="-5187512" y="407596"/>
            <a:ext cx="16522194"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CONFIGURATION NODE-RED :</a:t>
            </a:r>
          </a:p>
        </p:txBody>
      </p:sp>
      <p:sp>
        <p:nvSpPr>
          <p:cNvPr name="TextBox 5" id="5"/>
          <p:cNvSpPr txBox="true"/>
          <p:nvPr/>
        </p:nvSpPr>
        <p:spPr>
          <a:xfrm rot="0">
            <a:off x="10525872" y="3448994"/>
            <a:ext cx="7406858" cy="1728947"/>
          </a:xfrm>
          <a:prstGeom prst="rect">
            <a:avLst/>
          </a:prstGeom>
        </p:spPr>
        <p:txBody>
          <a:bodyPr anchor="t" rtlCol="false" tIns="0" lIns="0" bIns="0" rIns="0">
            <a:spAutoFit/>
          </a:bodyPr>
          <a:lstStyle/>
          <a:p>
            <a:pPr algn="l">
              <a:lnSpc>
                <a:spcPts val="2792"/>
              </a:lnSpc>
              <a:spcBef>
                <a:spcPct val="0"/>
              </a:spcBef>
            </a:pPr>
            <a:r>
              <a:rPr lang="en-US" b="true" sz="1994">
                <a:solidFill>
                  <a:srgbClr val="FFFFFF"/>
                </a:solidFill>
                <a:latin typeface="Open Sans Semi-Bold"/>
                <a:ea typeface="Open Sans Semi-Bold"/>
                <a:cs typeface="Open Sans Semi-Bold"/>
                <a:sym typeface="Open Sans Semi-Bold"/>
              </a:rPr>
              <a:t>Cette fonction JavaScript permet de :</a:t>
            </a:r>
          </a:p>
          <a:p>
            <a:pPr algn="l" marL="430630" indent="-215315" lvl="1">
              <a:lnSpc>
                <a:spcPts val="2792"/>
              </a:lnSpc>
              <a:buFont typeface="Arial"/>
              <a:buChar char="•"/>
            </a:pPr>
            <a:r>
              <a:rPr lang="en-US" sz="1994">
                <a:solidFill>
                  <a:srgbClr val="FFFFFF"/>
                </a:solidFill>
                <a:latin typeface="Open Sans"/>
                <a:ea typeface="Open Sans"/>
                <a:cs typeface="Open Sans"/>
                <a:sym typeface="Open Sans"/>
              </a:rPr>
              <a:t>vérifier que toutes les données nécessaires sont présentes,</a:t>
            </a:r>
          </a:p>
          <a:p>
            <a:pPr algn="l" marL="430630" indent="-215315" lvl="1">
              <a:lnSpc>
                <a:spcPts val="2792"/>
              </a:lnSpc>
              <a:buFont typeface="Arial"/>
              <a:buChar char="•"/>
            </a:pPr>
            <a:r>
              <a:rPr lang="en-US" sz="1994">
                <a:solidFill>
                  <a:srgbClr val="FFFFFF"/>
                </a:solidFill>
                <a:latin typeface="Open Sans"/>
                <a:ea typeface="Open Sans"/>
                <a:cs typeface="Open Sans"/>
                <a:sym typeface="Open Sans"/>
              </a:rPr>
              <a:t>arrondir ou formatter les valeurs si besoin,</a:t>
            </a:r>
          </a:p>
          <a:p>
            <a:pPr algn="l" marL="430630" indent="-215315" lvl="1">
              <a:lnSpc>
                <a:spcPts val="2792"/>
              </a:lnSpc>
              <a:buFont typeface="Arial"/>
              <a:buChar char="•"/>
            </a:pPr>
            <a:r>
              <a:rPr lang="en-US" sz="1994">
                <a:solidFill>
                  <a:srgbClr val="FFFFFF"/>
                </a:solidFill>
                <a:latin typeface="Open Sans"/>
                <a:ea typeface="Open Sans"/>
                <a:cs typeface="Open Sans"/>
                <a:sym typeface="Open Sans"/>
              </a:rPr>
              <a:t>ajouter un timestamp serveur si nécessaire,</a:t>
            </a:r>
          </a:p>
          <a:p>
            <a:pPr algn="l" marL="430630" indent="-215315" lvl="1">
              <a:lnSpc>
                <a:spcPts val="2792"/>
              </a:lnSpc>
              <a:buFont typeface="Arial"/>
              <a:buChar char="•"/>
            </a:pPr>
            <a:r>
              <a:rPr lang="en-US" sz="1994">
                <a:solidFill>
                  <a:srgbClr val="FFFFFF"/>
                </a:solidFill>
                <a:latin typeface="Open Sans"/>
                <a:ea typeface="Open Sans"/>
                <a:cs typeface="Open Sans"/>
                <a:sym typeface="Open Sans"/>
              </a:rPr>
              <a:t>préparer un objet compatible avec Azure SQL.</a:t>
            </a:r>
          </a:p>
        </p:txBody>
      </p:sp>
      <p:sp>
        <p:nvSpPr>
          <p:cNvPr name="TextBox 6" id="6"/>
          <p:cNvSpPr txBox="true"/>
          <p:nvPr/>
        </p:nvSpPr>
        <p:spPr>
          <a:xfrm rot="0">
            <a:off x="760917" y="6185419"/>
            <a:ext cx="10011013" cy="8153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 </a:t>
            </a:r>
          </a:p>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Depuis cette fonction, les données suivent deux chemins parallèles :</a:t>
            </a:r>
          </a:p>
        </p:txBody>
      </p:sp>
      <p:sp>
        <p:nvSpPr>
          <p:cNvPr name="Freeform 7" id="7"/>
          <p:cNvSpPr/>
          <p:nvPr/>
        </p:nvSpPr>
        <p:spPr>
          <a:xfrm flipH="false" flipV="false" rot="0">
            <a:off x="3073585" y="7508533"/>
            <a:ext cx="3563684" cy="2262939"/>
          </a:xfrm>
          <a:custGeom>
            <a:avLst/>
            <a:gdLst/>
            <a:ahLst/>
            <a:cxnLst/>
            <a:rect r="r" b="b" t="t" l="l"/>
            <a:pathLst>
              <a:path h="2262939" w="3563684">
                <a:moveTo>
                  <a:pt x="0" y="0"/>
                </a:moveTo>
                <a:lnTo>
                  <a:pt x="3563684" y="0"/>
                </a:lnTo>
                <a:lnTo>
                  <a:pt x="3563684" y="2262939"/>
                </a:lnTo>
                <a:lnTo>
                  <a:pt x="0" y="2262939"/>
                </a:lnTo>
                <a:lnTo>
                  <a:pt x="0" y="0"/>
                </a:lnTo>
                <a:close/>
              </a:path>
            </a:pathLst>
          </a:custGeom>
          <a:blipFill>
            <a:blip r:embed="rId4"/>
            <a:stretch>
              <a:fillRect l="0" t="0" r="0" b="0"/>
            </a:stretch>
          </a:blipFill>
        </p:spPr>
      </p:sp>
      <p:sp>
        <p:nvSpPr>
          <p:cNvPr name="Freeform 8" id="8"/>
          <p:cNvSpPr/>
          <p:nvPr/>
        </p:nvSpPr>
        <p:spPr>
          <a:xfrm flipH="false" flipV="false" rot="0">
            <a:off x="7801864" y="7220373"/>
            <a:ext cx="5940132" cy="2839260"/>
          </a:xfrm>
          <a:custGeom>
            <a:avLst/>
            <a:gdLst/>
            <a:ahLst/>
            <a:cxnLst/>
            <a:rect r="r" b="b" t="t" l="l"/>
            <a:pathLst>
              <a:path h="2839260" w="5940132">
                <a:moveTo>
                  <a:pt x="0" y="0"/>
                </a:moveTo>
                <a:lnTo>
                  <a:pt x="5940133" y="0"/>
                </a:lnTo>
                <a:lnTo>
                  <a:pt x="5940133" y="2839260"/>
                </a:lnTo>
                <a:lnTo>
                  <a:pt x="0" y="2839260"/>
                </a:lnTo>
                <a:lnTo>
                  <a:pt x="0" y="0"/>
                </a:lnTo>
                <a:close/>
              </a:path>
            </a:pathLst>
          </a:custGeom>
          <a:blipFill>
            <a:blip r:embed="rId5"/>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99624" y="4369430"/>
            <a:ext cx="11079074" cy="774070"/>
          </a:xfrm>
          <a:prstGeom prst="rect">
            <a:avLst/>
          </a:prstGeom>
        </p:spPr>
        <p:txBody>
          <a:bodyPr anchor="t" rtlCol="false" tIns="0" lIns="0" bIns="0" rIns="0">
            <a:spAutoFit/>
          </a:bodyPr>
          <a:lstStyle/>
          <a:p>
            <a:pPr algn="r">
              <a:lnSpc>
                <a:spcPts val="5830"/>
              </a:lnSpc>
            </a:pPr>
            <a:r>
              <a:rPr lang="en-US" sz="5500">
                <a:solidFill>
                  <a:srgbClr val="78219F"/>
                </a:solidFill>
                <a:latin typeface="Passion One"/>
                <a:ea typeface="Passion One"/>
                <a:cs typeface="Passion One"/>
                <a:sym typeface="Passion One"/>
              </a:rPr>
              <a:t>STOCKAGE CLOUD - AZURE SQL DATABASE</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42664" y="1779838"/>
            <a:ext cx="4626846" cy="6108048"/>
          </a:xfrm>
          <a:custGeom>
            <a:avLst/>
            <a:gdLst/>
            <a:ahLst/>
            <a:cxnLst/>
            <a:rect r="r" b="b" t="t" l="l"/>
            <a:pathLst>
              <a:path h="6108048" w="4626846">
                <a:moveTo>
                  <a:pt x="0" y="0"/>
                </a:moveTo>
                <a:lnTo>
                  <a:pt x="4626846" y="0"/>
                </a:lnTo>
                <a:lnTo>
                  <a:pt x="4626846" y="6108048"/>
                </a:lnTo>
                <a:lnTo>
                  <a:pt x="0" y="6108048"/>
                </a:lnTo>
                <a:lnTo>
                  <a:pt x="0" y="0"/>
                </a:lnTo>
                <a:close/>
              </a:path>
            </a:pathLst>
          </a:custGeom>
          <a:blipFill>
            <a:blip r:embed="rId2"/>
            <a:stretch>
              <a:fillRect l="0" t="0" r="0" b="0"/>
            </a:stretch>
          </a:blipFill>
        </p:spPr>
      </p:sp>
      <p:sp>
        <p:nvSpPr>
          <p:cNvPr name="Freeform 3" id="3"/>
          <p:cNvSpPr/>
          <p:nvPr/>
        </p:nvSpPr>
        <p:spPr>
          <a:xfrm flipH="false" flipV="false" rot="0">
            <a:off x="6509515" y="1779838"/>
            <a:ext cx="4619211" cy="6108048"/>
          </a:xfrm>
          <a:custGeom>
            <a:avLst/>
            <a:gdLst/>
            <a:ahLst/>
            <a:cxnLst/>
            <a:rect r="r" b="b" t="t" l="l"/>
            <a:pathLst>
              <a:path h="6108048" w="4619211">
                <a:moveTo>
                  <a:pt x="0" y="0"/>
                </a:moveTo>
                <a:lnTo>
                  <a:pt x="4619211" y="0"/>
                </a:lnTo>
                <a:lnTo>
                  <a:pt x="4619211" y="6108048"/>
                </a:lnTo>
                <a:lnTo>
                  <a:pt x="0" y="6108048"/>
                </a:lnTo>
                <a:lnTo>
                  <a:pt x="0" y="0"/>
                </a:lnTo>
                <a:close/>
              </a:path>
            </a:pathLst>
          </a:custGeom>
          <a:blipFill>
            <a:blip r:embed="rId3"/>
            <a:stretch>
              <a:fillRect l="0" t="0" r="0" b="0"/>
            </a:stretch>
          </a:blipFill>
        </p:spPr>
      </p:sp>
      <p:sp>
        <p:nvSpPr>
          <p:cNvPr name="Freeform 4" id="4"/>
          <p:cNvSpPr/>
          <p:nvPr/>
        </p:nvSpPr>
        <p:spPr>
          <a:xfrm flipH="false" flipV="false" rot="0">
            <a:off x="858885" y="8100062"/>
            <a:ext cx="11301259" cy="1186632"/>
          </a:xfrm>
          <a:custGeom>
            <a:avLst/>
            <a:gdLst/>
            <a:ahLst/>
            <a:cxnLst/>
            <a:rect r="r" b="b" t="t" l="l"/>
            <a:pathLst>
              <a:path h="1186632" w="11301259">
                <a:moveTo>
                  <a:pt x="0" y="0"/>
                </a:moveTo>
                <a:lnTo>
                  <a:pt x="11301259" y="0"/>
                </a:lnTo>
                <a:lnTo>
                  <a:pt x="11301259" y="1186632"/>
                </a:lnTo>
                <a:lnTo>
                  <a:pt x="0" y="1186632"/>
                </a:lnTo>
                <a:lnTo>
                  <a:pt x="0" y="0"/>
                </a:lnTo>
                <a:close/>
              </a:path>
            </a:pathLst>
          </a:custGeom>
          <a:blipFill>
            <a:blip r:embed="rId4"/>
            <a:stretch>
              <a:fillRect l="0" t="0" r="0" b="0"/>
            </a:stretch>
          </a:blipFill>
        </p:spPr>
      </p:sp>
      <p:sp>
        <p:nvSpPr>
          <p:cNvPr name="Freeform 5" id="5"/>
          <p:cNvSpPr/>
          <p:nvPr/>
        </p:nvSpPr>
        <p:spPr>
          <a:xfrm flipH="false" flipV="false" rot="0">
            <a:off x="12320950" y="2621381"/>
            <a:ext cx="5088100" cy="5044237"/>
          </a:xfrm>
          <a:custGeom>
            <a:avLst/>
            <a:gdLst/>
            <a:ahLst/>
            <a:cxnLst/>
            <a:rect r="r" b="b" t="t" l="l"/>
            <a:pathLst>
              <a:path h="5044237" w="5088100">
                <a:moveTo>
                  <a:pt x="0" y="0"/>
                </a:moveTo>
                <a:lnTo>
                  <a:pt x="5088100" y="0"/>
                </a:lnTo>
                <a:lnTo>
                  <a:pt x="5088100" y="5044238"/>
                </a:lnTo>
                <a:lnTo>
                  <a:pt x="0" y="5044238"/>
                </a:lnTo>
                <a:lnTo>
                  <a:pt x="0" y="0"/>
                </a:lnTo>
                <a:close/>
              </a:path>
            </a:pathLst>
          </a:custGeom>
          <a:blipFill>
            <a:blip r:embed="rId5"/>
            <a:stretch>
              <a:fillRect l="0" t="0" r="0" b="0"/>
            </a:stretch>
          </a:blipFill>
        </p:spPr>
      </p:sp>
      <p:sp>
        <p:nvSpPr>
          <p:cNvPr name="TextBox 6" id="6"/>
          <p:cNvSpPr txBox="true"/>
          <p:nvPr/>
        </p:nvSpPr>
        <p:spPr>
          <a:xfrm rot="0">
            <a:off x="-5187512" y="407596"/>
            <a:ext cx="16522194"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CONFIGURATION NODE-RED :</a:t>
            </a:r>
          </a:p>
        </p:txBody>
      </p:sp>
      <p:sp>
        <p:nvSpPr>
          <p:cNvPr name="TextBox 7" id="7"/>
          <p:cNvSpPr txBox="true"/>
          <p:nvPr/>
        </p:nvSpPr>
        <p:spPr>
          <a:xfrm rot="0">
            <a:off x="1342664" y="1426775"/>
            <a:ext cx="6212086" cy="339863"/>
          </a:xfrm>
          <a:prstGeom prst="rect">
            <a:avLst/>
          </a:prstGeom>
        </p:spPr>
        <p:txBody>
          <a:bodyPr anchor="t" rtlCol="false" tIns="0" lIns="0" bIns="0" rIns="0">
            <a:spAutoFit/>
          </a:bodyPr>
          <a:lstStyle/>
          <a:p>
            <a:pPr algn="l" marL="430630" indent="-215315" lvl="1">
              <a:lnSpc>
                <a:spcPts val="2792"/>
              </a:lnSpc>
              <a:spcBef>
                <a:spcPct val="0"/>
              </a:spcBef>
              <a:buFont typeface="Arial"/>
              <a:buChar char="•"/>
            </a:pPr>
            <a:r>
              <a:rPr lang="en-US" b="true" sz="1994" strike="noStrike" u="none">
                <a:solidFill>
                  <a:srgbClr val="FFFFFF"/>
                </a:solidFill>
                <a:latin typeface="Open Sans Semi-Bold"/>
                <a:ea typeface="Open Sans Semi-Bold"/>
                <a:cs typeface="Open Sans Semi-Bold"/>
                <a:sym typeface="Open Sans Semi-Bold"/>
              </a:rPr>
              <a:t>Le nœud MSSQL utilise les paramètres suivants</a:t>
            </a:r>
          </a:p>
        </p:txBody>
      </p:sp>
      <p:sp>
        <p:nvSpPr>
          <p:cNvPr name="TextBox 8" id="8"/>
          <p:cNvSpPr txBox="true"/>
          <p:nvPr/>
        </p:nvSpPr>
        <p:spPr>
          <a:xfrm rot="0">
            <a:off x="365133" y="9458144"/>
            <a:ext cx="13280827" cy="339863"/>
          </a:xfrm>
          <a:prstGeom prst="rect">
            <a:avLst/>
          </a:prstGeom>
        </p:spPr>
        <p:txBody>
          <a:bodyPr anchor="t" rtlCol="false" tIns="0" lIns="0" bIns="0" rIns="0">
            <a:spAutoFit/>
          </a:bodyPr>
          <a:lstStyle/>
          <a:p>
            <a:pPr algn="l">
              <a:lnSpc>
                <a:spcPts val="2792"/>
              </a:lnSpc>
              <a:spcBef>
                <a:spcPct val="0"/>
              </a:spcBef>
            </a:pPr>
            <a:r>
              <a:rPr lang="en-US" b="true" sz="1994" strike="noStrike" u="none">
                <a:solidFill>
                  <a:srgbClr val="FFFFFF"/>
                </a:solidFill>
                <a:latin typeface="Open Sans Semi-Bold"/>
                <a:ea typeface="Open Sans Semi-Bold"/>
                <a:cs typeface="Open Sans Semi-Bold"/>
                <a:sym typeface="Open Sans Semi-Bold"/>
              </a:rPr>
              <a:t>Cette configuration permet d’assurer une communication fiable, sécurisée et conforme aux standards Azure.</a:t>
            </a:r>
          </a:p>
        </p:txBody>
      </p:sp>
      <p:sp>
        <p:nvSpPr>
          <p:cNvPr name="TextBox 9" id="9"/>
          <p:cNvSpPr txBox="true"/>
          <p:nvPr/>
        </p:nvSpPr>
        <p:spPr>
          <a:xfrm rot="0">
            <a:off x="13065252" y="1577657"/>
            <a:ext cx="3599497" cy="339863"/>
          </a:xfrm>
          <a:prstGeom prst="rect">
            <a:avLst/>
          </a:prstGeom>
        </p:spPr>
        <p:txBody>
          <a:bodyPr anchor="t" rtlCol="false" tIns="0" lIns="0" bIns="0" rIns="0">
            <a:spAutoFit/>
          </a:bodyPr>
          <a:lstStyle/>
          <a:p>
            <a:pPr algn="l" marL="430630" indent="-215315" lvl="1">
              <a:lnSpc>
                <a:spcPts val="2792"/>
              </a:lnSpc>
              <a:spcBef>
                <a:spcPct val="0"/>
              </a:spcBef>
              <a:buFont typeface="Arial"/>
              <a:buChar char="•"/>
            </a:pPr>
            <a:r>
              <a:rPr lang="en-US" b="true" sz="1994" strike="noStrike" u="none">
                <a:solidFill>
                  <a:srgbClr val="FFFFFF"/>
                </a:solidFill>
                <a:latin typeface="Open Sans Semi-Bold"/>
                <a:ea typeface="Open Sans Semi-Bold"/>
                <a:cs typeface="Open Sans Semi-Bold"/>
                <a:sym typeface="Open Sans Semi-Bold"/>
              </a:rPr>
              <a:t>Structure de la table SQL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187512" y="407596"/>
            <a:ext cx="16522194" cy="1057279"/>
          </a:xfrm>
          <a:prstGeom prst="rect">
            <a:avLst/>
          </a:prstGeom>
        </p:spPr>
        <p:txBody>
          <a:bodyPr anchor="t" rtlCol="false" tIns="0" lIns="0" bIns="0" rIns="0">
            <a:spAutoFit/>
          </a:bodyPr>
          <a:lstStyle/>
          <a:p>
            <a:pPr algn="r" marL="0" indent="0" lvl="0">
              <a:lnSpc>
                <a:spcPts val="7950"/>
              </a:lnSpc>
              <a:spcBef>
                <a:spcPct val="0"/>
              </a:spcBef>
            </a:pPr>
            <a:r>
              <a:rPr lang="en-US" sz="7500">
                <a:solidFill>
                  <a:srgbClr val="FFFFFF"/>
                </a:solidFill>
                <a:latin typeface="Passion One"/>
                <a:ea typeface="Passion One"/>
                <a:cs typeface="Passion One"/>
                <a:sym typeface="Passion One"/>
              </a:rPr>
              <a:t>CONFIGURATION NODE-RED :</a:t>
            </a:r>
          </a:p>
        </p:txBody>
      </p:sp>
      <p:sp>
        <p:nvSpPr>
          <p:cNvPr name="Freeform 3" id="3"/>
          <p:cNvSpPr/>
          <p:nvPr/>
        </p:nvSpPr>
        <p:spPr>
          <a:xfrm flipH="false" flipV="false" rot="0">
            <a:off x="3073585" y="2510153"/>
            <a:ext cx="9767322" cy="5625483"/>
          </a:xfrm>
          <a:custGeom>
            <a:avLst/>
            <a:gdLst/>
            <a:ahLst/>
            <a:cxnLst/>
            <a:rect r="r" b="b" t="t" l="l"/>
            <a:pathLst>
              <a:path h="5625483" w="9767322">
                <a:moveTo>
                  <a:pt x="0" y="0"/>
                </a:moveTo>
                <a:lnTo>
                  <a:pt x="9767322" y="0"/>
                </a:lnTo>
                <a:lnTo>
                  <a:pt x="9767322" y="5625483"/>
                </a:lnTo>
                <a:lnTo>
                  <a:pt x="0" y="5625483"/>
                </a:lnTo>
                <a:lnTo>
                  <a:pt x="0" y="0"/>
                </a:lnTo>
                <a:close/>
              </a:path>
            </a:pathLst>
          </a:custGeom>
          <a:blipFill>
            <a:blip r:embed="rId2"/>
            <a:stretch>
              <a:fillRect l="0" t="0" r="0" b="0"/>
            </a:stretch>
          </a:blipFill>
        </p:spPr>
      </p:sp>
      <p:sp>
        <p:nvSpPr>
          <p:cNvPr name="TextBox 4" id="4"/>
          <p:cNvSpPr txBox="true"/>
          <p:nvPr/>
        </p:nvSpPr>
        <p:spPr>
          <a:xfrm rot="0">
            <a:off x="1485663" y="1798815"/>
            <a:ext cx="12498110" cy="339863"/>
          </a:xfrm>
          <a:prstGeom prst="rect">
            <a:avLst/>
          </a:prstGeom>
        </p:spPr>
        <p:txBody>
          <a:bodyPr anchor="t" rtlCol="false" tIns="0" lIns="0" bIns="0" rIns="0">
            <a:spAutoFit/>
          </a:bodyPr>
          <a:lstStyle/>
          <a:p>
            <a:pPr algn="l" marL="430630" indent="-215315" lvl="1">
              <a:lnSpc>
                <a:spcPts val="2792"/>
              </a:lnSpc>
              <a:spcBef>
                <a:spcPct val="0"/>
              </a:spcBef>
              <a:buFont typeface="Arial"/>
              <a:buChar char="•"/>
            </a:pPr>
            <a:r>
              <a:rPr lang="en-US" b="true" sz="1994" strike="noStrike" u="none">
                <a:solidFill>
                  <a:srgbClr val="FFFFFF"/>
                </a:solidFill>
                <a:latin typeface="Open Sans Semi-Bold"/>
                <a:ea typeface="Open Sans Semi-Bold"/>
                <a:cs typeface="Open Sans Semi-Bold"/>
                <a:sym typeface="Open Sans Semi-Bold"/>
              </a:rPr>
              <a:t>Ce nœud envoie un message JSON au microcontrôleur confirmant que la donnée a bien été traitée.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99624" y="4369430"/>
            <a:ext cx="11079074" cy="774070"/>
          </a:xfrm>
          <a:prstGeom prst="rect">
            <a:avLst/>
          </a:prstGeom>
        </p:spPr>
        <p:txBody>
          <a:bodyPr anchor="t" rtlCol="false" tIns="0" lIns="0" bIns="0" rIns="0">
            <a:spAutoFit/>
          </a:bodyPr>
          <a:lstStyle/>
          <a:p>
            <a:pPr algn="r">
              <a:lnSpc>
                <a:spcPts val="5830"/>
              </a:lnSpc>
            </a:pPr>
            <a:r>
              <a:rPr lang="en-US" sz="5500">
                <a:solidFill>
                  <a:srgbClr val="78219F"/>
                </a:solidFill>
                <a:latin typeface="Passion One"/>
                <a:ea typeface="Passion One"/>
                <a:cs typeface="Passion One"/>
                <a:sym typeface="Passion One"/>
              </a:rPr>
              <a:t>NOTIFICATIONS WHATSAPP VIA NODE-RED</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028700" y="735391"/>
            <a:ext cx="12258318" cy="643768"/>
          </a:xfrm>
          <a:prstGeom prst="rect">
            <a:avLst/>
          </a:prstGeom>
        </p:spPr>
        <p:txBody>
          <a:bodyPr anchor="t" rtlCol="false" tIns="0" lIns="0" bIns="0" rIns="0">
            <a:spAutoFit/>
          </a:bodyPr>
          <a:lstStyle/>
          <a:p>
            <a:pPr algn="ctr">
              <a:lnSpc>
                <a:spcPts val="4876"/>
              </a:lnSpc>
              <a:spcBef>
                <a:spcPct val="0"/>
              </a:spcBef>
            </a:pPr>
            <a:r>
              <a:rPr lang="en-US" sz="4600">
                <a:solidFill>
                  <a:srgbClr val="FFFFFF"/>
                </a:solidFill>
                <a:latin typeface="Passion One"/>
                <a:ea typeface="Passion One"/>
                <a:cs typeface="Passion One"/>
                <a:sym typeface="Passion One"/>
              </a:rPr>
              <a:t>WHATSAPPALERTS — ENVOI DE NOTIFICATIONS WHATSAPP</a:t>
            </a:r>
          </a:p>
        </p:txBody>
      </p:sp>
      <p:sp>
        <p:nvSpPr>
          <p:cNvPr name="Freeform 3" id="3"/>
          <p:cNvSpPr/>
          <p:nvPr/>
        </p:nvSpPr>
        <p:spPr>
          <a:xfrm flipH="false" flipV="false" rot="0">
            <a:off x="1682781" y="2467280"/>
            <a:ext cx="5629971" cy="5263935"/>
          </a:xfrm>
          <a:custGeom>
            <a:avLst/>
            <a:gdLst/>
            <a:ahLst/>
            <a:cxnLst/>
            <a:rect r="r" b="b" t="t" l="l"/>
            <a:pathLst>
              <a:path h="5263935" w="5629971">
                <a:moveTo>
                  <a:pt x="0" y="0"/>
                </a:moveTo>
                <a:lnTo>
                  <a:pt x="5629971" y="0"/>
                </a:lnTo>
                <a:lnTo>
                  <a:pt x="5629971" y="5263935"/>
                </a:lnTo>
                <a:lnTo>
                  <a:pt x="0" y="5263935"/>
                </a:lnTo>
                <a:lnTo>
                  <a:pt x="0" y="0"/>
                </a:lnTo>
                <a:close/>
              </a:path>
            </a:pathLst>
          </a:custGeom>
          <a:blipFill>
            <a:blip r:embed="rId2"/>
            <a:stretch>
              <a:fillRect l="0" t="0" r="0" b="0"/>
            </a:stretch>
          </a:blipFill>
        </p:spPr>
      </p:sp>
      <p:sp>
        <p:nvSpPr>
          <p:cNvPr name="Freeform 4" id="4"/>
          <p:cNvSpPr/>
          <p:nvPr/>
        </p:nvSpPr>
        <p:spPr>
          <a:xfrm flipH="false" flipV="false" rot="0">
            <a:off x="9144000" y="1973699"/>
            <a:ext cx="6120889" cy="3526248"/>
          </a:xfrm>
          <a:custGeom>
            <a:avLst/>
            <a:gdLst/>
            <a:ahLst/>
            <a:cxnLst/>
            <a:rect r="r" b="b" t="t" l="l"/>
            <a:pathLst>
              <a:path h="3526248" w="6120889">
                <a:moveTo>
                  <a:pt x="0" y="0"/>
                </a:moveTo>
                <a:lnTo>
                  <a:pt x="6120889" y="0"/>
                </a:lnTo>
                <a:lnTo>
                  <a:pt x="6120889" y="3526248"/>
                </a:lnTo>
                <a:lnTo>
                  <a:pt x="0" y="3526248"/>
                </a:lnTo>
                <a:lnTo>
                  <a:pt x="0" y="0"/>
                </a:lnTo>
                <a:close/>
              </a:path>
            </a:pathLst>
          </a:custGeom>
          <a:blipFill>
            <a:blip r:embed="rId3"/>
            <a:stretch>
              <a:fillRect l="0" t="0" r="0" b="0"/>
            </a:stretch>
          </a:blipFill>
        </p:spPr>
      </p:sp>
      <p:sp>
        <p:nvSpPr>
          <p:cNvPr name="Freeform 5" id="5"/>
          <p:cNvSpPr/>
          <p:nvPr/>
        </p:nvSpPr>
        <p:spPr>
          <a:xfrm flipH="false" flipV="false" rot="0">
            <a:off x="7836516" y="5869386"/>
            <a:ext cx="8735856" cy="3723658"/>
          </a:xfrm>
          <a:custGeom>
            <a:avLst/>
            <a:gdLst/>
            <a:ahLst/>
            <a:cxnLst/>
            <a:rect r="r" b="b" t="t" l="l"/>
            <a:pathLst>
              <a:path h="3723658" w="8735856">
                <a:moveTo>
                  <a:pt x="0" y="0"/>
                </a:moveTo>
                <a:lnTo>
                  <a:pt x="8735856" y="0"/>
                </a:lnTo>
                <a:lnTo>
                  <a:pt x="8735856" y="3723659"/>
                </a:lnTo>
                <a:lnTo>
                  <a:pt x="0" y="3723659"/>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CEA2E1"/>
        </a:soli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99624" y="4369430"/>
            <a:ext cx="11079074" cy="774070"/>
          </a:xfrm>
          <a:prstGeom prst="rect">
            <a:avLst/>
          </a:prstGeom>
        </p:spPr>
        <p:txBody>
          <a:bodyPr anchor="t" rtlCol="false" tIns="0" lIns="0" bIns="0" rIns="0">
            <a:spAutoFit/>
          </a:bodyPr>
          <a:lstStyle/>
          <a:p>
            <a:pPr algn="r">
              <a:lnSpc>
                <a:spcPts val="5830"/>
              </a:lnSpc>
            </a:pPr>
            <a:r>
              <a:rPr lang="en-US" sz="5500">
                <a:solidFill>
                  <a:srgbClr val="78219F"/>
                </a:solidFill>
                <a:latin typeface="Passion One"/>
                <a:ea typeface="Passion One"/>
                <a:cs typeface="Passion One"/>
                <a:sym typeface="Passion One"/>
              </a:rPr>
              <a:t>CONTRÔLE À DISTANCE VIA ADAFRUIT IO</a:t>
            </a:r>
          </a:p>
        </p:txBody>
      </p:sp>
      <p:sp>
        <p:nvSpPr>
          <p:cNvPr name="Freeform 4" id="4"/>
          <p:cNvSpPr/>
          <p:nvPr/>
        </p:nvSpPr>
        <p:spPr>
          <a:xfrm flipH="true" flipV="false" rot="0">
            <a:off x="14371983" y="5841904"/>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736069" y="2023356"/>
            <a:ext cx="17551931" cy="1044713"/>
          </a:xfrm>
          <a:prstGeom prst="rect">
            <a:avLst/>
          </a:prstGeom>
        </p:spPr>
        <p:txBody>
          <a:bodyPr anchor="t" rtlCol="false" tIns="0" lIns="0" bIns="0" rIns="0">
            <a:spAutoFit/>
          </a:bodyPr>
          <a:lstStyle/>
          <a:p>
            <a:pPr algn="l">
              <a:lnSpc>
                <a:spcPts val="2792"/>
              </a:lnSpc>
              <a:spcBef>
                <a:spcPct val="0"/>
              </a:spcBef>
            </a:pPr>
            <a:r>
              <a:rPr lang="en-US" b="true" sz="1994" strike="noStrike" u="none">
                <a:solidFill>
                  <a:srgbClr val="FFFFFF"/>
                </a:solidFill>
                <a:latin typeface="Open Sans Semi-Bold"/>
                <a:ea typeface="Open Sans Semi-Bold"/>
                <a:cs typeface="Open Sans Semi-Bold"/>
                <a:sym typeface="Open Sans Semi-Bold"/>
              </a:rPr>
              <a:t>L’intégration d’Adafruit IO permet un pilotage à distance du système de chauffage/ventilation ainsi qu’une visualisation en temps réel des mesures provenant de l’ESP8266.</a:t>
            </a:r>
          </a:p>
          <a:p>
            <a:pPr algn="l">
              <a:lnSpc>
                <a:spcPts val="2792"/>
              </a:lnSpc>
              <a:spcBef>
                <a:spcPct val="0"/>
              </a:spcBef>
            </a:pPr>
            <a:r>
              <a:rPr lang="en-US" b="true" sz="1994" strike="noStrike" u="none">
                <a:solidFill>
                  <a:srgbClr val="FFFFFF"/>
                </a:solidFill>
                <a:latin typeface="Open Sans Semi-Bold"/>
                <a:ea typeface="Open Sans Semi-Bold"/>
                <a:cs typeface="Open Sans Semi-Bold"/>
                <a:sym typeface="Open Sans Semi-Bold"/>
              </a:rPr>
              <a:t> Cette plateforme cloud a été choisie pour sa simplicité, sa stabilité et la disponibilité de widgets interactifs.</a:t>
            </a:r>
          </a:p>
        </p:txBody>
      </p:sp>
      <p:sp>
        <p:nvSpPr>
          <p:cNvPr name="TextBox 3" id="3"/>
          <p:cNvSpPr txBox="true"/>
          <p:nvPr/>
        </p:nvSpPr>
        <p:spPr>
          <a:xfrm rot="0">
            <a:off x="736069" y="3268094"/>
            <a:ext cx="7512606" cy="339863"/>
          </a:xfrm>
          <a:prstGeom prst="rect">
            <a:avLst/>
          </a:prstGeom>
        </p:spPr>
        <p:txBody>
          <a:bodyPr anchor="t" rtlCol="false" tIns="0" lIns="0" bIns="0" rIns="0">
            <a:spAutoFit/>
          </a:bodyPr>
          <a:lstStyle/>
          <a:p>
            <a:pPr algn="l" marL="0" indent="0" lvl="0">
              <a:lnSpc>
                <a:spcPts val="2792"/>
              </a:lnSpc>
              <a:spcBef>
                <a:spcPct val="0"/>
              </a:spcBef>
            </a:pPr>
            <a:r>
              <a:rPr lang="en-US" b="true" sz="1994" strike="noStrike" u="none">
                <a:solidFill>
                  <a:srgbClr val="FFFFFF"/>
                </a:solidFill>
                <a:latin typeface="Open Sans Semi-Bold"/>
                <a:ea typeface="Open Sans Semi-Bold"/>
                <a:cs typeface="Open Sans Semi-Bold"/>
                <a:sym typeface="Open Sans Semi-Bold"/>
              </a:rPr>
              <a:t>Contrôle Bidirectionnel avec Adafruit IO(MQTT bidirectionnel</a:t>
            </a:r>
            <a:r>
              <a:rPr lang="en-US" b="true" sz="1994" strike="noStrike" u="none">
                <a:solidFill>
                  <a:srgbClr val="FFFFFF"/>
                </a:solidFill>
                <a:latin typeface="Open Sans Semi-Bold"/>
                <a:ea typeface="Open Sans Semi-Bold"/>
                <a:cs typeface="Open Sans Semi-Bold"/>
                <a:sym typeface="Open Sans Semi-Bold"/>
              </a:rPr>
              <a:t>)</a:t>
            </a:r>
          </a:p>
        </p:txBody>
      </p:sp>
      <p:sp>
        <p:nvSpPr>
          <p:cNvPr name="TextBox 4" id="4"/>
          <p:cNvSpPr txBox="true"/>
          <p:nvPr/>
        </p:nvSpPr>
        <p:spPr>
          <a:xfrm rot="0">
            <a:off x="556792" y="670240"/>
            <a:ext cx="6149816" cy="774070"/>
          </a:xfrm>
          <a:prstGeom prst="rect">
            <a:avLst/>
          </a:prstGeom>
        </p:spPr>
        <p:txBody>
          <a:bodyPr anchor="t" rtlCol="false" tIns="0" lIns="0" bIns="0" rIns="0">
            <a:spAutoFit/>
          </a:bodyPr>
          <a:lstStyle/>
          <a:p>
            <a:pPr algn="ctr">
              <a:lnSpc>
                <a:spcPts val="5830"/>
              </a:lnSpc>
              <a:spcBef>
                <a:spcPct val="0"/>
              </a:spcBef>
            </a:pPr>
            <a:r>
              <a:rPr lang="en-US" sz="5500">
                <a:solidFill>
                  <a:srgbClr val="FFFFFF"/>
                </a:solidFill>
                <a:latin typeface="Passion One"/>
                <a:ea typeface="Passion One"/>
                <a:cs typeface="Passion One"/>
                <a:sym typeface="Passion One"/>
              </a:rPr>
              <a:t>P</a:t>
            </a:r>
            <a:r>
              <a:rPr lang="en-US" sz="5500">
                <a:solidFill>
                  <a:srgbClr val="FFFFFF"/>
                </a:solidFill>
                <a:latin typeface="Passion One"/>
                <a:ea typeface="Passion One"/>
                <a:cs typeface="Passion One"/>
                <a:sym typeface="Passion One"/>
              </a:rPr>
              <a:t>OURQUOI ADAFRUIT IO</a:t>
            </a:r>
          </a:p>
        </p:txBody>
      </p:sp>
      <p:sp>
        <p:nvSpPr>
          <p:cNvPr name="TextBox 5" id="5"/>
          <p:cNvSpPr txBox="true"/>
          <p:nvPr/>
        </p:nvSpPr>
        <p:spPr>
          <a:xfrm rot="0">
            <a:off x="409337" y="4857703"/>
            <a:ext cx="17469327" cy="692288"/>
          </a:xfrm>
          <a:prstGeom prst="rect">
            <a:avLst/>
          </a:prstGeom>
        </p:spPr>
        <p:txBody>
          <a:bodyPr anchor="t" rtlCol="false" tIns="0" lIns="0" bIns="0" rIns="0">
            <a:spAutoFit/>
          </a:bodyPr>
          <a:lstStyle/>
          <a:p>
            <a:pPr algn="l" marL="0" indent="0" lvl="0">
              <a:lnSpc>
                <a:spcPts val="2792"/>
              </a:lnSpc>
              <a:spcBef>
                <a:spcPct val="0"/>
              </a:spcBef>
            </a:pPr>
          </a:p>
          <a:p>
            <a:pPr algn="l" marL="0" indent="0" lvl="0">
              <a:lnSpc>
                <a:spcPts val="2792"/>
              </a:lnSpc>
              <a:spcBef>
                <a:spcPct val="0"/>
              </a:spcBef>
            </a:pPr>
            <a:r>
              <a:rPr lang="en-US" b="true" sz="1994" strike="noStrike" u="none">
                <a:solidFill>
                  <a:srgbClr val="FFFFFF"/>
                </a:solidFill>
                <a:latin typeface="Open Sans Semi-Bold"/>
                <a:ea typeface="Open Sans Semi-Bold"/>
                <a:cs typeface="Open Sans Semi-Bold"/>
                <a:sym typeface="Open Sans Semi-Bold"/>
              </a:rPr>
              <a:t>Chaque paramètre essentiel du système est représenté par un feed, c’est-à-dire une variable cloud synchronisée avec l’ESP, Node-RED et Azure.</a:t>
            </a:r>
          </a:p>
        </p:txBody>
      </p:sp>
      <p:sp>
        <p:nvSpPr>
          <p:cNvPr name="TextBox 6" id="6"/>
          <p:cNvSpPr txBox="true"/>
          <p:nvPr/>
        </p:nvSpPr>
        <p:spPr>
          <a:xfrm rot="0">
            <a:off x="556792" y="4284231"/>
            <a:ext cx="5549879" cy="643768"/>
          </a:xfrm>
          <a:prstGeom prst="rect">
            <a:avLst/>
          </a:prstGeom>
        </p:spPr>
        <p:txBody>
          <a:bodyPr anchor="t" rtlCol="false" tIns="0" lIns="0" bIns="0" rIns="0">
            <a:spAutoFit/>
          </a:bodyPr>
          <a:lstStyle/>
          <a:p>
            <a:pPr algn="ctr">
              <a:lnSpc>
                <a:spcPts val="4876"/>
              </a:lnSpc>
              <a:spcBef>
                <a:spcPct val="0"/>
              </a:spcBef>
            </a:pPr>
            <a:r>
              <a:rPr lang="en-US" sz="4600">
                <a:solidFill>
                  <a:srgbClr val="FFFFFF"/>
                </a:solidFill>
                <a:latin typeface="Passion One"/>
                <a:ea typeface="Passion One"/>
                <a:cs typeface="Passion One"/>
                <a:sym typeface="Passion One"/>
              </a:rPr>
              <a:t>CRÉATION DES FEEDS</a:t>
            </a:r>
          </a:p>
        </p:txBody>
      </p:sp>
      <p:sp>
        <p:nvSpPr>
          <p:cNvPr name="Freeform 7" id="7"/>
          <p:cNvSpPr/>
          <p:nvPr/>
        </p:nvSpPr>
        <p:spPr>
          <a:xfrm flipH="false" flipV="false" rot="0">
            <a:off x="3995413" y="5788116"/>
            <a:ext cx="8506524" cy="4157564"/>
          </a:xfrm>
          <a:custGeom>
            <a:avLst/>
            <a:gdLst/>
            <a:ahLst/>
            <a:cxnLst/>
            <a:rect r="r" b="b" t="t" l="l"/>
            <a:pathLst>
              <a:path h="4157564" w="8506524">
                <a:moveTo>
                  <a:pt x="0" y="0"/>
                </a:moveTo>
                <a:lnTo>
                  <a:pt x="8506525" y="0"/>
                </a:lnTo>
                <a:lnTo>
                  <a:pt x="8506525" y="4157563"/>
                </a:lnTo>
                <a:lnTo>
                  <a:pt x="0" y="4157563"/>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791628" y="868293"/>
            <a:ext cx="6575227" cy="774070"/>
          </a:xfrm>
          <a:prstGeom prst="rect">
            <a:avLst/>
          </a:prstGeom>
        </p:spPr>
        <p:txBody>
          <a:bodyPr anchor="t" rtlCol="false" tIns="0" lIns="0" bIns="0" rIns="0">
            <a:spAutoFit/>
          </a:bodyPr>
          <a:lstStyle/>
          <a:p>
            <a:pPr algn="ctr">
              <a:lnSpc>
                <a:spcPts val="5830"/>
              </a:lnSpc>
              <a:spcBef>
                <a:spcPct val="0"/>
              </a:spcBef>
            </a:pPr>
            <a:r>
              <a:rPr lang="en-US" sz="5500">
                <a:solidFill>
                  <a:srgbClr val="FFFFFF"/>
                </a:solidFill>
                <a:latin typeface="Passion One"/>
                <a:ea typeface="Passion One"/>
                <a:cs typeface="Passion One"/>
                <a:sym typeface="Passion One"/>
              </a:rPr>
              <a:t>DASHBOARD ADAFRUIT IO</a:t>
            </a:r>
          </a:p>
        </p:txBody>
      </p:sp>
      <p:sp>
        <p:nvSpPr>
          <p:cNvPr name="Freeform 3" id="3"/>
          <p:cNvSpPr/>
          <p:nvPr/>
        </p:nvSpPr>
        <p:spPr>
          <a:xfrm flipH="false" flipV="false" rot="0">
            <a:off x="2424303" y="2686819"/>
            <a:ext cx="13233553" cy="6782196"/>
          </a:xfrm>
          <a:custGeom>
            <a:avLst/>
            <a:gdLst/>
            <a:ahLst/>
            <a:cxnLst/>
            <a:rect r="r" b="b" t="t" l="l"/>
            <a:pathLst>
              <a:path h="6782196" w="13233553">
                <a:moveTo>
                  <a:pt x="0" y="0"/>
                </a:moveTo>
                <a:lnTo>
                  <a:pt x="13233552" y="0"/>
                </a:lnTo>
                <a:lnTo>
                  <a:pt x="13233552" y="6782196"/>
                </a:lnTo>
                <a:lnTo>
                  <a:pt x="0" y="6782196"/>
                </a:lnTo>
                <a:lnTo>
                  <a:pt x="0" y="0"/>
                </a:lnTo>
                <a:close/>
              </a:path>
            </a:pathLst>
          </a:custGeom>
          <a:blipFill>
            <a:blip r:embed="rId2"/>
            <a:stretch>
              <a:fillRect l="0" t="0" r="0" b="0"/>
            </a:stretch>
          </a:blipFill>
        </p:spPr>
      </p:sp>
      <p:sp>
        <p:nvSpPr>
          <p:cNvPr name="TextBox 4" id="4"/>
          <p:cNvSpPr txBox="true"/>
          <p:nvPr/>
        </p:nvSpPr>
        <p:spPr>
          <a:xfrm rot="0">
            <a:off x="1231290" y="1975482"/>
            <a:ext cx="14426565" cy="339863"/>
          </a:xfrm>
          <a:prstGeom prst="rect">
            <a:avLst/>
          </a:prstGeom>
        </p:spPr>
        <p:txBody>
          <a:bodyPr anchor="t" rtlCol="false" tIns="0" lIns="0" bIns="0" rIns="0">
            <a:spAutoFit/>
          </a:bodyPr>
          <a:lstStyle/>
          <a:p>
            <a:pPr algn="l" marL="0" indent="0" lvl="0">
              <a:lnSpc>
                <a:spcPts val="2792"/>
              </a:lnSpc>
              <a:spcBef>
                <a:spcPct val="0"/>
              </a:spcBef>
            </a:pPr>
            <a:r>
              <a:rPr lang="en-US" b="true" sz="1994" strike="noStrike" u="none">
                <a:solidFill>
                  <a:srgbClr val="FFFFFF"/>
                </a:solidFill>
                <a:latin typeface="Open Sans Semi-Bold"/>
                <a:ea typeface="Open Sans Semi-Bold"/>
                <a:cs typeface="Open Sans Semi-Bold"/>
                <a:sym typeface="Open Sans Semi-Bold"/>
              </a:rPr>
              <a:t>Un dashboard interactif a été développé pour permettre une visualisation intuitive et un contrôle manuel du système.</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06310" y="3642127"/>
            <a:ext cx="11079074" cy="4083043"/>
          </a:xfrm>
          <a:prstGeom prst="rect">
            <a:avLst/>
          </a:prstGeom>
        </p:spPr>
        <p:txBody>
          <a:bodyPr anchor="t" rtlCol="false" tIns="0" lIns="0" bIns="0" rIns="0">
            <a:spAutoFit/>
          </a:bodyPr>
          <a:lstStyle/>
          <a:p>
            <a:pPr algn="r">
              <a:lnSpc>
                <a:spcPts val="10599"/>
              </a:lnSpc>
            </a:pPr>
            <a:r>
              <a:rPr lang="en-US" sz="9999">
                <a:solidFill>
                  <a:srgbClr val="FFFFFF"/>
                </a:solidFill>
                <a:latin typeface="Passion One"/>
                <a:ea typeface="Passion One"/>
                <a:cs typeface="Passion One"/>
                <a:sym typeface="Passion One"/>
              </a:rPr>
              <a:t> PHASE 3</a:t>
            </a:r>
            <a:r>
              <a:rPr lang="en-US" sz="9999">
                <a:solidFill>
                  <a:srgbClr val="FFFFFF"/>
                </a:solidFill>
                <a:latin typeface="Passion One"/>
                <a:ea typeface="Passion One"/>
                <a:cs typeface="Passion One"/>
                <a:sym typeface="Passion One"/>
              </a:rPr>
              <a:t> : GÉNÉRATION DES DONNÉES ET ENTRAINMENT </a:t>
            </a:r>
          </a:p>
        </p:txBody>
      </p:sp>
      <p:sp>
        <p:nvSpPr>
          <p:cNvPr name="Freeform 4" id="4"/>
          <p:cNvSpPr/>
          <p:nvPr/>
        </p:nvSpPr>
        <p:spPr>
          <a:xfrm flipH="true" flipV="false" rot="0">
            <a:off x="14529553" y="6382145"/>
            <a:ext cx="1327201" cy="393183"/>
          </a:xfrm>
          <a:custGeom>
            <a:avLst/>
            <a:gdLst/>
            <a:ahLst/>
            <a:cxnLst/>
            <a:rect r="r" b="b" t="t" l="l"/>
            <a:pathLst>
              <a:path h="393183" w="1327201">
                <a:moveTo>
                  <a:pt x="1327202" y="0"/>
                </a:moveTo>
                <a:lnTo>
                  <a:pt x="0" y="0"/>
                </a:lnTo>
                <a:lnTo>
                  <a:pt x="0" y="393183"/>
                </a:lnTo>
                <a:lnTo>
                  <a:pt x="1327202" y="393183"/>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E2A9F1"/>
        </a:solidFill>
      </p:bgPr>
    </p:bg>
    <p:spTree>
      <p:nvGrpSpPr>
        <p:cNvPr id="1" name=""/>
        <p:cNvGrpSpPr/>
        <p:nvPr/>
      </p:nvGrpSpPr>
      <p:grpSpPr>
        <a:xfrm>
          <a:off x="0" y="0"/>
          <a:ext cx="0" cy="0"/>
          <a:chOff x="0" y="0"/>
          <a:chExt cx="0" cy="0"/>
        </a:xfrm>
      </p:grpSpPr>
      <p:sp>
        <p:nvSpPr>
          <p:cNvPr name="Freeform 2" id="2"/>
          <p:cNvSpPr/>
          <p:nvPr/>
        </p:nvSpPr>
        <p:spPr>
          <a:xfrm flipH="true" flipV="false" rot="0">
            <a:off x="3345514" y="3321710"/>
            <a:ext cx="1327201" cy="393183"/>
          </a:xfrm>
          <a:custGeom>
            <a:avLst/>
            <a:gdLst/>
            <a:ahLst/>
            <a:cxnLst/>
            <a:rect r="r" b="b" t="t" l="l"/>
            <a:pathLst>
              <a:path h="393183" w="1327201">
                <a:moveTo>
                  <a:pt x="1327202" y="0"/>
                </a:moveTo>
                <a:lnTo>
                  <a:pt x="0" y="0"/>
                </a:lnTo>
                <a:lnTo>
                  <a:pt x="0" y="393184"/>
                </a:lnTo>
                <a:lnTo>
                  <a:pt x="1327202" y="393184"/>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46812" y="4439147"/>
            <a:ext cx="5977391" cy="883544"/>
          </a:xfrm>
          <a:prstGeom prst="rect">
            <a:avLst/>
          </a:prstGeom>
        </p:spPr>
        <p:txBody>
          <a:bodyPr anchor="t" rtlCol="false" tIns="0" lIns="0" bIns="0" rIns="0">
            <a:spAutoFit/>
          </a:bodyPr>
          <a:lstStyle/>
          <a:p>
            <a:pPr algn="r">
              <a:lnSpc>
                <a:spcPts val="6678"/>
              </a:lnSpc>
            </a:pPr>
            <a:r>
              <a:rPr lang="en-US" sz="6300">
                <a:solidFill>
                  <a:srgbClr val="78219F"/>
                </a:solidFill>
                <a:latin typeface="Passion One"/>
                <a:ea typeface="Passion One"/>
                <a:cs typeface="Passion One"/>
                <a:sym typeface="Passion One"/>
              </a:rPr>
              <a:t>MACHINE LEARNING</a:t>
            </a:r>
          </a:p>
        </p:txBody>
      </p:sp>
      <p:sp>
        <p:nvSpPr>
          <p:cNvPr name="Freeform 4" id="4"/>
          <p:cNvSpPr/>
          <p:nvPr/>
        </p:nvSpPr>
        <p:spPr>
          <a:xfrm flipH="true" flipV="false" rot="0">
            <a:off x="12950203" y="5758270"/>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737106" y="1114425"/>
            <a:ext cx="16522194" cy="2066929"/>
          </a:xfrm>
          <a:prstGeom prst="rect">
            <a:avLst/>
          </a:prstGeom>
        </p:spPr>
        <p:txBody>
          <a:bodyPr anchor="t" rtlCol="false" tIns="0" lIns="0" bIns="0" rIns="0">
            <a:spAutoFit/>
          </a:bodyPr>
          <a:lstStyle/>
          <a:p>
            <a:pPr algn="just" marL="0" indent="0" lvl="0">
              <a:lnSpc>
                <a:spcPts val="7950"/>
              </a:lnSpc>
              <a:spcBef>
                <a:spcPct val="0"/>
              </a:spcBef>
            </a:pPr>
            <a:r>
              <a:rPr lang="en-US" sz="7500">
                <a:solidFill>
                  <a:srgbClr val="FFFFFF"/>
                </a:solidFill>
                <a:latin typeface="Passion One"/>
                <a:ea typeface="Passion One"/>
                <a:cs typeface="Passion One"/>
                <a:sym typeface="Passion One"/>
              </a:rPr>
              <a:t>GÉNÉRAT</a:t>
            </a:r>
            <a:r>
              <a:rPr lang="en-US" sz="7500" strike="noStrike" u="none">
                <a:solidFill>
                  <a:srgbClr val="FFFFFF"/>
                </a:solidFill>
                <a:latin typeface="Passion One"/>
                <a:ea typeface="Passion One"/>
                <a:cs typeface="Passion One"/>
                <a:sym typeface="Passion One"/>
              </a:rPr>
              <a:t>ION DES DONNÉES POUR LE MODÈLE ML</a:t>
            </a:r>
          </a:p>
        </p:txBody>
      </p:sp>
      <p:sp>
        <p:nvSpPr>
          <p:cNvPr name="TextBox 3" id="3"/>
          <p:cNvSpPr txBox="true"/>
          <p:nvPr/>
        </p:nvSpPr>
        <p:spPr>
          <a:xfrm rot="0">
            <a:off x="3197367" y="3429734"/>
            <a:ext cx="12673852" cy="5020310"/>
          </a:xfrm>
          <a:prstGeom prst="rect">
            <a:avLst/>
          </a:prstGeom>
        </p:spPr>
        <p:txBody>
          <a:bodyPr anchor="t" rtlCol="false" tIns="0" lIns="0" bIns="0" rIns="0">
            <a:spAutoFit/>
          </a:bodyPr>
          <a:lstStyle/>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Obj</a:t>
            </a:r>
            <a:r>
              <a:rPr lang="en-US" b="true" sz="2600">
                <a:solidFill>
                  <a:srgbClr val="FFFFFF"/>
                </a:solidFill>
                <a:latin typeface="Open Sans Semi-Bold"/>
                <a:ea typeface="Open Sans Semi-Bold"/>
                <a:cs typeface="Open Sans Semi-Bold"/>
                <a:sym typeface="Open Sans Semi-Bold"/>
              </a:rPr>
              <a:t>ectif : prédire la température intérieure.</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Source des données : relevés réels du capteur de l’aéroport d’Al Hoceima.</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Analyse des données disponibles pour comprendre les variations de température.</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Méthode de génération d’apres  :</a:t>
            </a:r>
          </a:p>
          <a:p>
            <a:pPr algn="just" marL="1122684" indent="-374228" lvl="2">
              <a:lnSpc>
                <a:spcPts val="3640"/>
              </a:lnSpc>
              <a:buFont typeface="Arial"/>
              <a:buChar char="⚬"/>
            </a:pPr>
            <a:r>
              <a:rPr lang="en-US" b="true" sz="2600">
                <a:solidFill>
                  <a:srgbClr val="FFFFFF"/>
                </a:solidFill>
                <a:latin typeface="Open Sans Semi-Bold"/>
                <a:ea typeface="Open Sans Semi-Bold"/>
                <a:cs typeface="Open Sans Semi-Bold"/>
                <a:sym typeface="Open Sans Semi-Bold"/>
              </a:rPr>
              <a:t>Moyennes mensuelles (min &amp; max) → comportement typique par mois.</a:t>
            </a:r>
          </a:p>
          <a:p>
            <a:pPr algn="just" marL="1122684" indent="-374228" lvl="2">
              <a:lnSpc>
                <a:spcPts val="3640"/>
              </a:lnSpc>
              <a:buFont typeface="Arial"/>
              <a:buChar char="⚬"/>
            </a:pPr>
            <a:r>
              <a:rPr lang="en-US" b="true" sz="2600">
                <a:solidFill>
                  <a:srgbClr val="FFFFFF"/>
                </a:solidFill>
                <a:latin typeface="Open Sans Semi-Bold"/>
                <a:ea typeface="Open Sans Semi-Bold"/>
                <a:cs typeface="Open Sans Semi-Bold"/>
                <a:sym typeface="Open Sans Semi-Bold"/>
              </a:rPr>
              <a:t>Températures absolues du mois → plage totale possible.</a:t>
            </a:r>
          </a:p>
          <a:p>
            <a:pPr algn="just">
              <a:lnSpc>
                <a:spcPts val="3640"/>
              </a:lnSpc>
            </a:pPr>
          </a:p>
        </p:txBody>
      </p:sp>
    </p:spTree>
  </p:cSld>
  <p:clrMapOvr>
    <a:masterClrMapping/>
  </p:clrMapOvr>
</p:sld>
</file>

<file path=ppt/slides/slide37.xml><?xml version="1.0" encoding="utf-8"?>
<p:sld xmlns:p="http://schemas.openxmlformats.org/presentationml/2006/main" xmlns:a="http://schemas.openxmlformats.org/drawingml/2006/main">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625594" y="1085850"/>
            <a:ext cx="7752620" cy="702079"/>
          </a:xfrm>
          <a:prstGeom prst="rect">
            <a:avLst/>
          </a:prstGeom>
        </p:spPr>
        <p:txBody>
          <a:bodyPr anchor="t" rtlCol="false" tIns="0" lIns="0" bIns="0" rIns="0">
            <a:spAutoFit/>
          </a:bodyPr>
          <a:lstStyle/>
          <a:p>
            <a:pPr algn="just" marL="0" indent="0" lvl="0">
              <a:lnSpc>
                <a:spcPts val="5280"/>
              </a:lnSpc>
              <a:spcBef>
                <a:spcPct val="0"/>
              </a:spcBef>
            </a:pPr>
            <a:r>
              <a:rPr lang="en-US" sz="4981">
                <a:solidFill>
                  <a:srgbClr val="FFFFFF"/>
                </a:solidFill>
                <a:latin typeface="Passion One"/>
                <a:ea typeface="Passion One"/>
                <a:cs typeface="Passion One"/>
                <a:sym typeface="Passion One"/>
              </a:rPr>
              <a:t>SIMULAT</a:t>
            </a:r>
            <a:r>
              <a:rPr lang="en-US" sz="4981" strike="noStrike" u="none">
                <a:solidFill>
                  <a:srgbClr val="FFFFFF"/>
                </a:solidFill>
                <a:latin typeface="Passion One"/>
                <a:ea typeface="Passion One"/>
                <a:cs typeface="Passion One"/>
                <a:sym typeface="Passion One"/>
              </a:rPr>
              <a:t>ION DES TEMPÉRATURES</a:t>
            </a:r>
          </a:p>
        </p:txBody>
      </p:sp>
      <p:sp>
        <p:nvSpPr>
          <p:cNvPr name="TextBox 3" id="3"/>
          <p:cNvSpPr txBox="true"/>
          <p:nvPr/>
        </p:nvSpPr>
        <p:spPr>
          <a:xfrm rot="0">
            <a:off x="3113733" y="2866390"/>
            <a:ext cx="12673852" cy="6391910"/>
          </a:xfrm>
          <a:prstGeom prst="rect">
            <a:avLst/>
          </a:prstGeom>
        </p:spPr>
        <p:txBody>
          <a:bodyPr anchor="t" rtlCol="false" tIns="0" lIns="0" bIns="0" rIns="0">
            <a:spAutoFit/>
          </a:bodyPr>
          <a:lstStyle/>
          <a:p>
            <a:pPr algn="just">
              <a:lnSpc>
                <a:spcPts val="3640"/>
              </a:lnSpc>
            </a:pPr>
            <a:r>
              <a:rPr lang="en-US" sz="2600" b="true">
                <a:solidFill>
                  <a:srgbClr val="FFFFFF"/>
                </a:solidFill>
                <a:latin typeface="Open Sans Semi-Bold"/>
                <a:ea typeface="Open Sans Semi-Bold"/>
                <a:cs typeface="Open Sans Semi-Bold"/>
                <a:sym typeface="Open Sans Semi-Bold"/>
              </a:rPr>
              <a:t>Pour </a:t>
            </a:r>
            <a:r>
              <a:rPr lang="en-US" b="true" sz="2600">
                <a:solidFill>
                  <a:srgbClr val="FFFFFF"/>
                </a:solidFill>
                <a:latin typeface="Open Sans Semi-Bold"/>
                <a:ea typeface="Open Sans Semi-Bold"/>
                <a:cs typeface="Open Sans Semi-Bold"/>
                <a:sym typeface="Open Sans Semi-Bold"/>
              </a:rPr>
              <a:t>compléter les mesures réelles, nous avons généré des données horaires simulées pour chaque jour de l’année :</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La progression mensuelle est prise en compte pour refléter les saisons.</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Chaque jour a des températures minimales, maximales et moyennes calculées à partir de facteurs mensuels.</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Une courbe horaire réaliste est générée pour obtenir 24 valeurs par jour, simulant les cycles jour/nuit.</a:t>
            </a:r>
          </a:p>
          <a:p>
            <a:pPr algn="just">
              <a:lnSpc>
                <a:spcPts val="3640"/>
              </a:lnSpc>
            </a:pPr>
          </a:p>
          <a:p>
            <a:pPr algn="just" marL="561342" indent="-280671" lvl="1">
              <a:lnSpc>
                <a:spcPts val="3640"/>
              </a:lnSpc>
              <a:buFont typeface="Arial"/>
              <a:buChar char="•"/>
            </a:pPr>
            <a:r>
              <a:rPr lang="en-US" b="true" sz="2600">
                <a:solidFill>
                  <a:srgbClr val="FFFFFF"/>
                </a:solidFill>
                <a:latin typeface="Open Sans Semi-Bold"/>
                <a:ea typeface="Open Sans Semi-Bold"/>
                <a:cs typeface="Open Sans Semi-Bold"/>
                <a:sym typeface="Open Sans Semi-Bold"/>
              </a:rPr>
              <a:t> Ces données enrichissent le dataset et permettent d’entraîner des modèles plus robustes.</a:t>
            </a:r>
          </a:p>
          <a:p>
            <a:pPr algn="just">
              <a:lnSpc>
                <a:spcPts val="3640"/>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625594" y="1085850"/>
            <a:ext cx="8518406" cy="702079"/>
          </a:xfrm>
          <a:prstGeom prst="rect">
            <a:avLst/>
          </a:prstGeom>
        </p:spPr>
        <p:txBody>
          <a:bodyPr anchor="t" rtlCol="false" tIns="0" lIns="0" bIns="0" rIns="0">
            <a:spAutoFit/>
          </a:bodyPr>
          <a:lstStyle/>
          <a:p>
            <a:pPr algn="just" marL="0" indent="0" lvl="0">
              <a:lnSpc>
                <a:spcPts val="5280"/>
              </a:lnSpc>
              <a:spcBef>
                <a:spcPct val="0"/>
              </a:spcBef>
            </a:pPr>
            <a:r>
              <a:rPr lang="en-US" sz="4981">
                <a:solidFill>
                  <a:srgbClr val="FFFFFF"/>
                </a:solidFill>
                <a:latin typeface="Passion One"/>
                <a:ea typeface="Passion One"/>
                <a:cs typeface="Passion One"/>
                <a:sym typeface="Passion One"/>
              </a:rPr>
              <a:t>FLUX DE GÉNÉRAT</a:t>
            </a:r>
            <a:r>
              <a:rPr lang="en-US" sz="4981" strike="noStrike" u="none">
                <a:solidFill>
                  <a:srgbClr val="FFFFFF"/>
                </a:solidFill>
                <a:latin typeface="Passion One"/>
                <a:ea typeface="Passion One"/>
                <a:cs typeface="Passion One"/>
                <a:sym typeface="Passion One"/>
              </a:rPr>
              <a:t>ION DES DONNÉES</a:t>
            </a:r>
          </a:p>
        </p:txBody>
      </p:sp>
      <p:sp>
        <p:nvSpPr>
          <p:cNvPr name="TextBox 3" id="3"/>
          <p:cNvSpPr txBox="true"/>
          <p:nvPr/>
        </p:nvSpPr>
        <p:spPr>
          <a:xfrm rot="0">
            <a:off x="1385294" y="2543695"/>
            <a:ext cx="12673852" cy="905510"/>
          </a:xfrm>
          <a:prstGeom prst="rect">
            <a:avLst/>
          </a:prstGeom>
        </p:spPr>
        <p:txBody>
          <a:bodyPr anchor="t" rtlCol="false" tIns="0" lIns="0" bIns="0" rIns="0">
            <a:spAutoFit/>
          </a:bodyPr>
          <a:lstStyle/>
          <a:p>
            <a:pPr algn="just" marL="561342" indent="-280671" lvl="1">
              <a:lnSpc>
                <a:spcPts val="3640"/>
              </a:lnSpc>
              <a:buAutoNum type="arabicPeriod" startAt="1"/>
            </a:pPr>
            <a:r>
              <a:rPr lang="en-US" b="true" sz="2600">
                <a:solidFill>
                  <a:srgbClr val="00BF63"/>
                </a:solidFill>
                <a:latin typeface="Open Sans Semi-Bold"/>
                <a:ea typeface="Open Sans Semi-Bold"/>
                <a:cs typeface="Open Sans Semi-Bold"/>
                <a:sym typeface="Open Sans Semi-Bold"/>
              </a:rPr>
              <a:t>Calcul d’un facteur de progression pour le jour dans le mois</a:t>
            </a:r>
          </a:p>
          <a:p>
            <a:pPr algn="just">
              <a:lnSpc>
                <a:spcPts val="3640"/>
              </a:lnSpc>
            </a:pPr>
          </a:p>
        </p:txBody>
      </p:sp>
      <p:sp>
        <p:nvSpPr>
          <p:cNvPr name="TextBox 4" id="4"/>
          <p:cNvSpPr txBox="true"/>
          <p:nvPr/>
        </p:nvSpPr>
        <p:spPr>
          <a:xfrm rot="0">
            <a:off x="3331946" y="3647409"/>
            <a:ext cx="9899495" cy="1819910"/>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Open Sans Semi-Bold"/>
                <a:ea typeface="Open Sans Semi-Bold"/>
                <a:cs typeface="Open Sans Semi-Bold"/>
                <a:sym typeface="Open Sans Semi-Bold"/>
              </a:rPr>
              <a:t> Chaque jour du mois est positionné entre le début et la fin du mois pour déterminer un facteur abstrait de température, prenant en compte la saison et les variations typiques du mois.</a:t>
            </a:r>
          </a:p>
        </p:txBody>
      </p:sp>
      <p:sp>
        <p:nvSpPr>
          <p:cNvPr name="Freeform 5" id="5"/>
          <p:cNvSpPr/>
          <p:nvPr/>
        </p:nvSpPr>
        <p:spPr>
          <a:xfrm flipH="false" flipV="false" rot="0">
            <a:off x="7361718" y="5927307"/>
            <a:ext cx="8536186" cy="1717908"/>
          </a:xfrm>
          <a:custGeom>
            <a:avLst/>
            <a:gdLst/>
            <a:ahLst/>
            <a:cxnLst/>
            <a:rect r="r" b="b" t="t" l="l"/>
            <a:pathLst>
              <a:path h="1717908" w="8536186">
                <a:moveTo>
                  <a:pt x="0" y="0"/>
                </a:moveTo>
                <a:lnTo>
                  <a:pt x="8536186" y="0"/>
                </a:lnTo>
                <a:lnTo>
                  <a:pt x="8536186" y="1717907"/>
                </a:lnTo>
                <a:lnTo>
                  <a:pt x="0" y="1717907"/>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385294" y="1567963"/>
            <a:ext cx="12673852" cy="1362710"/>
          </a:xfrm>
          <a:prstGeom prst="rect">
            <a:avLst/>
          </a:prstGeom>
        </p:spPr>
        <p:txBody>
          <a:bodyPr anchor="t" rtlCol="false" tIns="0" lIns="0" bIns="0" rIns="0">
            <a:spAutoFit/>
          </a:bodyPr>
          <a:lstStyle/>
          <a:p>
            <a:pPr algn="just">
              <a:lnSpc>
                <a:spcPts val="3640"/>
              </a:lnSpc>
            </a:pPr>
            <a:r>
              <a:rPr lang="en-US" sz="2600" b="true">
                <a:solidFill>
                  <a:srgbClr val="00BF63"/>
                </a:solidFill>
                <a:latin typeface="Open Sans Semi-Bold"/>
                <a:ea typeface="Open Sans Semi-Bold"/>
                <a:cs typeface="Open Sans Semi-Bold"/>
                <a:sym typeface="Open Sans Semi-Bold"/>
              </a:rPr>
              <a:t>2.Détermination des températures journalières :de progression pour le jour dans le mois</a:t>
            </a:r>
          </a:p>
          <a:p>
            <a:pPr algn="just">
              <a:lnSpc>
                <a:spcPts val="3640"/>
              </a:lnSpc>
            </a:pPr>
          </a:p>
        </p:txBody>
      </p:sp>
      <p:sp>
        <p:nvSpPr>
          <p:cNvPr name="TextBox 3" id="3"/>
          <p:cNvSpPr txBox="true"/>
          <p:nvPr/>
        </p:nvSpPr>
        <p:spPr>
          <a:xfrm rot="0">
            <a:off x="2885897" y="3124425"/>
            <a:ext cx="12018227" cy="2277110"/>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Open Sans Semi-Bold"/>
                <a:ea typeface="Open Sans Semi-Bold"/>
                <a:cs typeface="Open Sans Semi-Bold"/>
                <a:sym typeface="Open Sans Semi-Bold"/>
              </a:rPr>
              <a:t>À</a:t>
            </a:r>
            <a:r>
              <a:rPr lang="en-US" b="true" sz="2600">
                <a:solidFill>
                  <a:srgbClr val="FFFFFF"/>
                </a:solidFill>
                <a:latin typeface="Open Sans Semi-Bold"/>
                <a:ea typeface="Open Sans Semi-Bold"/>
                <a:cs typeface="Open Sans Semi-Bold"/>
                <a:sym typeface="Open Sans Semi-Bold"/>
              </a:rPr>
              <a:t> partir du facteur, on calcule la température moyenne, puis on déduit les températures minimale et maximale de la journée, en utilisant le swing quotidien moyen pour répartir la variation. Des corrections assurent que la min ne dépasse jamais la max et que les valeurs restent dans les limites mensuelles.</a:t>
            </a:r>
          </a:p>
        </p:txBody>
      </p:sp>
      <p:sp>
        <p:nvSpPr>
          <p:cNvPr name="Freeform 4" id="4"/>
          <p:cNvSpPr/>
          <p:nvPr/>
        </p:nvSpPr>
        <p:spPr>
          <a:xfrm flipH="false" flipV="false" rot="0">
            <a:off x="1756458" y="7202693"/>
            <a:ext cx="4655565" cy="614596"/>
          </a:xfrm>
          <a:custGeom>
            <a:avLst/>
            <a:gdLst/>
            <a:ahLst/>
            <a:cxnLst/>
            <a:rect r="r" b="b" t="t" l="l"/>
            <a:pathLst>
              <a:path h="614596" w="4655565">
                <a:moveTo>
                  <a:pt x="0" y="0"/>
                </a:moveTo>
                <a:lnTo>
                  <a:pt x="4655565" y="0"/>
                </a:lnTo>
                <a:lnTo>
                  <a:pt x="4655565" y="614596"/>
                </a:lnTo>
                <a:lnTo>
                  <a:pt x="0" y="614596"/>
                </a:lnTo>
                <a:lnTo>
                  <a:pt x="0" y="0"/>
                </a:lnTo>
                <a:close/>
              </a:path>
            </a:pathLst>
          </a:custGeom>
          <a:blipFill>
            <a:blip r:embed="rId2"/>
            <a:stretch>
              <a:fillRect l="0" t="0" r="0" b="0"/>
            </a:stretch>
          </a:blipFill>
        </p:spPr>
      </p:sp>
      <p:sp>
        <p:nvSpPr>
          <p:cNvPr name="Freeform 5" id="5"/>
          <p:cNvSpPr/>
          <p:nvPr/>
        </p:nvSpPr>
        <p:spPr>
          <a:xfrm flipH="false" flipV="false" rot="0">
            <a:off x="7722220" y="6301168"/>
            <a:ext cx="7440703" cy="1925282"/>
          </a:xfrm>
          <a:custGeom>
            <a:avLst/>
            <a:gdLst/>
            <a:ahLst/>
            <a:cxnLst/>
            <a:rect r="r" b="b" t="t" l="l"/>
            <a:pathLst>
              <a:path h="1925282" w="7440703">
                <a:moveTo>
                  <a:pt x="0" y="0"/>
                </a:moveTo>
                <a:lnTo>
                  <a:pt x="7440703" y="0"/>
                </a:lnTo>
                <a:lnTo>
                  <a:pt x="7440703" y="1925282"/>
                </a:lnTo>
                <a:lnTo>
                  <a:pt x="0" y="1925282"/>
                </a:lnTo>
                <a:lnTo>
                  <a:pt x="0" y="0"/>
                </a:lnTo>
                <a:close/>
              </a:path>
            </a:pathLst>
          </a:custGeom>
          <a:blipFill>
            <a:blip r:embed="rId3"/>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385294" y="1567963"/>
            <a:ext cx="12673852" cy="448310"/>
          </a:xfrm>
          <a:prstGeom prst="rect">
            <a:avLst/>
          </a:prstGeom>
        </p:spPr>
        <p:txBody>
          <a:bodyPr anchor="t" rtlCol="false" tIns="0" lIns="0" bIns="0" rIns="0">
            <a:spAutoFit/>
          </a:bodyPr>
          <a:lstStyle/>
          <a:p>
            <a:pPr algn="just">
              <a:lnSpc>
                <a:spcPts val="3640"/>
              </a:lnSpc>
            </a:pPr>
            <a:r>
              <a:rPr lang="en-US" sz="2600" b="true">
                <a:solidFill>
                  <a:srgbClr val="00BF63"/>
                </a:solidFill>
                <a:latin typeface="Open Sans Semi-Bold"/>
                <a:ea typeface="Open Sans Semi-Bold"/>
                <a:cs typeface="Open Sans Semi-Bold"/>
                <a:sym typeface="Open Sans Semi-Bold"/>
              </a:rPr>
              <a:t>3.Génération de la courbe horaire :</a:t>
            </a:r>
          </a:p>
        </p:txBody>
      </p:sp>
      <p:sp>
        <p:nvSpPr>
          <p:cNvPr name="TextBox 3" id="3"/>
          <p:cNvSpPr txBox="true"/>
          <p:nvPr/>
        </p:nvSpPr>
        <p:spPr>
          <a:xfrm rot="0">
            <a:off x="2885897" y="3124425"/>
            <a:ext cx="12018227" cy="1362710"/>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Open Sans Semi-Bold"/>
                <a:ea typeface="Open Sans Semi-Bold"/>
                <a:cs typeface="Open Sans Semi-Bold"/>
                <a:sym typeface="Open Sans Semi-Bold"/>
              </a:rPr>
              <a:t>L</a:t>
            </a:r>
            <a:r>
              <a:rPr lang="en-US" b="true" sz="2600">
                <a:solidFill>
                  <a:srgbClr val="FFFFFF"/>
                </a:solidFill>
                <a:latin typeface="Open Sans Semi-Bold"/>
                <a:ea typeface="Open Sans Semi-Bold"/>
                <a:cs typeface="Open Sans Semi-Bold"/>
                <a:sym typeface="Open Sans Semi-Bold"/>
              </a:rPr>
              <a:t>a température est calculée heure par heure (24 valeurs) pour refléter les cycles naturels : plus froid le matin (6 h), pic maximal en début d’après-midi (13 h), diminution progressive en soirée, et refroidissement nocturne.</a:t>
            </a:r>
          </a:p>
        </p:txBody>
      </p:sp>
      <p:sp>
        <p:nvSpPr>
          <p:cNvPr name="Freeform 4" id="4"/>
          <p:cNvSpPr/>
          <p:nvPr/>
        </p:nvSpPr>
        <p:spPr>
          <a:xfrm flipH="false" flipV="false" rot="0">
            <a:off x="4704320" y="5435531"/>
            <a:ext cx="8724474" cy="1701272"/>
          </a:xfrm>
          <a:custGeom>
            <a:avLst/>
            <a:gdLst/>
            <a:ahLst/>
            <a:cxnLst/>
            <a:rect r="r" b="b" t="t" l="l"/>
            <a:pathLst>
              <a:path h="1701272" w="8724474">
                <a:moveTo>
                  <a:pt x="0" y="0"/>
                </a:moveTo>
                <a:lnTo>
                  <a:pt x="8724474" y="0"/>
                </a:lnTo>
                <a:lnTo>
                  <a:pt x="8724474" y="1701273"/>
                </a:lnTo>
                <a:lnTo>
                  <a:pt x="0" y="1701273"/>
                </a:lnTo>
                <a:lnTo>
                  <a:pt x="0" y="0"/>
                </a:lnTo>
                <a:close/>
              </a:path>
            </a:pathLst>
          </a:custGeom>
          <a:blipFill>
            <a:blip r:embed="rId2"/>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848618" y="1754923"/>
            <a:ext cx="6762089" cy="702079"/>
          </a:xfrm>
          <a:prstGeom prst="rect">
            <a:avLst/>
          </a:prstGeom>
        </p:spPr>
        <p:txBody>
          <a:bodyPr anchor="t" rtlCol="false" tIns="0" lIns="0" bIns="0" rIns="0">
            <a:spAutoFit/>
          </a:bodyPr>
          <a:lstStyle/>
          <a:p>
            <a:pPr algn="just" marL="0" indent="0" lvl="0">
              <a:lnSpc>
                <a:spcPts val="5280"/>
              </a:lnSpc>
              <a:spcBef>
                <a:spcPct val="0"/>
              </a:spcBef>
            </a:pPr>
            <a:r>
              <a:rPr lang="en-US" sz="4981">
                <a:solidFill>
                  <a:srgbClr val="FFFFFF"/>
                </a:solidFill>
                <a:latin typeface="Passion One"/>
                <a:ea typeface="Passion One"/>
                <a:cs typeface="Passion One"/>
                <a:sym typeface="Passion One"/>
              </a:rPr>
              <a:t>STOCKAGE ET EXPLOITAT</a:t>
            </a:r>
            <a:r>
              <a:rPr lang="en-US" sz="4981" strike="noStrike" u="none">
                <a:solidFill>
                  <a:srgbClr val="FFFFFF"/>
                </a:solidFill>
                <a:latin typeface="Passion One"/>
                <a:ea typeface="Passion One"/>
                <a:cs typeface="Passion One"/>
                <a:sym typeface="Passion One"/>
              </a:rPr>
              <a:t>ION</a:t>
            </a:r>
          </a:p>
        </p:txBody>
      </p:sp>
      <p:sp>
        <p:nvSpPr>
          <p:cNvPr name="TextBox 3" id="3"/>
          <p:cNvSpPr txBox="true"/>
          <p:nvPr/>
        </p:nvSpPr>
        <p:spPr>
          <a:xfrm rot="0">
            <a:off x="3164677" y="2785694"/>
            <a:ext cx="13647716" cy="3097292"/>
          </a:xfrm>
          <a:prstGeom prst="rect">
            <a:avLst/>
          </a:prstGeom>
        </p:spPr>
        <p:txBody>
          <a:bodyPr anchor="t" rtlCol="false" tIns="0" lIns="0" bIns="0" rIns="0">
            <a:spAutoFit/>
          </a:bodyPr>
          <a:lstStyle/>
          <a:p>
            <a:pPr algn="l">
              <a:lnSpc>
                <a:spcPts val="4133"/>
              </a:lnSpc>
              <a:spcBef>
                <a:spcPct val="0"/>
              </a:spcBef>
            </a:pPr>
            <a:r>
              <a:rPr lang="en-US" b="true" sz="2952">
                <a:solidFill>
                  <a:srgbClr val="FFFFFF"/>
                </a:solidFill>
                <a:latin typeface="Open Sans Semi-Bold"/>
                <a:ea typeface="Open Sans Semi-Bold"/>
                <a:cs typeface="Open Sans Semi-Bold"/>
                <a:sym typeface="Open Sans Semi-Bold"/>
              </a:rPr>
              <a:t>Les</a:t>
            </a:r>
            <a:r>
              <a:rPr lang="en-US" b="true" sz="2952">
                <a:solidFill>
                  <a:srgbClr val="FFFFFF"/>
                </a:solidFill>
                <a:latin typeface="Open Sans Semi-Bold"/>
                <a:ea typeface="Open Sans Semi-Bold"/>
                <a:cs typeface="Open Sans Semi-Bold"/>
                <a:sym typeface="Open Sans Semi-Bold"/>
              </a:rPr>
              <a:t> données générées sont stockées dans Azure SQL et Blob Storage, prêtes à être utilisées pour :</a:t>
            </a:r>
          </a:p>
          <a:p>
            <a:pPr algn="l" marL="1274903" indent="-424968" lvl="2">
              <a:lnSpc>
                <a:spcPts val="4133"/>
              </a:lnSpc>
              <a:spcBef>
                <a:spcPct val="0"/>
              </a:spcBef>
              <a:buFont typeface="Arial"/>
              <a:buChar char="⚬"/>
            </a:pPr>
            <a:r>
              <a:rPr lang="en-US" b="true" sz="2952">
                <a:solidFill>
                  <a:srgbClr val="FFFFFF"/>
                </a:solidFill>
                <a:latin typeface="Open Sans Semi-Bold"/>
                <a:ea typeface="Open Sans Semi-Bold"/>
                <a:cs typeface="Open Sans Semi-Bold"/>
                <a:sym typeface="Open Sans Semi-Bold"/>
              </a:rPr>
              <a:t>L’entraînement et la validation des modèles de Machine Learning</a:t>
            </a:r>
          </a:p>
          <a:p>
            <a:pPr algn="l" marL="1274903" indent="-424968" lvl="2">
              <a:lnSpc>
                <a:spcPts val="4133"/>
              </a:lnSpc>
              <a:spcBef>
                <a:spcPct val="0"/>
              </a:spcBef>
              <a:buFont typeface="Arial"/>
              <a:buChar char="⚬"/>
            </a:pPr>
            <a:r>
              <a:rPr lang="en-US" b="true" sz="2952">
                <a:solidFill>
                  <a:srgbClr val="FFFFFF"/>
                </a:solidFill>
                <a:latin typeface="Open Sans Semi-Bold"/>
                <a:ea typeface="Open Sans Semi-Bold"/>
                <a:cs typeface="Open Sans Semi-Bold"/>
                <a:sym typeface="Open Sans Semi-Bold"/>
              </a:rPr>
              <a:t>La visualisation et l’analyse sur le dashboard</a:t>
            </a:r>
          </a:p>
          <a:p>
            <a:pPr algn="l" marL="1274903" indent="-424968" lvl="2">
              <a:lnSpc>
                <a:spcPts val="4133"/>
              </a:lnSpc>
              <a:spcBef>
                <a:spcPct val="0"/>
              </a:spcBef>
              <a:buFont typeface="Arial"/>
              <a:buChar char="⚬"/>
            </a:pPr>
            <a:r>
              <a:rPr lang="en-US" b="true" sz="2952">
                <a:solidFill>
                  <a:srgbClr val="FFFFFF"/>
                </a:solidFill>
                <a:latin typeface="Open Sans Semi-Bold"/>
                <a:ea typeface="Open Sans Semi-Bold"/>
                <a:cs typeface="Open Sans Semi-Bold"/>
                <a:sym typeface="Open Sans Semi-Bold"/>
              </a:rPr>
              <a:t>La simulation du comportement thermique de la maison</a:t>
            </a:r>
          </a:p>
          <a:p>
            <a:pPr algn="l">
              <a:lnSpc>
                <a:spcPts val="4133"/>
              </a:lnSpc>
              <a:spcBef>
                <a:spcPct val="0"/>
              </a:spcBef>
            </a:pPr>
          </a:p>
        </p:txBody>
      </p:sp>
      <p:sp>
        <p:nvSpPr>
          <p:cNvPr name="Freeform 4" id="4"/>
          <p:cNvSpPr/>
          <p:nvPr/>
        </p:nvSpPr>
        <p:spPr>
          <a:xfrm flipH="false" flipV="false" rot="0">
            <a:off x="2141605" y="6254481"/>
            <a:ext cx="4176116" cy="3266267"/>
          </a:xfrm>
          <a:custGeom>
            <a:avLst/>
            <a:gdLst/>
            <a:ahLst/>
            <a:cxnLst/>
            <a:rect r="r" b="b" t="t" l="l"/>
            <a:pathLst>
              <a:path h="3266267" w="4176116">
                <a:moveTo>
                  <a:pt x="0" y="0"/>
                </a:moveTo>
                <a:lnTo>
                  <a:pt x="4176116" y="0"/>
                </a:lnTo>
                <a:lnTo>
                  <a:pt x="4176116" y="3266267"/>
                </a:lnTo>
                <a:lnTo>
                  <a:pt x="0" y="3266267"/>
                </a:lnTo>
                <a:lnTo>
                  <a:pt x="0" y="0"/>
                </a:lnTo>
                <a:close/>
              </a:path>
            </a:pathLst>
          </a:custGeom>
          <a:blipFill>
            <a:blip r:embed="rId2"/>
            <a:stretch>
              <a:fillRect l="-142" t="-54729" r="0" b="0"/>
            </a:stretch>
          </a:blipFill>
        </p:spPr>
      </p:sp>
      <p:sp>
        <p:nvSpPr>
          <p:cNvPr name="Freeform 5" id="5"/>
          <p:cNvSpPr/>
          <p:nvPr/>
        </p:nvSpPr>
        <p:spPr>
          <a:xfrm flipH="false" flipV="false" rot="0">
            <a:off x="10731050" y="6254481"/>
            <a:ext cx="6277347" cy="3350534"/>
          </a:xfrm>
          <a:custGeom>
            <a:avLst/>
            <a:gdLst/>
            <a:ahLst/>
            <a:cxnLst/>
            <a:rect r="r" b="b" t="t" l="l"/>
            <a:pathLst>
              <a:path h="3350534" w="6277347">
                <a:moveTo>
                  <a:pt x="0" y="0"/>
                </a:moveTo>
                <a:lnTo>
                  <a:pt x="6277348" y="0"/>
                </a:lnTo>
                <a:lnTo>
                  <a:pt x="6277348" y="3350534"/>
                </a:lnTo>
                <a:lnTo>
                  <a:pt x="0" y="3350534"/>
                </a:lnTo>
                <a:lnTo>
                  <a:pt x="0" y="0"/>
                </a:lnTo>
                <a:close/>
              </a:path>
            </a:pathLst>
          </a:custGeom>
          <a:blipFill>
            <a:blip r:embed="rId3"/>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E2A9F1"/>
        </a:solidFill>
      </p:bgPr>
    </p:bg>
    <p:spTree>
      <p:nvGrpSpPr>
        <p:cNvPr id="1" name=""/>
        <p:cNvGrpSpPr/>
        <p:nvPr/>
      </p:nvGrpSpPr>
      <p:grpSpPr>
        <a:xfrm>
          <a:off x="0" y="0"/>
          <a:ext cx="0" cy="0"/>
          <a:chOff x="0" y="0"/>
          <a:chExt cx="0" cy="0"/>
        </a:xfrm>
      </p:grpSpPr>
      <p:sp>
        <p:nvSpPr>
          <p:cNvPr name="Freeform 2" id="2"/>
          <p:cNvSpPr/>
          <p:nvPr/>
        </p:nvSpPr>
        <p:spPr>
          <a:xfrm flipH="true" flipV="false" rot="0">
            <a:off x="3345514" y="3321710"/>
            <a:ext cx="1327201" cy="393183"/>
          </a:xfrm>
          <a:custGeom>
            <a:avLst/>
            <a:gdLst/>
            <a:ahLst/>
            <a:cxnLst/>
            <a:rect r="r" b="b" t="t" l="l"/>
            <a:pathLst>
              <a:path h="393183" w="1327201">
                <a:moveTo>
                  <a:pt x="1327202" y="0"/>
                </a:moveTo>
                <a:lnTo>
                  <a:pt x="0" y="0"/>
                </a:lnTo>
                <a:lnTo>
                  <a:pt x="0" y="393184"/>
                </a:lnTo>
                <a:lnTo>
                  <a:pt x="1327202" y="393184"/>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46812" y="4439147"/>
            <a:ext cx="5977391" cy="1731269"/>
          </a:xfrm>
          <a:prstGeom prst="rect">
            <a:avLst/>
          </a:prstGeom>
        </p:spPr>
        <p:txBody>
          <a:bodyPr anchor="t" rtlCol="false" tIns="0" lIns="0" bIns="0" rIns="0">
            <a:spAutoFit/>
          </a:bodyPr>
          <a:lstStyle/>
          <a:p>
            <a:pPr algn="r">
              <a:lnSpc>
                <a:spcPts val="6678"/>
              </a:lnSpc>
            </a:pPr>
            <a:r>
              <a:rPr lang="en-US" sz="6300">
                <a:solidFill>
                  <a:srgbClr val="78219F"/>
                </a:solidFill>
                <a:latin typeface="Passion One"/>
                <a:ea typeface="Passion One"/>
                <a:cs typeface="Passion One"/>
                <a:sym typeface="Passion One"/>
              </a:rPr>
              <a:t> VISUALISATION DES DONNES</a:t>
            </a:r>
          </a:p>
        </p:txBody>
      </p:sp>
      <p:sp>
        <p:nvSpPr>
          <p:cNvPr name="Freeform 4" id="4"/>
          <p:cNvSpPr/>
          <p:nvPr/>
        </p:nvSpPr>
        <p:spPr>
          <a:xfrm flipH="true" flipV="false" rot="0">
            <a:off x="12950203" y="5758270"/>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97716" y="1280996"/>
            <a:ext cx="9139917" cy="702079"/>
          </a:xfrm>
          <a:prstGeom prst="rect">
            <a:avLst/>
          </a:prstGeom>
        </p:spPr>
        <p:txBody>
          <a:bodyPr anchor="t" rtlCol="false" tIns="0" lIns="0" bIns="0" rIns="0">
            <a:spAutoFit/>
          </a:bodyPr>
          <a:lstStyle/>
          <a:p>
            <a:pPr algn="just" marL="0" indent="0" lvl="0">
              <a:lnSpc>
                <a:spcPts val="5280"/>
              </a:lnSpc>
              <a:spcBef>
                <a:spcPct val="0"/>
              </a:spcBef>
            </a:pPr>
            <a:r>
              <a:rPr lang="en-US" sz="4981">
                <a:solidFill>
                  <a:srgbClr val="FFFFFF"/>
                </a:solidFill>
                <a:latin typeface="Passion One"/>
                <a:ea typeface="Passion One"/>
                <a:cs typeface="Passion One"/>
                <a:sym typeface="Passion One"/>
              </a:rPr>
              <a:t> </a:t>
            </a:r>
            <a:r>
              <a:rPr lang="en-US" sz="4981">
                <a:solidFill>
                  <a:srgbClr val="FFFFFF"/>
                </a:solidFill>
                <a:latin typeface="Passion One"/>
                <a:ea typeface="Passion One"/>
                <a:cs typeface="Passion One"/>
                <a:sym typeface="Passion One"/>
              </a:rPr>
              <a:t>Visualisa</a:t>
            </a:r>
            <a:r>
              <a:rPr lang="en-US" sz="4981">
                <a:solidFill>
                  <a:srgbClr val="FFFFFF"/>
                </a:solidFill>
                <a:latin typeface="Passion One"/>
                <a:ea typeface="Passion One"/>
                <a:cs typeface="Passion One"/>
                <a:sym typeface="Passion One"/>
              </a:rPr>
              <a:t>TION AVANT LE TRAIN</a:t>
            </a:r>
            <a:r>
              <a:rPr lang="en-US" sz="4981" strike="noStrike" u="none">
                <a:solidFill>
                  <a:srgbClr val="FFFFFF"/>
                </a:solidFill>
                <a:latin typeface="Passion One"/>
                <a:ea typeface="Passion One"/>
                <a:cs typeface="Passion One"/>
                <a:sym typeface="Passion One"/>
              </a:rPr>
              <a:t>ING</a:t>
            </a:r>
          </a:p>
        </p:txBody>
      </p:sp>
      <p:sp>
        <p:nvSpPr>
          <p:cNvPr name="TextBox 3" id="3"/>
          <p:cNvSpPr txBox="true"/>
          <p:nvPr/>
        </p:nvSpPr>
        <p:spPr>
          <a:xfrm rot="0">
            <a:off x="3192555" y="2367523"/>
            <a:ext cx="13647716" cy="2058913"/>
          </a:xfrm>
          <a:prstGeom prst="rect">
            <a:avLst/>
          </a:prstGeom>
        </p:spPr>
        <p:txBody>
          <a:bodyPr anchor="t" rtlCol="false" tIns="0" lIns="0" bIns="0" rIns="0">
            <a:spAutoFit/>
          </a:bodyPr>
          <a:lstStyle/>
          <a:p>
            <a:pPr algn="l">
              <a:lnSpc>
                <a:spcPts val="4133"/>
              </a:lnSpc>
              <a:spcBef>
                <a:spcPct val="0"/>
              </a:spcBef>
            </a:pPr>
            <a:r>
              <a:rPr lang="en-US" b="true" sz="2952">
                <a:solidFill>
                  <a:srgbClr val="FFFFFF"/>
                </a:solidFill>
                <a:latin typeface="Open Sans Semi-Bold"/>
                <a:ea typeface="Open Sans Semi-Bold"/>
                <a:cs typeface="Open Sans Semi-Bold"/>
                <a:sym typeface="Open Sans Semi-Bold"/>
              </a:rPr>
              <a:t>Avant l’entraînement des modèles, nous analysons et visualisons les données à l’aide de bibliothèques spécialisées telles que Matplotlib et Seaborn, ce qui nous permet de mieux comprendre les tendances et de choisir le modèle le plus adapté.</a:t>
            </a:r>
          </a:p>
        </p:txBody>
      </p:sp>
      <p:sp>
        <p:nvSpPr>
          <p:cNvPr name="Freeform 4" id="4"/>
          <p:cNvSpPr/>
          <p:nvPr/>
        </p:nvSpPr>
        <p:spPr>
          <a:xfrm flipH="false" flipV="false" rot="0">
            <a:off x="5998510" y="5143500"/>
            <a:ext cx="7478247" cy="4402818"/>
          </a:xfrm>
          <a:custGeom>
            <a:avLst/>
            <a:gdLst/>
            <a:ahLst/>
            <a:cxnLst/>
            <a:rect r="r" b="b" t="t" l="l"/>
            <a:pathLst>
              <a:path h="4402818" w="7478247">
                <a:moveTo>
                  <a:pt x="0" y="0"/>
                </a:moveTo>
                <a:lnTo>
                  <a:pt x="7478247" y="0"/>
                </a:lnTo>
                <a:lnTo>
                  <a:pt x="7478247" y="4402818"/>
                </a:lnTo>
                <a:lnTo>
                  <a:pt x="0" y="4402818"/>
                </a:lnTo>
                <a:lnTo>
                  <a:pt x="0" y="0"/>
                </a:lnTo>
                <a:close/>
              </a:path>
            </a:pathLst>
          </a:custGeom>
          <a:blipFill>
            <a:blip r:embed="rId2"/>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774241" y="1085850"/>
            <a:ext cx="9139917" cy="702079"/>
          </a:xfrm>
          <a:prstGeom prst="rect">
            <a:avLst/>
          </a:prstGeom>
        </p:spPr>
        <p:txBody>
          <a:bodyPr anchor="t" rtlCol="false" tIns="0" lIns="0" bIns="0" rIns="0">
            <a:spAutoFit/>
          </a:bodyPr>
          <a:lstStyle/>
          <a:p>
            <a:pPr algn="just" marL="0" indent="0" lvl="0">
              <a:lnSpc>
                <a:spcPts val="5280"/>
              </a:lnSpc>
              <a:spcBef>
                <a:spcPct val="0"/>
              </a:spcBef>
            </a:pPr>
            <a:r>
              <a:rPr lang="en-US" sz="4981">
                <a:solidFill>
                  <a:srgbClr val="FFFFFF"/>
                </a:solidFill>
                <a:latin typeface="Passion One"/>
                <a:ea typeface="Passion One"/>
                <a:cs typeface="Passion One"/>
                <a:sym typeface="Passion One"/>
              </a:rPr>
              <a:t>R</a:t>
            </a:r>
            <a:r>
              <a:rPr lang="en-US" sz="4981">
                <a:solidFill>
                  <a:srgbClr val="FFFFFF"/>
                </a:solidFill>
                <a:latin typeface="Passion One"/>
                <a:ea typeface="Passion One"/>
                <a:cs typeface="Passion One"/>
                <a:sym typeface="Passion One"/>
              </a:rPr>
              <a:t>and</a:t>
            </a:r>
            <a:r>
              <a:rPr lang="en-US" sz="4981">
                <a:solidFill>
                  <a:srgbClr val="FFFFFF"/>
                </a:solidFill>
                <a:latin typeface="Passion One"/>
                <a:ea typeface="Passion One"/>
                <a:cs typeface="Passion One"/>
                <a:sym typeface="Passion One"/>
              </a:rPr>
              <a:t>OM FOREST</a:t>
            </a:r>
          </a:p>
        </p:txBody>
      </p:sp>
      <p:sp>
        <p:nvSpPr>
          <p:cNvPr name="TextBox 3" id="3"/>
          <p:cNvSpPr txBox="true"/>
          <p:nvPr/>
        </p:nvSpPr>
        <p:spPr>
          <a:xfrm rot="0">
            <a:off x="1321389" y="2261608"/>
            <a:ext cx="13647716" cy="3649281"/>
          </a:xfrm>
          <a:prstGeom prst="rect">
            <a:avLst/>
          </a:prstGeom>
        </p:spPr>
        <p:txBody>
          <a:bodyPr anchor="t" rtlCol="false" tIns="0" lIns="0" bIns="0" rIns="0">
            <a:spAutoFit/>
          </a:bodyPr>
          <a:lstStyle/>
          <a:p>
            <a:pPr algn="l" marL="637452" indent="-318726" lvl="1">
              <a:lnSpc>
                <a:spcPts val="4133"/>
              </a:lnSpc>
              <a:buFont typeface="Arial"/>
              <a:buChar char="•"/>
            </a:pPr>
            <a:r>
              <a:rPr lang="en-US" b="true" sz="2952">
                <a:solidFill>
                  <a:srgbClr val="FFFFFF"/>
                </a:solidFill>
                <a:latin typeface="Open Sans Semi-Bold"/>
                <a:ea typeface="Open Sans Semi-Bold"/>
                <a:cs typeface="Open Sans Semi-Bold"/>
                <a:sym typeface="Open Sans Semi-Bold"/>
              </a:rPr>
              <a:t>Algorithme d'ensemble utilisant plusieurs arbres de décision.</a:t>
            </a:r>
          </a:p>
          <a:p>
            <a:pPr algn="l">
              <a:lnSpc>
                <a:spcPts val="4133"/>
              </a:lnSpc>
            </a:pPr>
          </a:p>
          <a:p>
            <a:pPr algn="l" marL="637452" indent="-318726" lvl="1">
              <a:lnSpc>
                <a:spcPts val="4133"/>
              </a:lnSpc>
              <a:buFont typeface="Arial"/>
              <a:buChar char="•"/>
            </a:pPr>
            <a:r>
              <a:rPr lang="en-US" b="true" sz="2952">
                <a:solidFill>
                  <a:srgbClr val="FFFFFF"/>
                </a:solidFill>
                <a:latin typeface="Open Sans Semi-Bold"/>
                <a:ea typeface="Open Sans Semi-Bold"/>
                <a:cs typeface="Open Sans Semi-Bold"/>
                <a:sym typeface="Open Sans Semi-Bold"/>
              </a:rPr>
              <a:t>Avantages : précis, robuste, gère les données bruitées, capture les relations non linéaires.</a:t>
            </a:r>
          </a:p>
          <a:p>
            <a:pPr algn="l">
              <a:lnSpc>
                <a:spcPts val="4133"/>
              </a:lnSpc>
            </a:pPr>
          </a:p>
          <a:p>
            <a:pPr algn="l" marL="637452" indent="-318726" lvl="1">
              <a:lnSpc>
                <a:spcPts val="4133"/>
              </a:lnSpc>
              <a:buFont typeface="Arial"/>
              <a:buChar char="•"/>
            </a:pPr>
            <a:r>
              <a:rPr lang="en-US" b="true" sz="2952">
                <a:solidFill>
                  <a:srgbClr val="FFFFFF"/>
                </a:solidFill>
                <a:latin typeface="Open Sans Semi-Bold"/>
                <a:ea typeface="Open Sans Semi-Bold"/>
                <a:cs typeface="Open Sans Semi-Bold"/>
                <a:sym typeface="Open Sans Semi-Bold"/>
              </a:rPr>
              <a:t>Utilisé dans notre projet pour prédire la température intérieure/extérieur.</a:t>
            </a:r>
          </a:p>
        </p:txBody>
      </p:sp>
      <p:sp>
        <p:nvSpPr>
          <p:cNvPr name="Freeform 4" id="4"/>
          <p:cNvSpPr/>
          <p:nvPr/>
        </p:nvSpPr>
        <p:spPr>
          <a:xfrm flipH="false" flipV="false" rot="0">
            <a:off x="8405386" y="5645725"/>
            <a:ext cx="8364276" cy="3878933"/>
          </a:xfrm>
          <a:custGeom>
            <a:avLst/>
            <a:gdLst/>
            <a:ahLst/>
            <a:cxnLst/>
            <a:rect r="r" b="b" t="t" l="l"/>
            <a:pathLst>
              <a:path h="3878933" w="8364276">
                <a:moveTo>
                  <a:pt x="0" y="0"/>
                </a:moveTo>
                <a:lnTo>
                  <a:pt x="8364276" y="0"/>
                </a:lnTo>
                <a:lnTo>
                  <a:pt x="8364276" y="3878933"/>
                </a:lnTo>
                <a:lnTo>
                  <a:pt x="0" y="3878933"/>
                </a:lnTo>
                <a:lnTo>
                  <a:pt x="0" y="0"/>
                </a:lnTo>
                <a:close/>
              </a:path>
            </a:pathLst>
          </a:custGeom>
          <a:blipFill>
            <a:blip r:embed="rId2"/>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597716" y="1280996"/>
            <a:ext cx="11575964" cy="1372729"/>
          </a:xfrm>
          <a:prstGeom prst="rect">
            <a:avLst/>
          </a:prstGeom>
        </p:spPr>
        <p:txBody>
          <a:bodyPr anchor="t" rtlCol="false" tIns="0" lIns="0" bIns="0" rIns="0">
            <a:spAutoFit/>
          </a:bodyPr>
          <a:lstStyle/>
          <a:p>
            <a:pPr algn="just" marL="0" indent="0" lvl="0">
              <a:lnSpc>
                <a:spcPts val="5280"/>
              </a:lnSpc>
              <a:spcBef>
                <a:spcPct val="0"/>
              </a:spcBef>
            </a:pPr>
            <a:r>
              <a:rPr lang="en-US" sz="4981">
                <a:solidFill>
                  <a:srgbClr val="FFFFFF"/>
                </a:solidFill>
                <a:latin typeface="Passion One"/>
                <a:ea typeface="Passion One"/>
                <a:cs typeface="Passion One"/>
                <a:sym typeface="Passion One"/>
              </a:rPr>
              <a:t>PRÉD</a:t>
            </a:r>
            <a:r>
              <a:rPr lang="en-US" sz="4981">
                <a:solidFill>
                  <a:srgbClr val="FFFFFF"/>
                </a:solidFill>
                <a:latin typeface="Passion One"/>
                <a:ea typeface="Passion One"/>
                <a:cs typeface="Passion One"/>
                <a:sym typeface="Passion One"/>
              </a:rPr>
              <a:t>ic</a:t>
            </a:r>
            <a:r>
              <a:rPr lang="en-US" sz="4981">
                <a:solidFill>
                  <a:srgbClr val="FFFFFF"/>
                </a:solidFill>
                <a:latin typeface="Passion One"/>
                <a:ea typeface="Passion One"/>
                <a:cs typeface="Passion One"/>
                <a:sym typeface="Passion One"/>
              </a:rPr>
              <a:t>TION DES TEMPÉRATURES ET STOCKAGE POUR L’INTERFACE UTIL</a:t>
            </a:r>
            <a:r>
              <a:rPr lang="en-US" sz="4981" strike="noStrike" u="none">
                <a:solidFill>
                  <a:srgbClr val="FFFFFF"/>
                </a:solidFill>
                <a:latin typeface="Passion One"/>
                <a:ea typeface="Passion One"/>
                <a:cs typeface="Passion One"/>
                <a:sym typeface="Passion One"/>
              </a:rPr>
              <a:t>ISATEUR:</a:t>
            </a:r>
          </a:p>
        </p:txBody>
      </p:sp>
      <p:sp>
        <p:nvSpPr>
          <p:cNvPr name="TextBox 3" id="3"/>
          <p:cNvSpPr txBox="true"/>
          <p:nvPr/>
        </p:nvSpPr>
        <p:spPr>
          <a:xfrm rot="0">
            <a:off x="2440901" y="4697995"/>
            <a:ext cx="6703099" cy="1893570"/>
          </a:xfrm>
          <a:prstGeom prst="rect">
            <a:avLst/>
          </a:prstGeom>
        </p:spPr>
        <p:txBody>
          <a:bodyPr anchor="t" rtlCol="false" tIns="0" lIns="0" bIns="0" rIns="0">
            <a:spAutoFit/>
          </a:bodyPr>
          <a:lstStyle/>
          <a:p>
            <a:pPr algn="l">
              <a:lnSpc>
                <a:spcPts val="3780"/>
              </a:lnSpc>
              <a:spcBef>
                <a:spcPct val="0"/>
              </a:spcBef>
            </a:pPr>
            <a:r>
              <a:rPr lang="en-US" b="true" sz="2700">
                <a:solidFill>
                  <a:srgbClr val="FFFFFF"/>
                </a:solidFill>
                <a:latin typeface="Open Sans Semi-Bold"/>
                <a:ea typeface="Open Sans Semi-Bold"/>
                <a:cs typeface="Open Sans Semi-Bold"/>
                <a:sym typeface="Open Sans Semi-Bold"/>
              </a:rPr>
              <a:t>Les résultats des prédictions sont ensuite stockés dans Azure SQL, ce qui permet à l’interface utilisateur d’y accéder facilement.</a:t>
            </a:r>
          </a:p>
        </p:txBody>
      </p:sp>
      <p:sp>
        <p:nvSpPr>
          <p:cNvPr name="Freeform 4" id="4"/>
          <p:cNvSpPr/>
          <p:nvPr/>
        </p:nvSpPr>
        <p:spPr>
          <a:xfrm flipH="false" flipV="false" rot="0">
            <a:off x="10921434" y="3678724"/>
            <a:ext cx="4530078" cy="5234401"/>
          </a:xfrm>
          <a:custGeom>
            <a:avLst/>
            <a:gdLst/>
            <a:ahLst/>
            <a:cxnLst/>
            <a:rect r="r" b="b" t="t" l="l"/>
            <a:pathLst>
              <a:path h="5234401" w="4530078">
                <a:moveTo>
                  <a:pt x="0" y="0"/>
                </a:moveTo>
                <a:lnTo>
                  <a:pt x="4530078" y="0"/>
                </a:lnTo>
                <a:lnTo>
                  <a:pt x="4530078" y="5234401"/>
                </a:lnTo>
                <a:lnTo>
                  <a:pt x="0" y="5234401"/>
                </a:lnTo>
                <a:lnTo>
                  <a:pt x="0" y="0"/>
                </a:lnTo>
                <a:close/>
              </a:path>
            </a:pathLst>
          </a:custGeom>
          <a:blipFill>
            <a:blip r:embed="rId2"/>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1028700" y="971550"/>
            <a:ext cx="16623810" cy="3322320"/>
          </a:xfrm>
          <a:prstGeom prst="rect">
            <a:avLst/>
          </a:prstGeom>
        </p:spPr>
        <p:txBody>
          <a:bodyPr anchor="t" rtlCol="false" tIns="0" lIns="0" bIns="0" rIns="0">
            <a:spAutoFit/>
          </a:bodyPr>
          <a:lstStyle/>
          <a:p>
            <a:pPr algn="l">
              <a:lnSpc>
                <a:spcPts val="3780"/>
              </a:lnSpc>
              <a:spcBef>
                <a:spcPct val="0"/>
              </a:spcBef>
            </a:pPr>
            <a:r>
              <a:rPr lang="en-US" b="true" sz="2700">
                <a:solidFill>
                  <a:srgbClr val="FFFFFF"/>
                </a:solidFill>
                <a:latin typeface="Open Sans Semi-Bold"/>
                <a:ea typeface="Open Sans Semi-Bold"/>
                <a:cs typeface="Open Sans Semi-Bold"/>
                <a:sym typeface="Open Sans Semi-Bold"/>
              </a:rPr>
              <a:t>Pour rendr</a:t>
            </a:r>
            <a:r>
              <a:rPr lang="en-US" b="true" sz="2700">
                <a:solidFill>
                  <a:srgbClr val="FFFFFF"/>
                </a:solidFill>
                <a:latin typeface="Open Sans Semi-Bold"/>
                <a:ea typeface="Open Sans Semi-Bold"/>
                <a:cs typeface="Open Sans Semi-Bold"/>
                <a:sym typeface="Open Sans Semi-Bold"/>
              </a:rPr>
              <a:t>e la maison plus intelligente et maintenir un confort optimal, nous avons conçu une simulation dynamique de la température intérieure. L’idée principale est de prédire la température future de chaque heure et d’ajuster automatiquement le chauffage et le ventilateur en conséquence.</a:t>
            </a:r>
          </a:p>
          <a:p>
            <a:pPr algn="l">
              <a:lnSpc>
                <a:spcPts val="3780"/>
              </a:lnSpc>
              <a:spcBef>
                <a:spcPct val="0"/>
              </a:spcBef>
            </a:pPr>
          </a:p>
          <a:p>
            <a:pPr algn="l">
              <a:lnSpc>
                <a:spcPts val="3780"/>
              </a:lnSpc>
              <a:spcBef>
                <a:spcPct val="0"/>
              </a:spcBef>
            </a:pPr>
            <a:r>
              <a:rPr lang="en-US" b="true" sz="2700">
                <a:solidFill>
                  <a:srgbClr val="FFFFFF"/>
                </a:solidFill>
                <a:latin typeface="Open Sans Semi-Bold"/>
                <a:ea typeface="Open Sans Semi-Bold"/>
                <a:cs typeface="Open Sans Semi-Bold"/>
                <a:sym typeface="Open Sans Semi-Bold"/>
              </a:rPr>
              <a:t>Le système fonctionne en deux modes : automatique et manuel.</a:t>
            </a:r>
          </a:p>
          <a:p>
            <a:pPr algn="l">
              <a:lnSpc>
                <a:spcPts val="3780"/>
              </a:lnSpc>
              <a:spcBef>
                <a:spcPct val="0"/>
              </a:spcBef>
            </a:pPr>
            <a:r>
              <a:rPr lang="en-US" b="true" sz="2700">
                <a:solidFill>
                  <a:srgbClr val="FFFFFF"/>
                </a:solidFill>
                <a:latin typeface="Open Sans Semi-Bold"/>
                <a:ea typeface="Open Sans Semi-Bold"/>
                <a:cs typeface="Open Sans Semi-Bold"/>
                <a:sym typeface="Open Sans Semi-Bold"/>
              </a:rPr>
              <a:t>terface utilisateur d’y accéder facilement.</a:t>
            </a:r>
          </a:p>
        </p:txBody>
      </p:sp>
      <p:sp>
        <p:nvSpPr>
          <p:cNvPr name="Freeform 3" id="3"/>
          <p:cNvSpPr/>
          <p:nvPr/>
        </p:nvSpPr>
        <p:spPr>
          <a:xfrm flipH="false" flipV="false" rot="0">
            <a:off x="4352973" y="4532351"/>
            <a:ext cx="9975263" cy="4426523"/>
          </a:xfrm>
          <a:custGeom>
            <a:avLst/>
            <a:gdLst/>
            <a:ahLst/>
            <a:cxnLst/>
            <a:rect r="r" b="b" t="t" l="l"/>
            <a:pathLst>
              <a:path h="4426523" w="9975263">
                <a:moveTo>
                  <a:pt x="0" y="0"/>
                </a:moveTo>
                <a:lnTo>
                  <a:pt x="9975263" y="0"/>
                </a:lnTo>
                <a:lnTo>
                  <a:pt x="9975263" y="4426523"/>
                </a:lnTo>
                <a:lnTo>
                  <a:pt x="0" y="4426523"/>
                </a:lnTo>
                <a:lnTo>
                  <a:pt x="0" y="0"/>
                </a:lnTo>
                <a:close/>
              </a:path>
            </a:pathLst>
          </a:custGeom>
          <a:blipFill>
            <a:blip r:embed="rId2"/>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E2A9F1"/>
        </a:solidFill>
      </p:bgPr>
    </p:bg>
    <p:spTree>
      <p:nvGrpSpPr>
        <p:cNvPr id="1" name=""/>
        <p:cNvGrpSpPr/>
        <p:nvPr/>
      </p:nvGrpSpPr>
      <p:grpSpPr>
        <a:xfrm>
          <a:off x="0" y="0"/>
          <a:ext cx="0" cy="0"/>
          <a:chOff x="0" y="0"/>
          <a:chExt cx="0" cy="0"/>
        </a:xfrm>
      </p:grpSpPr>
      <p:sp>
        <p:nvSpPr>
          <p:cNvPr name="Freeform 2" id="2"/>
          <p:cNvSpPr/>
          <p:nvPr/>
        </p:nvSpPr>
        <p:spPr>
          <a:xfrm flipH="true" flipV="false" rot="0">
            <a:off x="3345514" y="3321710"/>
            <a:ext cx="1327201" cy="393183"/>
          </a:xfrm>
          <a:custGeom>
            <a:avLst/>
            <a:gdLst/>
            <a:ahLst/>
            <a:cxnLst/>
            <a:rect r="r" b="b" t="t" l="l"/>
            <a:pathLst>
              <a:path h="393183" w="1327201">
                <a:moveTo>
                  <a:pt x="1327202" y="0"/>
                </a:moveTo>
                <a:lnTo>
                  <a:pt x="0" y="0"/>
                </a:lnTo>
                <a:lnTo>
                  <a:pt x="0" y="393184"/>
                </a:lnTo>
                <a:lnTo>
                  <a:pt x="1327202" y="393184"/>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46997" y="4739828"/>
            <a:ext cx="4494581" cy="883544"/>
          </a:xfrm>
          <a:prstGeom prst="rect">
            <a:avLst/>
          </a:prstGeom>
        </p:spPr>
        <p:txBody>
          <a:bodyPr anchor="t" rtlCol="false" tIns="0" lIns="0" bIns="0" rIns="0">
            <a:spAutoFit/>
          </a:bodyPr>
          <a:lstStyle/>
          <a:p>
            <a:pPr algn="r">
              <a:lnSpc>
                <a:spcPts val="6678"/>
              </a:lnSpc>
            </a:pPr>
            <a:r>
              <a:rPr lang="en-US" sz="6300">
                <a:solidFill>
                  <a:srgbClr val="78219F"/>
                </a:solidFill>
                <a:latin typeface="Passion One"/>
                <a:ea typeface="Passion One"/>
                <a:cs typeface="Passion One"/>
                <a:sym typeface="Passion One"/>
              </a:rPr>
              <a:t>DASHBOARD</a:t>
            </a:r>
          </a:p>
        </p:txBody>
      </p:sp>
      <p:sp>
        <p:nvSpPr>
          <p:cNvPr name="Freeform 4" id="4"/>
          <p:cNvSpPr/>
          <p:nvPr/>
        </p:nvSpPr>
        <p:spPr>
          <a:xfrm flipH="true" flipV="false" rot="0">
            <a:off x="12950203" y="5758270"/>
            <a:ext cx="1327201" cy="393183"/>
          </a:xfrm>
          <a:custGeom>
            <a:avLst/>
            <a:gdLst/>
            <a:ahLst/>
            <a:cxnLst/>
            <a:rect r="r" b="b" t="t" l="l"/>
            <a:pathLst>
              <a:path h="393183" w="1327201">
                <a:moveTo>
                  <a:pt x="1327201" y="0"/>
                </a:moveTo>
                <a:lnTo>
                  <a:pt x="0" y="0"/>
                </a:lnTo>
                <a:lnTo>
                  <a:pt x="0" y="393183"/>
                </a:lnTo>
                <a:lnTo>
                  <a:pt x="1327201" y="393183"/>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2659465" y="990600"/>
            <a:ext cx="13937343" cy="1653540"/>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Ce dashborad nou sermet de suivre les prédictions en temps réel, avec la température actuelle prévue, ainsi qu’une prévision horaire sur 24 heures. Il affiche à la fois les températures intérieures et extérieures prévues, le niveau de confort cible, la distribution des températures et un résumé des prévisions pour la journée.</a:t>
            </a:r>
          </a:p>
        </p:txBody>
      </p:sp>
      <p:sp>
        <p:nvSpPr>
          <p:cNvPr name="Freeform 3" id="3"/>
          <p:cNvSpPr/>
          <p:nvPr/>
        </p:nvSpPr>
        <p:spPr>
          <a:xfrm flipH="false" flipV="false" rot="0">
            <a:off x="520700" y="3582462"/>
            <a:ext cx="7888237" cy="4890707"/>
          </a:xfrm>
          <a:custGeom>
            <a:avLst/>
            <a:gdLst/>
            <a:ahLst/>
            <a:cxnLst/>
            <a:rect r="r" b="b" t="t" l="l"/>
            <a:pathLst>
              <a:path h="4890707" w="7888237">
                <a:moveTo>
                  <a:pt x="0" y="0"/>
                </a:moveTo>
                <a:lnTo>
                  <a:pt x="7888237" y="0"/>
                </a:lnTo>
                <a:lnTo>
                  <a:pt x="7888237" y="4890707"/>
                </a:lnTo>
                <a:lnTo>
                  <a:pt x="0" y="4890707"/>
                </a:lnTo>
                <a:lnTo>
                  <a:pt x="0" y="0"/>
                </a:lnTo>
                <a:close/>
              </a:path>
            </a:pathLst>
          </a:custGeom>
          <a:blipFill>
            <a:blip r:embed="rId2"/>
            <a:stretch>
              <a:fillRect l="0" t="0" r="0" b="0"/>
            </a:stretch>
          </a:blipFill>
        </p:spPr>
      </p:sp>
      <p:sp>
        <p:nvSpPr>
          <p:cNvPr name="Freeform 4" id="4"/>
          <p:cNvSpPr/>
          <p:nvPr/>
        </p:nvSpPr>
        <p:spPr>
          <a:xfrm flipH="false" flipV="false" rot="0">
            <a:off x="9628137" y="3582462"/>
            <a:ext cx="8271808" cy="4890707"/>
          </a:xfrm>
          <a:custGeom>
            <a:avLst/>
            <a:gdLst/>
            <a:ahLst/>
            <a:cxnLst/>
            <a:rect r="r" b="b" t="t" l="l"/>
            <a:pathLst>
              <a:path h="4890707" w="8271808">
                <a:moveTo>
                  <a:pt x="0" y="0"/>
                </a:moveTo>
                <a:lnTo>
                  <a:pt x="8271808" y="0"/>
                </a:lnTo>
                <a:lnTo>
                  <a:pt x="8271808" y="4890707"/>
                </a:lnTo>
                <a:lnTo>
                  <a:pt x="0" y="4890707"/>
                </a:lnTo>
                <a:lnTo>
                  <a:pt x="0" y="0"/>
                </a:lnTo>
                <a:close/>
              </a:path>
            </a:pathLst>
          </a:custGeom>
          <a:blipFill>
            <a:blip r:embed="rId3"/>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51612" y="4667453"/>
            <a:ext cx="12677287" cy="828807"/>
          </a:xfrm>
          <a:prstGeom prst="rect">
            <a:avLst/>
          </a:prstGeom>
        </p:spPr>
        <p:txBody>
          <a:bodyPr anchor="t" rtlCol="false" tIns="0" lIns="0" bIns="0" rIns="0">
            <a:spAutoFit/>
          </a:bodyPr>
          <a:lstStyle/>
          <a:p>
            <a:pPr algn="r">
              <a:lnSpc>
                <a:spcPts val="6254"/>
              </a:lnSpc>
            </a:pPr>
            <a:r>
              <a:rPr lang="en-US" sz="5900">
                <a:solidFill>
                  <a:srgbClr val="FFFFFF"/>
                </a:solidFill>
                <a:latin typeface="Passion One"/>
                <a:ea typeface="Passion One"/>
                <a:cs typeface="Passion One"/>
                <a:sym typeface="Passion One"/>
              </a:rPr>
              <a:t>CRÉATION D’UNE INTERFACE UTILISATEUR </a:t>
            </a:r>
          </a:p>
        </p:txBody>
      </p:sp>
      <p:sp>
        <p:nvSpPr>
          <p:cNvPr name="Freeform 4" id="4"/>
          <p:cNvSpPr/>
          <p:nvPr/>
        </p:nvSpPr>
        <p:spPr>
          <a:xfrm flipH="true" flipV="false" rot="0">
            <a:off x="14529553" y="6382145"/>
            <a:ext cx="1327201" cy="393183"/>
          </a:xfrm>
          <a:custGeom>
            <a:avLst/>
            <a:gdLst/>
            <a:ahLst/>
            <a:cxnLst/>
            <a:rect r="r" b="b" t="t" l="l"/>
            <a:pathLst>
              <a:path h="393183" w="1327201">
                <a:moveTo>
                  <a:pt x="1327202" y="0"/>
                </a:moveTo>
                <a:lnTo>
                  <a:pt x="0" y="0"/>
                </a:lnTo>
                <a:lnTo>
                  <a:pt x="0" y="393183"/>
                </a:lnTo>
                <a:lnTo>
                  <a:pt x="1327202" y="393183"/>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2358678" y="1545554"/>
            <a:ext cx="3125986" cy="662941"/>
          </a:xfrm>
          <a:prstGeom prst="rect">
            <a:avLst/>
          </a:prstGeom>
        </p:spPr>
        <p:txBody>
          <a:bodyPr anchor="t" rtlCol="false" tIns="0" lIns="0" bIns="0" rIns="0">
            <a:spAutoFit/>
          </a:bodyPr>
          <a:lstStyle/>
          <a:p>
            <a:pPr algn="ctr">
              <a:lnSpc>
                <a:spcPts val="5459"/>
              </a:lnSpc>
              <a:spcBef>
                <a:spcPct val="0"/>
              </a:spcBef>
            </a:pPr>
            <a:r>
              <a:rPr lang="en-US" b="true" sz="3899">
                <a:solidFill>
                  <a:srgbClr val="FFFFFF"/>
                </a:solidFill>
                <a:latin typeface="Open Sans Semi-Bold"/>
                <a:ea typeface="Open Sans Semi-Bold"/>
                <a:cs typeface="Open Sans Semi-Bold"/>
                <a:sym typeface="Open Sans Semi-Bold"/>
              </a:rPr>
              <a:t> Introduction</a:t>
            </a:r>
          </a:p>
        </p:txBody>
      </p:sp>
      <p:sp>
        <p:nvSpPr>
          <p:cNvPr name="Freeform 3" id="3"/>
          <p:cNvSpPr/>
          <p:nvPr/>
        </p:nvSpPr>
        <p:spPr>
          <a:xfrm flipH="false" flipV="false" rot="0">
            <a:off x="5657327" y="1621754"/>
            <a:ext cx="2815930" cy="564359"/>
          </a:xfrm>
          <a:custGeom>
            <a:avLst/>
            <a:gdLst/>
            <a:ahLst/>
            <a:cxnLst/>
            <a:rect r="r" b="b" t="t" l="l"/>
            <a:pathLst>
              <a:path h="564359" w="2815930">
                <a:moveTo>
                  <a:pt x="0" y="0"/>
                </a:moveTo>
                <a:lnTo>
                  <a:pt x="2815931" y="0"/>
                </a:lnTo>
                <a:lnTo>
                  <a:pt x="2815931" y="564359"/>
                </a:lnTo>
                <a:lnTo>
                  <a:pt x="0" y="564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94869" y="3333408"/>
            <a:ext cx="6778388" cy="1632230"/>
            <a:chOff x="0" y="0"/>
            <a:chExt cx="4704997" cy="1132959"/>
          </a:xfrm>
        </p:grpSpPr>
        <p:sp>
          <p:nvSpPr>
            <p:cNvPr name="Freeform 5" id="5"/>
            <p:cNvSpPr/>
            <p:nvPr/>
          </p:nvSpPr>
          <p:spPr>
            <a:xfrm flipH="false" flipV="false" rot="0">
              <a:off x="0" y="0"/>
              <a:ext cx="4704997" cy="1132959"/>
            </a:xfrm>
            <a:custGeom>
              <a:avLst/>
              <a:gdLst/>
              <a:ahLst/>
              <a:cxnLst/>
              <a:rect r="r" b="b" t="t" l="l"/>
              <a:pathLst>
                <a:path h="1132959" w="4704997">
                  <a:moveTo>
                    <a:pt x="203200" y="0"/>
                  </a:moveTo>
                  <a:lnTo>
                    <a:pt x="4704997" y="0"/>
                  </a:lnTo>
                  <a:lnTo>
                    <a:pt x="4501797" y="1132959"/>
                  </a:lnTo>
                  <a:lnTo>
                    <a:pt x="0" y="1132959"/>
                  </a:lnTo>
                  <a:lnTo>
                    <a:pt x="203200" y="0"/>
                  </a:lnTo>
                  <a:close/>
                </a:path>
              </a:pathLst>
            </a:custGeom>
            <a:solidFill>
              <a:srgbClr val="CEA2E1"/>
            </a:solidFill>
          </p:spPr>
        </p:sp>
        <p:sp>
          <p:nvSpPr>
            <p:cNvPr name="TextBox 6" id="6"/>
            <p:cNvSpPr txBox="true"/>
            <p:nvPr/>
          </p:nvSpPr>
          <p:spPr>
            <a:xfrm>
              <a:off x="101600" y="-57150"/>
              <a:ext cx="4501797" cy="1190109"/>
            </a:xfrm>
            <a:prstGeom prst="rect">
              <a:avLst/>
            </a:prstGeom>
          </p:spPr>
          <p:txBody>
            <a:bodyPr anchor="ctr" rtlCol="false" tIns="50800" lIns="50800" bIns="50800" rIns="50800"/>
            <a:lstStyle/>
            <a:p>
              <a:pPr algn="ctr">
                <a:lnSpc>
                  <a:spcPts val="3780"/>
                </a:lnSpc>
              </a:pPr>
              <a:r>
                <a:rPr lang="en-US" b="true" sz="2700">
                  <a:solidFill>
                    <a:srgbClr val="FFFFFF"/>
                  </a:solidFill>
                  <a:latin typeface="Open Sans Semi-Bold"/>
                  <a:ea typeface="Open Sans Semi-Bold"/>
                  <a:cs typeface="Open Sans Semi-Bold"/>
                  <a:sym typeface="Open Sans Semi-Bold"/>
                </a:rPr>
                <a:t> Pourquoi une application web ?</a:t>
              </a:r>
            </a:p>
          </p:txBody>
        </p:sp>
      </p:grpSp>
      <p:grpSp>
        <p:nvGrpSpPr>
          <p:cNvPr name="Group 7" id="7"/>
          <p:cNvGrpSpPr/>
          <p:nvPr/>
        </p:nvGrpSpPr>
        <p:grpSpPr>
          <a:xfrm rot="0">
            <a:off x="8473258" y="6389603"/>
            <a:ext cx="6778388" cy="1632230"/>
            <a:chOff x="0" y="0"/>
            <a:chExt cx="4704997" cy="1132959"/>
          </a:xfrm>
        </p:grpSpPr>
        <p:sp>
          <p:nvSpPr>
            <p:cNvPr name="Freeform 8" id="8"/>
            <p:cNvSpPr/>
            <p:nvPr/>
          </p:nvSpPr>
          <p:spPr>
            <a:xfrm flipH="false" flipV="false" rot="0">
              <a:off x="0" y="0"/>
              <a:ext cx="4704997" cy="1132959"/>
            </a:xfrm>
            <a:custGeom>
              <a:avLst/>
              <a:gdLst/>
              <a:ahLst/>
              <a:cxnLst/>
              <a:rect r="r" b="b" t="t" l="l"/>
              <a:pathLst>
                <a:path h="1132959" w="4704997">
                  <a:moveTo>
                    <a:pt x="203200" y="0"/>
                  </a:moveTo>
                  <a:lnTo>
                    <a:pt x="4704997" y="0"/>
                  </a:lnTo>
                  <a:lnTo>
                    <a:pt x="4501797" y="1132959"/>
                  </a:lnTo>
                  <a:lnTo>
                    <a:pt x="0" y="1132959"/>
                  </a:lnTo>
                  <a:lnTo>
                    <a:pt x="203200" y="0"/>
                  </a:lnTo>
                  <a:close/>
                </a:path>
              </a:pathLst>
            </a:custGeom>
            <a:solidFill>
              <a:srgbClr val="CEA2E1"/>
            </a:solidFill>
          </p:spPr>
        </p:sp>
        <p:sp>
          <p:nvSpPr>
            <p:cNvPr name="TextBox 9" id="9"/>
            <p:cNvSpPr txBox="true"/>
            <p:nvPr/>
          </p:nvSpPr>
          <p:spPr>
            <a:xfrm>
              <a:off x="101600" y="-38100"/>
              <a:ext cx="4501797" cy="1171059"/>
            </a:xfrm>
            <a:prstGeom prst="rect">
              <a:avLst/>
            </a:prstGeom>
          </p:spPr>
          <p:txBody>
            <a:bodyPr anchor="ctr" rtlCol="false" tIns="50800" lIns="50800" bIns="50800" rIns="50800"/>
            <a:lstStyle/>
            <a:p>
              <a:pPr algn="ctr">
                <a:lnSpc>
                  <a:spcPts val="3360"/>
                </a:lnSpc>
              </a:pPr>
              <a:r>
                <a:rPr lang="en-US" b="true" sz="2400">
                  <a:solidFill>
                    <a:srgbClr val="FFFFFF"/>
                  </a:solidFill>
                  <a:latin typeface="Open Sans Semi-Bold"/>
                  <a:ea typeface="Open Sans Semi-Bold"/>
                  <a:cs typeface="Open Sans Semi-Bold"/>
                  <a:sym typeface="Open Sans Semi-Bold"/>
                </a:rPr>
                <a:t>Rôle de l’application web dans le projet</a:t>
              </a:r>
            </a:p>
          </p:txBody>
        </p:sp>
      </p:grpSp>
      <p:sp>
        <p:nvSpPr>
          <p:cNvPr name="Freeform 10" id="10"/>
          <p:cNvSpPr/>
          <p:nvPr/>
        </p:nvSpPr>
        <p:spPr>
          <a:xfrm flipH="true" flipV="false" rot="0">
            <a:off x="14315176" y="-1791115"/>
            <a:ext cx="4273603" cy="3557774"/>
          </a:xfrm>
          <a:custGeom>
            <a:avLst/>
            <a:gdLst/>
            <a:ahLst/>
            <a:cxnLst/>
            <a:rect r="r" b="b" t="t" l="l"/>
            <a:pathLst>
              <a:path h="3557774" w="4273603">
                <a:moveTo>
                  <a:pt x="4273603" y="0"/>
                </a:moveTo>
                <a:lnTo>
                  <a:pt x="0" y="0"/>
                </a:lnTo>
                <a:lnTo>
                  <a:pt x="0" y="3557775"/>
                </a:lnTo>
                <a:lnTo>
                  <a:pt x="4273603" y="3557775"/>
                </a:lnTo>
                <a:lnTo>
                  <a:pt x="4273603"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2689932" y="-1386763"/>
            <a:ext cx="4273603" cy="3557774"/>
          </a:xfrm>
          <a:custGeom>
            <a:avLst/>
            <a:gdLst/>
            <a:ahLst/>
            <a:cxnLst/>
            <a:rect r="r" b="b" t="t" l="l"/>
            <a:pathLst>
              <a:path h="3557774" w="4273603">
                <a:moveTo>
                  <a:pt x="4273603" y="0"/>
                </a:moveTo>
                <a:lnTo>
                  <a:pt x="0" y="0"/>
                </a:lnTo>
                <a:lnTo>
                  <a:pt x="0" y="3557774"/>
                </a:lnTo>
                <a:lnTo>
                  <a:pt x="4273603" y="3557774"/>
                </a:lnTo>
                <a:lnTo>
                  <a:pt x="4273603"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5440463" y="1260725"/>
            <a:ext cx="2815930" cy="564359"/>
          </a:xfrm>
          <a:custGeom>
            <a:avLst/>
            <a:gdLst/>
            <a:ahLst/>
            <a:cxnLst/>
            <a:rect r="r" b="b" t="t" l="l"/>
            <a:pathLst>
              <a:path h="564359" w="2815930">
                <a:moveTo>
                  <a:pt x="0" y="0"/>
                </a:moveTo>
                <a:lnTo>
                  <a:pt x="2815930" y="0"/>
                </a:lnTo>
                <a:lnTo>
                  <a:pt x="2815930" y="564359"/>
                </a:lnTo>
                <a:lnTo>
                  <a:pt x="0" y="564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95227" y="2582099"/>
            <a:ext cx="3652284" cy="1494438"/>
          </a:xfrm>
          <a:custGeom>
            <a:avLst/>
            <a:gdLst/>
            <a:ahLst/>
            <a:cxnLst/>
            <a:rect r="r" b="b" t="t" l="l"/>
            <a:pathLst>
              <a:path h="1494438" w="3652284">
                <a:moveTo>
                  <a:pt x="0" y="0"/>
                </a:moveTo>
                <a:lnTo>
                  <a:pt x="3652284" y="0"/>
                </a:lnTo>
                <a:lnTo>
                  <a:pt x="3652284" y="1494438"/>
                </a:lnTo>
                <a:lnTo>
                  <a:pt x="0" y="1494438"/>
                </a:lnTo>
                <a:lnTo>
                  <a:pt x="0" y="0"/>
                </a:lnTo>
                <a:close/>
              </a:path>
            </a:pathLst>
          </a:custGeom>
          <a:blipFill>
            <a:blip r:embed="rId4"/>
            <a:stretch>
              <a:fillRect l="-8558" t="-36194" r="-12440" b="-23257"/>
            </a:stretch>
          </a:blipFill>
        </p:spPr>
      </p:sp>
      <p:sp>
        <p:nvSpPr>
          <p:cNvPr name="Freeform 4" id="4"/>
          <p:cNvSpPr/>
          <p:nvPr/>
        </p:nvSpPr>
        <p:spPr>
          <a:xfrm flipH="false" flipV="false" rot="0">
            <a:off x="5098805" y="4294196"/>
            <a:ext cx="2398707" cy="1343276"/>
          </a:xfrm>
          <a:custGeom>
            <a:avLst/>
            <a:gdLst/>
            <a:ahLst/>
            <a:cxnLst/>
            <a:rect r="r" b="b" t="t" l="l"/>
            <a:pathLst>
              <a:path h="1343276" w="2398707">
                <a:moveTo>
                  <a:pt x="0" y="0"/>
                </a:moveTo>
                <a:lnTo>
                  <a:pt x="2398706" y="0"/>
                </a:lnTo>
                <a:lnTo>
                  <a:pt x="2398706" y="1343275"/>
                </a:lnTo>
                <a:lnTo>
                  <a:pt x="0" y="1343275"/>
                </a:lnTo>
                <a:lnTo>
                  <a:pt x="0" y="0"/>
                </a:lnTo>
                <a:close/>
              </a:path>
            </a:pathLst>
          </a:custGeom>
          <a:blipFill>
            <a:blip r:embed="rId5"/>
            <a:stretch>
              <a:fillRect l="0" t="0" r="0" b="0"/>
            </a:stretch>
          </a:blipFill>
        </p:spPr>
      </p:sp>
      <p:sp>
        <p:nvSpPr>
          <p:cNvPr name="Freeform 5" id="5"/>
          <p:cNvSpPr/>
          <p:nvPr/>
        </p:nvSpPr>
        <p:spPr>
          <a:xfrm flipH="false" flipV="false" rot="0">
            <a:off x="5981368" y="7469567"/>
            <a:ext cx="2736921" cy="1247577"/>
          </a:xfrm>
          <a:custGeom>
            <a:avLst/>
            <a:gdLst/>
            <a:ahLst/>
            <a:cxnLst/>
            <a:rect r="r" b="b" t="t" l="l"/>
            <a:pathLst>
              <a:path h="1247577" w="2736921">
                <a:moveTo>
                  <a:pt x="0" y="0"/>
                </a:moveTo>
                <a:lnTo>
                  <a:pt x="2736921" y="0"/>
                </a:lnTo>
                <a:lnTo>
                  <a:pt x="2736921" y="1247577"/>
                </a:lnTo>
                <a:lnTo>
                  <a:pt x="0" y="1247577"/>
                </a:lnTo>
                <a:lnTo>
                  <a:pt x="0" y="0"/>
                </a:lnTo>
                <a:close/>
              </a:path>
            </a:pathLst>
          </a:custGeom>
          <a:blipFill>
            <a:blip r:embed="rId6"/>
            <a:stretch>
              <a:fillRect l="-38736" t="-65512" r="-31621" b="-43775"/>
            </a:stretch>
          </a:blipFill>
        </p:spPr>
      </p:sp>
      <p:sp>
        <p:nvSpPr>
          <p:cNvPr name="Freeform 6" id="6"/>
          <p:cNvSpPr/>
          <p:nvPr/>
        </p:nvSpPr>
        <p:spPr>
          <a:xfrm flipH="false" flipV="false" rot="0">
            <a:off x="3355832" y="5856546"/>
            <a:ext cx="3485945" cy="1283592"/>
          </a:xfrm>
          <a:custGeom>
            <a:avLst/>
            <a:gdLst/>
            <a:ahLst/>
            <a:cxnLst/>
            <a:rect r="r" b="b" t="t" l="l"/>
            <a:pathLst>
              <a:path h="1283592" w="3485945">
                <a:moveTo>
                  <a:pt x="0" y="0"/>
                </a:moveTo>
                <a:lnTo>
                  <a:pt x="3485945" y="0"/>
                </a:lnTo>
                <a:lnTo>
                  <a:pt x="3485945" y="1283593"/>
                </a:lnTo>
                <a:lnTo>
                  <a:pt x="0" y="1283593"/>
                </a:lnTo>
                <a:lnTo>
                  <a:pt x="0" y="0"/>
                </a:lnTo>
                <a:close/>
              </a:path>
            </a:pathLst>
          </a:custGeom>
          <a:blipFill>
            <a:blip r:embed="rId7"/>
            <a:stretch>
              <a:fillRect l="0" t="-29280" r="0" b="-22802"/>
            </a:stretch>
          </a:blipFill>
        </p:spPr>
      </p:sp>
      <p:sp>
        <p:nvSpPr>
          <p:cNvPr name="Freeform 7" id="7"/>
          <p:cNvSpPr/>
          <p:nvPr/>
        </p:nvSpPr>
        <p:spPr>
          <a:xfrm flipH="false" flipV="false" rot="0">
            <a:off x="11011390" y="2171011"/>
            <a:ext cx="1912521" cy="2035343"/>
          </a:xfrm>
          <a:custGeom>
            <a:avLst/>
            <a:gdLst/>
            <a:ahLst/>
            <a:cxnLst/>
            <a:rect r="r" b="b" t="t" l="l"/>
            <a:pathLst>
              <a:path h="2035343" w="1912521">
                <a:moveTo>
                  <a:pt x="0" y="0"/>
                </a:moveTo>
                <a:lnTo>
                  <a:pt x="1912521" y="0"/>
                </a:lnTo>
                <a:lnTo>
                  <a:pt x="1912521" y="2035343"/>
                </a:lnTo>
                <a:lnTo>
                  <a:pt x="0" y="2035343"/>
                </a:lnTo>
                <a:lnTo>
                  <a:pt x="0" y="0"/>
                </a:lnTo>
                <a:close/>
              </a:path>
            </a:pathLst>
          </a:custGeom>
          <a:blipFill>
            <a:blip r:embed="rId8"/>
            <a:stretch>
              <a:fillRect l="0" t="0" r="0" b="0"/>
            </a:stretch>
          </a:blipFill>
        </p:spPr>
      </p:sp>
      <p:sp>
        <p:nvSpPr>
          <p:cNvPr name="Freeform 8" id="8"/>
          <p:cNvSpPr/>
          <p:nvPr/>
        </p:nvSpPr>
        <p:spPr>
          <a:xfrm flipH="true" flipV="false" rot="0">
            <a:off x="14315176" y="-1791115"/>
            <a:ext cx="4273603" cy="3557774"/>
          </a:xfrm>
          <a:custGeom>
            <a:avLst/>
            <a:gdLst/>
            <a:ahLst/>
            <a:cxnLst/>
            <a:rect r="r" b="b" t="t" l="l"/>
            <a:pathLst>
              <a:path h="3557774" w="4273603">
                <a:moveTo>
                  <a:pt x="4273603" y="0"/>
                </a:moveTo>
                <a:lnTo>
                  <a:pt x="0" y="0"/>
                </a:lnTo>
                <a:lnTo>
                  <a:pt x="0" y="3557775"/>
                </a:lnTo>
                <a:lnTo>
                  <a:pt x="4273603" y="3557775"/>
                </a:lnTo>
                <a:lnTo>
                  <a:pt x="4273603" y="0"/>
                </a:lnTo>
                <a:close/>
              </a:path>
            </a:pathLst>
          </a:custGeom>
          <a:blipFill>
            <a:blip r:embed="rId9">
              <a:alphaModFix amt="70000"/>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true" flipV="false" rot="0">
            <a:off x="-2689932" y="-1386763"/>
            <a:ext cx="4273603" cy="3557774"/>
          </a:xfrm>
          <a:custGeom>
            <a:avLst/>
            <a:gdLst/>
            <a:ahLst/>
            <a:cxnLst/>
            <a:rect r="r" b="b" t="t" l="l"/>
            <a:pathLst>
              <a:path h="3557774" w="4273603">
                <a:moveTo>
                  <a:pt x="4273603" y="0"/>
                </a:moveTo>
                <a:lnTo>
                  <a:pt x="0" y="0"/>
                </a:lnTo>
                <a:lnTo>
                  <a:pt x="0" y="3557774"/>
                </a:lnTo>
                <a:lnTo>
                  <a:pt x="4273603" y="3557774"/>
                </a:lnTo>
                <a:lnTo>
                  <a:pt x="4273603" y="0"/>
                </a:lnTo>
                <a:close/>
              </a:path>
            </a:pathLst>
          </a:custGeom>
          <a:blipFill>
            <a:blip r:embed="rId9">
              <a:alphaModFix amt="70000"/>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4276709" y="6064288"/>
            <a:ext cx="1616756" cy="1616756"/>
          </a:xfrm>
          <a:custGeom>
            <a:avLst/>
            <a:gdLst/>
            <a:ahLst/>
            <a:cxnLst/>
            <a:rect r="r" b="b" t="t" l="l"/>
            <a:pathLst>
              <a:path h="1616756" w="1616756">
                <a:moveTo>
                  <a:pt x="0" y="0"/>
                </a:moveTo>
                <a:lnTo>
                  <a:pt x="1616756" y="0"/>
                </a:lnTo>
                <a:lnTo>
                  <a:pt x="1616756" y="1616756"/>
                </a:lnTo>
                <a:lnTo>
                  <a:pt x="0" y="1616756"/>
                </a:lnTo>
                <a:lnTo>
                  <a:pt x="0" y="0"/>
                </a:lnTo>
                <a:close/>
              </a:path>
            </a:pathLst>
          </a:custGeom>
          <a:blipFill>
            <a:blip r:embed="rId11"/>
            <a:stretch>
              <a:fillRect l="0" t="0" r="0" b="0"/>
            </a:stretch>
          </a:blipFill>
        </p:spPr>
      </p:sp>
      <p:sp>
        <p:nvSpPr>
          <p:cNvPr name="Freeform 11" id="11"/>
          <p:cNvSpPr/>
          <p:nvPr/>
        </p:nvSpPr>
        <p:spPr>
          <a:xfrm flipH="false" flipV="false" rot="0">
            <a:off x="11680367" y="5361972"/>
            <a:ext cx="2147906" cy="1510694"/>
          </a:xfrm>
          <a:custGeom>
            <a:avLst/>
            <a:gdLst/>
            <a:ahLst/>
            <a:cxnLst/>
            <a:rect r="r" b="b" t="t" l="l"/>
            <a:pathLst>
              <a:path h="1510694" w="2147906">
                <a:moveTo>
                  <a:pt x="0" y="0"/>
                </a:moveTo>
                <a:lnTo>
                  <a:pt x="2147906" y="0"/>
                </a:lnTo>
                <a:lnTo>
                  <a:pt x="2147906" y="1510694"/>
                </a:lnTo>
                <a:lnTo>
                  <a:pt x="0" y="1510694"/>
                </a:lnTo>
                <a:lnTo>
                  <a:pt x="0" y="0"/>
                </a:lnTo>
                <a:close/>
              </a:path>
            </a:pathLst>
          </a:custGeom>
          <a:blipFill>
            <a:blip r:embed="rId12"/>
            <a:stretch>
              <a:fillRect l="0" t="0" r="0" b="0"/>
            </a:stretch>
          </a:blipFill>
        </p:spPr>
      </p:sp>
      <p:sp>
        <p:nvSpPr>
          <p:cNvPr name="Freeform 12" id="12"/>
          <p:cNvSpPr/>
          <p:nvPr/>
        </p:nvSpPr>
        <p:spPr>
          <a:xfrm flipH="false" flipV="false" rot="0">
            <a:off x="13457288" y="2582099"/>
            <a:ext cx="2436178" cy="1912031"/>
          </a:xfrm>
          <a:custGeom>
            <a:avLst/>
            <a:gdLst/>
            <a:ahLst/>
            <a:cxnLst/>
            <a:rect r="r" b="b" t="t" l="l"/>
            <a:pathLst>
              <a:path h="1912031" w="2436178">
                <a:moveTo>
                  <a:pt x="0" y="0"/>
                </a:moveTo>
                <a:lnTo>
                  <a:pt x="2436177" y="0"/>
                </a:lnTo>
                <a:lnTo>
                  <a:pt x="2436177" y="1912031"/>
                </a:lnTo>
                <a:lnTo>
                  <a:pt x="0" y="1912031"/>
                </a:lnTo>
                <a:lnTo>
                  <a:pt x="0" y="0"/>
                </a:lnTo>
                <a:close/>
              </a:path>
            </a:pathLst>
          </a:custGeom>
          <a:blipFill>
            <a:blip r:embed="rId13"/>
            <a:stretch>
              <a:fillRect l="-25838" t="0" r="-23427" b="0"/>
            </a:stretch>
          </a:blipFill>
        </p:spPr>
      </p:sp>
      <p:sp>
        <p:nvSpPr>
          <p:cNvPr name="TextBox 13" id="13"/>
          <p:cNvSpPr txBox="true"/>
          <p:nvPr/>
        </p:nvSpPr>
        <p:spPr>
          <a:xfrm rot="0">
            <a:off x="2222799" y="1504804"/>
            <a:ext cx="3217664"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Technologies utilisées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06982" y="1260725"/>
            <a:ext cx="2815930" cy="564359"/>
          </a:xfrm>
          <a:custGeom>
            <a:avLst/>
            <a:gdLst/>
            <a:ahLst/>
            <a:cxnLst/>
            <a:rect r="r" b="b" t="t" l="l"/>
            <a:pathLst>
              <a:path h="564359" w="2815930">
                <a:moveTo>
                  <a:pt x="0" y="0"/>
                </a:moveTo>
                <a:lnTo>
                  <a:pt x="2815930" y="0"/>
                </a:lnTo>
                <a:lnTo>
                  <a:pt x="2815930" y="564359"/>
                </a:lnTo>
                <a:lnTo>
                  <a:pt x="0" y="564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34636" y="1504804"/>
            <a:ext cx="6193989"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Ar</a:t>
            </a:r>
            <a:r>
              <a:rPr lang="en-US" b="true" sz="2400">
                <a:solidFill>
                  <a:srgbClr val="FFFFFF"/>
                </a:solidFill>
                <a:latin typeface="Open Sans Semi-Bold"/>
                <a:ea typeface="Open Sans Semi-Bold"/>
                <a:cs typeface="Open Sans Semi-Bold"/>
                <a:sym typeface="Open Sans Semi-Bold"/>
              </a:rPr>
              <a:t>chitecture logicielle de l’application web</a:t>
            </a:r>
          </a:p>
        </p:txBody>
      </p:sp>
      <p:sp>
        <p:nvSpPr>
          <p:cNvPr name="TextBox 4" id="4"/>
          <p:cNvSpPr txBox="true"/>
          <p:nvPr/>
        </p:nvSpPr>
        <p:spPr>
          <a:xfrm rot="0">
            <a:off x="4599067" y="3367809"/>
            <a:ext cx="10080308" cy="2072640"/>
          </a:xfrm>
          <a:prstGeom prst="rect">
            <a:avLst/>
          </a:prstGeom>
        </p:spPr>
        <p:txBody>
          <a:bodyPr anchor="t" rtlCol="false" tIns="0" lIns="0" bIns="0" rIns="0">
            <a:spAutoFit/>
          </a:bodyPr>
          <a:lstStyle/>
          <a:p>
            <a:pPr algn="l">
              <a:lnSpc>
                <a:spcPts val="3360"/>
              </a:lnSpc>
              <a:spcBef>
                <a:spcPct val="0"/>
              </a:spcBef>
            </a:pP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Développé avec React.js</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Affiche : température, historique, prédictions, états du système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Envoie les actions utilisateur (chauffage, ventilation, mode) vers l’API</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Communique avec le backend via Axios (HTTP)</a:t>
            </a:r>
          </a:p>
        </p:txBody>
      </p:sp>
      <p:sp>
        <p:nvSpPr>
          <p:cNvPr name="TextBox 5" id="5"/>
          <p:cNvSpPr txBox="true"/>
          <p:nvPr/>
        </p:nvSpPr>
        <p:spPr>
          <a:xfrm rot="0">
            <a:off x="2658199" y="2796467"/>
            <a:ext cx="4548783"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Frontend (Interface utilisateur)</a:t>
            </a:r>
          </a:p>
        </p:txBody>
      </p:sp>
      <p:sp>
        <p:nvSpPr>
          <p:cNvPr name="TextBox 6" id="6"/>
          <p:cNvSpPr txBox="true"/>
          <p:nvPr/>
        </p:nvSpPr>
        <p:spPr>
          <a:xfrm rot="0">
            <a:off x="2658199" y="6088188"/>
            <a:ext cx="1341834"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Backend </a:t>
            </a:r>
          </a:p>
        </p:txBody>
      </p:sp>
      <p:sp>
        <p:nvSpPr>
          <p:cNvPr name="TextBox 7" id="7"/>
          <p:cNvSpPr txBox="true"/>
          <p:nvPr/>
        </p:nvSpPr>
        <p:spPr>
          <a:xfrm rot="0">
            <a:off x="4599067" y="6446328"/>
            <a:ext cx="10356533" cy="2491740"/>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Implémenté avec FastAPI</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Expose des endpoints pour :</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récupérer les mesures</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récupérer les prédictions</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envoyer des commandes au système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Gère la logique métier : validation, traitement, formatage des données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4599067" y="1336684"/>
            <a:ext cx="2815930" cy="564359"/>
          </a:xfrm>
          <a:custGeom>
            <a:avLst/>
            <a:gdLst/>
            <a:ahLst/>
            <a:cxnLst/>
            <a:rect r="r" b="b" t="t" l="l"/>
            <a:pathLst>
              <a:path h="564359" w="2815930">
                <a:moveTo>
                  <a:pt x="0" y="0"/>
                </a:moveTo>
                <a:lnTo>
                  <a:pt x="2815930" y="0"/>
                </a:lnTo>
                <a:lnTo>
                  <a:pt x="2815930" y="564360"/>
                </a:lnTo>
                <a:lnTo>
                  <a:pt x="0" y="5643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23620" y="1504804"/>
            <a:ext cx="2395299"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Flux de données</a:t>
            </a:r>
          </a:p>
        </p:txBody>
      </p:sp>
      <p:sp>
        <p:nvSpPr>
          <p:cNvPr name="TextBox 4" id="4"/>
          <p:cNvSpPr txBox="true"/>
          <p:nvPr/>
        </p:nvSpPr>
        <p:spPr>
          <a:xfrm rot="0">
            <a:off x="4218919" y="3363304"/>
            <a:ext cx="4708327" cy="2072640"/>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La base contient :</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mesures de température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état des équipements             </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historiques</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prédictions </a:t>
            </a:r>
          </a:p>
        </p:txBody>
      </p:sp>
      <p:sp>
        <p:nvSpPr>
          <p:cNvPr name="TextBox 5" id="5"/>
          <p:cNvSpPr txBox="true"/>
          <p:nvPr/>
        </p:nvSpPr>
        <p:spPr>
          <a:xfrm rot="0">
            <a:off x="2916943" y="2647279"/>
            <a:ext cx="6180177" cy="396240"/>
          </a:xfrm>
          <a:prstGeom prst="rect">
            <a:avLst/>
          </a:prstGeom>
        </p:spPr>
        <p:txBody>
          <a:bodyPr anchor="t" rtlCol="false" tIns="0" lIns="0" bIns="0" rIns="0">
            <a:spAutoFit/>
          </a:bodyPr>
          <a:lstStyle/>
          <a:p>
            <a:pPr algn="ctr" marL="518163" indent="-259082" lvl="1">
              <a:lnSpc>
                <a:spcPts val="3360"/>
              </a:lnSpc>
              <a:buFont typeface="Arial"/>
              <a:buChar char="•"/>
            </a:pPr>
            <a:r>
              <a:rPr lang="en-US" b="true" sz="2400">
                <a:solidFill>
                  <a:srgbClr val="FFFFFF"/>
                </a:solidFill>
                <a:latin typeface="Open Sans Semi-Bold"/>
                <a:ea typeface="Open Sans Semi-Bold"/>
                <a:cs typeface="Open Sans Semi-Bold"/>
                <a:sym typeface="Open Sans Semi-Bold"/>
              </a:rPr>
              <a:t>Capteurs IoT + Prédiction → Azure SQL</a:t>
            </a:r>
          </a:p>
        </p:txBody>
      </p:sp>
      <p:sp>
        <p:nvSpPr>
          <p:cNvPr name="TextBox 6" id="6"/>
          <p:cNvSpPr txBox="true"/>
          <p:nvPr/>
        </p:nvSpPr>
        <p:spPr>
          <a:xfrm rot="0">
            <a:off x="3021269" y="6178893"/>
            <a:ext cx="4913709" cy="396240"/>
          </a:xfrm>
          <a:prstGeom prst="rect">
            <a:avLst/>
          </a:prstGeom>
        </p:spPr>
        <p:txBody>
          <a:bodyPr anchor="t" rtlCol="false" tIns="0" lIns="0" bIns="0" rIns="0">
            <a:spAutoFit/>
          </a:bodyPr>
          <a:lstStyle/>
          <a:p>
            <a:pPr algn="ctr" marL="518163" indent="-259082" lvl="1">
              <a:lnSpc>
                <a:spcPts val="3360"/>
              </a:lnSpc>
              <a:buFont typeface="Arial"/>
              <a:buChar char="•"/>
            </a:pPr>
            <a:r>
              <a:rPr lang="en-US" b="true" sz="2400">
                <a:solidFill>
                  <a:srgbClr val="FFFFFF"/>
                </a:solidFill>
                <a:latin typeface="Open Sans Semi-Bold"/>
                <a:ea typeface="Open Sans Semi-Bold"/>
                <a:cs typeface="Open Sans Semi-Bold"/>
                <a:sym typeface="Open Sans Semi-Bold"/>
              </a:rPr>
              <a:t>Azure SQL → Backend FastAPI</a:t>
            </a:r>
          </a:p>
        </p:txBody>
      </p:sp>
      <p:sp>
        <p:nvSpPr>
          <p:cNvPr name="TextBox 7" id="7"/>
          <p:cNvSpPr txBox="true"/>
          <p:nvPr/>
        </p:nvSpPr>
        <p:spPr>
          <a:xfrm rot="0">
            <a:off x="4218919" y="6823710"/>
            <a:ext cx="7682270" cy="24917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Le backend lit les données stockées dans Azure SQL.</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Il récupère :</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dernière température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historique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prédictions</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paramètres de contrôle</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4599067" y="1336684"/>
            <a:ext cx="2815930" cy="564359"/>
          </a:xfrm>
          <a:custGeom>
            <a:avLst/>
            <a:gdLst/>
            <a:ahLst/>
            <a:cxnLst/>
            <a:rect r="r" b="b" t="t" l="l"/>
            <a:pathLst>
              <a:path h="564359" w="2815930">
                <a:moveTo>
                  <a:pt x="0" y="0"/>
                </a:moveTo>
                <a:lnTo>
                  <a:pt x="2815930" y="0"/>
                </a:lnTo>
                <a:lnTo>
                  <a:pt x="2815930" y="564360"/>
                </a:lnTo>
                <a:lnTo>
                  <a:pt x="0" y="5643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23620" y="1504804"/>
            <a:ext cx="2395299"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Flux de données</a:t>
            </a:r>
          </a:p>
        </p:txBody>
      </p:sp>
      <p:sp>
        <p:nvSpPr>
          <p:cNvPr name="TextBox 4" id="4"/>
          <p:cNvSpPr txBox="true"/>
          <p:nvPr/>
        </p:nvSpPr>
        <p:spPr>
          <a:xfrm rot="0">
            <a:off x="4218919" y="3363304"/>
            <a:ext cx="5102186" cy="2072640"/>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le</a:t>
            </a:r>
            <a:r>
              <a:rPr lang="en-US" b="true" sz="2400">
                <a:solidFill>
                  <a:srgbClr val="FFFFFF"/>
                </a:solidFill>
                <a:latin typeface="Open Sans Semi-Bold"/>
                <a:ea typeface="Open Sans Semi-Bold"/>
                <a:cs typeface="Open Sans Semi-Bold"/>
                <a:sym typeface="Open Sans Semi-Bold"/>
              </a:rPr>
              <a:t> backend écrit dans Azure SQL :</a:t>
            </a:r>
          </a:p>
          <a:p>
            <a:pPr algn="l">
              <a:lnSpc>
                <a:spcPts val="3360"/>
              </a:lnSpc>
            </a:pPr>
            <a:r>
              <a:rPr lang="en-US" b="true" sz="2400">
                <a:solidFill>
                  <a:srgbClr val="FFFFFF"/>
                </a:solidFill>
                <a:latin typeface="Open Sans Semi-Bold"/>
                <a:ea typeface="Open Sans Semi-Bold"/>
                <a:cs typeface="Open Sans Semi-Bold"/>
                <a:sym typeface="Open Sans Semi-Bold"/>
              </a:rPr>
              <a:t>   </a:t>
            </a:r>
            <a:r>
              <a:rPr lang="en-US" b="true" sz="2400">
                <a:solidFill>
                  <a:srgbClr val="FFFFFF"/>
                </a:solidFill>
                <a:latin typeface="Open Sans Semi-Bold"/>
                <a:ea typeface="Open Sans Semi-Bold"/>
                <a:cs typeface="Open Sans Semi-Bold"/>
                <a:sym typeface="Open Sans Semi-Bold"/>
              </a:rPr>
              <a:t>la nouvelle consigne</a:t>
            </a:r>
          </a:p>
          <a:p>
            <a:pPr algn="l">
              <a:lnSpc>
                <a:spcPts val="3360"/>
              </a:lnSpc>
            </a:pPr>
            <a:r>
              <a:rPr lang="en-US" b="true" sz="2400">
                <a:solidFill>
                  <a:srgbClr val="FFFFFF"/>
                </a:solidFill>
                <a:latin typeface="Open Sans Semi-Bold"/>
                <a:ea typeface="Open Sans Semi-Bold"/>
                <a:cs typeface="Open Sans Semi-Bold"/>
                <a:sym typeface="Open Sans Semi-Bold"/>
              </a:rPr>
              <a:t>   l’état mis à jour</a:t>
            </a:r>
          </a:p>
          <a:p>
            <a:pPr algn="l">
              <a:lnSpc>
                <a:spcPts val="3360"/>
              </a:lnSpc>
            </a:pPr>
            <a:r>
              <a:rPr lang="en-US" b="true" sz="2400">
                <a:solidFill>
                  <a:srgbClr val="FFFFFF"/>
                </a:solidFill>
                <a:latin typeface="Open Sans Semi-Bold"/>
                <a:ea typeface="Open Sans Semi-Bold"/>
                <a:cs typeface="Open Sans Semi-Bold"/>
                <a:sym typeface="Open Sans Semi-Bold"/>
              </a:rPr>
              <a:t>   l’action envoyée</a:t>
            </a:r>
          </a:p>
          <a:p>
            <a:pPr algn="l">
              <a:lnSpc>
                <a:spcPts val="3360"/>
              </a:lnSpc>
              <a:spcBef>
                <a:spcPct val="0"/>
              </a:spcBef>
            </a:pPr>
          </a:p>
        </p:txBody>
      </p:sp>
      <p:sp>
        <p:nvSpPr>
          <p:cNvPr name="TextBox 5" id="5"/>
          <p:cNvSpPr txBox="true"/>
          <p:nvPr/>
        </p:nvSpPr>
        <p:spPr>
          <a:xfrm rot="0">
            <a:off x="2085709" y="2647279"/>
            <a:ext cx="7842647" cy="396240"/>
          </a:xfrm>
          <a:prstGeom prst="rect">
            <a:avLst/>
          </a:prstGeom>
        </p:spPr>
        <p:txBody>
          <a:bodyPr anchor="t" rtlCol="false" tIns="0" lIns="0" bIns="0" rIns="0">
            <a:spAutoFit/>
          </a:bodyPr>
          <a:lstStyle/>
          <a:p>
            <a:pPr algn="ctr" marL="518163" indent="-259082" lvl="1">
              <a:lnSpc>
                <a:spcPts val="3360"/>
              </a:lnSpc>
              <a:buFont typeface="Arial"/>
              <a:buChar char="•"/>
            </a:pPr>
            <a:r>
              <a:rPr lang="en-US" b="true" sz="2400">
                <a:solidFill>
                  <a:srgbClr val="FFFFFF"/>
                </a:solidFill>
                <a:latin typeface="Open Sans Semi-Bold"/>
                <a:ea typeface="Open Sans Semi-Bold"/>
                <a:cs typeface="Open Sans Semi-Bold"/>
                <a:sym typeface="Open Sans Semi-Bold"/>
              </a:rPr>
              <a:t>B</a:t>
            </a:r>
            <a:r>
              <a:rPr lang="en-US" b="true" sz="2400">
                <a:solidFill>
                  <a:srgbClr val="FFFFFF"/>
                </a:solidFill>
                <a:latin typeface="Open Sans Semi-Bold"/>
                <a:ea typeface="Open Sans Semi-Bold"/>
                <a:cs typeface="Open Sans Semi-Bold"/>
                <a:sym typeface="Open Sans Semi-Bold"/>
              </a:rPr>
              <a:t>ackend FastAPI → Azure SQL (actions utilisateur)</a:t>
            </a:r>
          </a:p>
        </p:txBody>
      </p:sp>
      <p:sp>
        <p:nvSpPr>
          <p:cNvPr name="TextBox 6" id="6"/>
          <p:cNvSpPr txBox="true"/>
          <p:nvPr/>
        </p:nvSpPr>
        <p:spPr>
          <a:xfrm rot="0">
            <a:off x="2192873" y="6178893"/>
            <a:ext cx="4812387" cy="396240"/>
          </a:xfrm>
          <a:prstGeom prst="rect">
            <a:avLst/>
          </a:prstGeom>
        </p:spPr>
        <p:txBody>
          <a:bodyPr anchor="t" rtlCol="false" tIns="0" lIns="0" bIns="0" rIns="0">
            <a:spAutoFit/>
          </a:bodyPr>
          <a:lstStyle/>
          <a:p>
            <a:pPr algn="ctr" marL="518163" indent="-259082" lvl="1">
              <a:lnSpc>
                <a:spcPts val="3360"/>
              </a:lnSpc>
              <a:buFont typeface="Arial"/>
              <a:buChar char="•"/>
            </a:pPr>
            <a:r>
              <a:rPr lang="en-US" b="true" sz="2400">
                <a:solidFill>
                  <a:srgbClr val="FFFFFF"/>
                </a:solidFill>
                <a:latin typeface="Open Sans Semi-Bold"/>
                <a:ea typeface="Open Sans Semi-Bold"/>
                <a:cs typeface="Open Sans Semi-Bold"/>
                <a:sym typeface="Open Sans Semi-Bold"/>
              </a:rPr>
              <a:t> </a:t>
            </a:r>
            <a:r>
              <a:rPr lang="en-US" b="true" sz="2400">
                <a:solidFill>
                  <a:srgbClr val="FFFFFF"/>
                </a:solidFill>
                <a:latin typeface="Open Sans Semi-Bold"/>
                <a:ea typeface="Open Sans Semi-Bold"/>
                <a:cs typeface="Open Sans Semi-Bold"/>
                <a:sym typeface="Open Sans Semi-Bold"/>
              </a:rPr>
              <a:t>Azure SQL → Frontend React</a:t>
            </a:r>
          </a:p>
        </p:txBody>
      </p:sp>
      <p:sp>
        <p:nvSpPr>
          <p:cNvPr name="TextBox 7" id="7"/>
          <p:cNvSpPr txBox="true"/>
          <p:nvPr/>
        </p:nvSpPr>
        <p:spPr>
          <a:xfrm rot="0">
            <a:off x="4218919" y="6898983"/>
            <a:ext cx="8320445" cy="2072640"/>
          </a:xfrm>
          <a:prstGeom prst="rect">
            <a:avLst/>
          </a:prstGeom>
        </p:spPr>
        <p:txBody>
          <a:bodyPr anchor="t" rtlCol="false" tIns="0" lIns="0" bIns="0" rIns="0">
            <a:spAutoFit/>
          </a:bodyPr>
          <a:lstStyle/>
          <a:p>
            <a:pPr algn="just">
              <a:lnSpc>
                <a:spcPts val="3360"/>
              </a:lnSpc>
            </a:pPr>
            <a:r>
              <a:rPr lang="en-US" b="true" sz="2400">
                <a:solidFill>
                  <a:srgbClr val="FFFFFF"/>
                </a:solidFill>
                <a:latin typeface="Open Sans Semi-Bold"/>
                <a:ea typeface="Open Sans Semi-Bold"/>
                <a:cs typeface="Open Sans Semi-Bold"/>
                <a:sym typeface="Open Sans Semi-Bold"/>
              </a:rPr>
              <a:t> </a:t>
            </a:r>
          </a:p>
          <a:p>
            <a:pPr algn="just">
              <a:lnSpc>
                <a:spcPts val="3360"/>
              </a:lnSpc>
            </a:pPr>
            <a:r>
              <a:rPr lang="en-US" b="true" sz="2400">
                <a:solidFill>
                  <a:srgbClr val="FFFFFF"/>
                </a:solidFill>
                <a:latin typeface="Open Sans Semi-Bold"/>
                <a:ea typeface="Open Sans Semi-Bold"/>
                <a:cs typeface="Open Sans Semi-Bold"/>
                <a:sym typeface="Open Sans Semi-Bold"/>
              </a:rPr>
              <a:t>Le frontend appelle l’API FastAPI.</a:t>
            </a:r>
          </a:p>
          <a:p>
            <a:pPr algn="just">
              <a:lnSpc>
                <a:spcPts val="3360"/>
              </a:lnSpc>
            </a:pPr>
            <a:r>
              <a:rPr lang="en-US" b="true" sz="2400">
                <a:solidFill>
                  <a:srgbClr val="FFFFFF"/>
                </a:solidFill>
                <a:latin typeface="Open Sans Semi-Bold"/>
                <a:ea typeface="Open Sans Semi-Bold"/>
                <a:cs typeface="Open Sans Semi-Bold"/>
                <a:sym typeface="Open Sans Semi-Bold"/>
              </a:rPr>
              <a:t>FastAPI renvoie les données issues d’Azure SQL via JSON.</a:t>
            </a:r>
          </a:p>
          <a:p>
            <a:pPr algn="just">
              <a:lnSpc>
                <a:spcPts val="3360"/>
              </a:lnSpc>
            </a:pPr>
          </a:p>
          <a:p>
            <a:pPr algn="just">
              <a:lnSpc>
                <a:spcPts val="3360"/>
              </a:lnSpc>
            </a:pP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false" flipV="false" rot="0">
            <a:off x="4599067" y="1336684"/>
            <a:ext cx="2815930" cy="564359"/>
          </a:xfrm>
          <a:custGeom>
            <a:avLst/>
            <a:gdLst/>
            <a:ahLst/>
            <a:cxnLst/>
            <a:rect r="r" b="b" t="t" l="l"/>
            <a:pathLst>
              <a:path h="564359" w="2815930">
                <a:moveTo>
                  <a:pt x="0" y="0"/>
                </a:moveTo>
                <a:lnTo>
                  <a:pt x="2815930" y="0"/>
                </a:lnTo>
                <a:lnTo>
                  <a:pt x="2815930" y="564360"/>
                </a:lnTo>
                <a:lnTo>
                  <a:pt x="0" y="5643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23620" y="1504804"/>
            <a:ext cx="2395299" cy="396240"/>
          </a:xfrm>
          <a:prstGeom prst="rect">
            <a:avLst/>
          </a:prstGeom>
        </p:spPr>
        <p:txBody>
          <a:bodyPr anchor="t" rtlCol="false" tIns="0" lIns="0" bIns="0" rIns="0">
            <a:spAutoFit/>
          </a:bodyPr>
          <a:lstStyle/>
          <a:p>
            <a:pPr algn="ctr">
              <a:lnSpc>
                <a:spcPts val="3360"/>
              </a:lnSpc>
              <a:spcBef>
                <a:spcPct val="0"/>
              </a:spcBef>
            </a:pPr>
            <a:r>
              <a:rPr lang="en-US" b="true" sz="2400">
                <a:solidFill>
                  <a:srgbClr val="FFFFFF"/>
                </a:solidFill>
                <a:latin typeface="Open Sans Semi-Bold"/>
                <a:ea typeface="Open Sans Semi-Bold"/>
                <a:cs typeface="Open Sans Semi-Bold"/>
                <a:sym typeface="Open Sans Semi-Bold"/>
              </a:rPr>
              <a:t>Flux de données</a:t>
            </a:r>
          </a:p>
        </p:txBody>
      </p:sp>
      <p:sp>
        <p:nvSpPr>
          <p:cNvPr name="TextBox 4" id="4"/>
          <p:cNvSpPr txBox="true"/>
          <p:nvPr/>
        </p:nvSpPr>
        <p:spPr>
          <a:xfrm rot="0">
            <a:off x="3271384" y="3251130"/>
            <a:ext cx="8287226" cy="2072640"/>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L’application web affiche :</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la température en temps réel</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les prédictions</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les actions de contrôle</a:t>
            </a:r>
          </a:p>
          <a:p>
            <a:pPr algn="l">
              <a:lnSpc>
                <a:spcPts val="3360"/>
              </a:lnSpc>
              <a:spcBef>
                <a:spcPct val="0"/>
              </a:spcBef>
            </a:pPr>
            <a:r>
              <a:rPr lang="en-US" b="true" sz="2400">
                <a:solidFill>
                  <a:srgbClr val="FFFFFF"/>
                </a:solidFill>
                <a:latin typeface="Open Sans Semi-Bold"/>
                <a:ea typeface="Open Sans Semi-Bold"/>
                <a:cs typeface="Open Sans Semi-Bold"/>
                <a:sym typeface="Open Sans Semi-Bold"/>
              </a:rPr>
              <a:t>      L’utilisateur interagit via des boutons et commandes.</a:t>
            </a:r>
          </a:p>
        </p:txBody>
      </p:sp>
      <p:sp>
        <p:nvSpPr>
          <p:cNvPr name="TextBox 5" id="5"/>
          <p:cNvSpPr txBox="true"/>
          <p:nvPr/>
        </p:nvSpPr>
        <p:spPr>
          <a:xfrm rot="0">
            <a:off x="2359983" y="2659238"/>
            <a:ext cx="4781074" cy="396240"/>
          </a:xfrm>
          <a:prstGeom prst="rect">
            <a:avLst/>
          </a:prstGeom>
        </p:spPr>
        <p:txBody>
          <a:bodyPr anchor="t" rtlCol="false" tIns="0" lIns="0" bIns="0" rIns="0">
            <a:spAutoFit/>
          </a:bodyPr>
          <a:lstStyle/>
          <a:p>
            <a:pPr algn="ctr" marL="518163" indent="-259082" lvl="1">
              <a:lnSpc>
                <a:spcPts val="3360"/>
              </a:lnSpc>
              <a:buFont typeface="Arial"/>
              <a:buChar char="•"/>
            </a:pPr>
            <a:r>
              <a:rPr lang="en-US" b="true" sz="2400">
                <a:solidFill>
                  <a:srgbClr val="FFFFFF"/>
                </a:solidFill>
                <a:latin typeface="Open Sans Semi-Bold"/>
                <a:ea typeface="Open Sans Semi-Bold"/>
                <a:cs typeface="Open Sans Semi-Bold"/>
                <a:sym typeface="Open Sans Semi-Bold"/>
              </a:rPr>
              <a:t>Frontend React → Utilisateur</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951612" y="3321710"/>
            <a:ext cx="1327201" cy="393183"/>
          </a:xfrm>
          <a:custGeom>
            <a:avLst/>
            <a:gdLst/>
            <a:ahLst/>
            <a:cxnLst/>
            <a:rect r="r" b="b" t="t" l="l"/>
            <a:pathLst>
              <a:path h="393183" w="1327201">
                <a:moveTo>
                  <a:pt x="1327201" y="0"/>
                </a:moveTo>
                <a:lnTo>
                  <a:pt x="0" y="0"/>
                </a:lnTo>
                <a:lnTo>
                  <a:pt x="0" y="393184"/>
                </a:lnTo>
                <a:lnTo>
                  <a:pt x="1327201" y="393184"/>
                </a:lnTo>
                <a:lnTo>
                  <a:pt x="13272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15867" y="4762434"/>
            <a:ext cx="12677287" cy="828807"/>
          </a:xfrm>
          <a:prstGeom prst="rect">
            <a:avLst/>
          </a:prstGeom>
        </p:spPr>
        <p:txBody>
          <a:bodyPr anchor="t" rtlCol="false" tIns="0" lIns="0" bIns="0" rIns="0">
            <a:spAutoFit/>
          </a:bodyPr>
          <a:lstStyle/>
          <a:p>
            <a:pPr algn="r">
              <a:lnSpc>
                <a:spcPts val="6254"/>
              </a:lnSpc>
            </a:pPr>
            <a:r>
              <a:rPr lang="en-US" sz="5900">
                <a:solidFill>
                  <a:srgbClr val="FFFFFF"/>
                </a:solidFill>
                <a:latin typeface="Passion One"/>
                <a:ea typeface="Passion One"/>
                <a:cs typeface="Passion One"/>
                <a:sym typeface="Passion One"/>
              </a:rPr>
              <a:t> </a:t>
            </a:r>
            <a:r>
              <a:rPr lang="en-US" sz="5900">
                <a:solidFill>
                  <a:srgbClr val="FFFFFF"/>
                </a:solidFill>
                <a:latin typeface="Passion One"/>
                <a:ea typeface="Passion One"/>
                <a:cs typeface="Passion One"/>
                <a:sym typeface="Passion One"/>
              </a:rPr>
              <a:t>Dé</a:t>
            </a:r>
            <a:r>
              <a:rPr lang="en-US" sz="5900">
                <a:solidFill>
                  <a:srgbClr val="FFFFFF"/>
                </a:solidFill>
                <a:latin typeface="Passion One"/>
                <a:ea typeface="Passion One"/>
                <a:cs typeface="Passion One"/>
                <a:sym typeface="Passion One"/>
              </a:rPr>
              <a:t>PLOIEMENT DE L’APPLICATION SUR AZURE</a:t>
            </a:r>
          </a:p>
        </p:txBody>
      </p:sp>
      <p:sp>
        <p:nvSpPr>
          <p:cNvPr name="Freeform 4" id="4"/>
          <p:cNvSpPr/>
          <p:nvPr/>
        </p:nvSpPr>
        <p:spPr>
          <a:xfrm flipH="true" flipV="false" rot="0">
            <a:off x="14529553" y="6382145"/>
            <a:ext cx="1327201" cy="393183"/>
          </a:xfrm>
          <a:custGeom>
            <a:avLst/>
            <a:gdLst/>
            <a:ahLst/>
            <a:cxnLst/>
            <a:rect r="r" b="b" t="t" l="l"/>
            <a:pathLst>
              <a:path h="393183" w="1327201">
                <a:moveTo>
                  <a:pt x="1327202" y="0"/>
                </a:moveTo>
                <a:lnTo>
                  <a:pt x="0" y="0"/>
                </a:lnTo>
                <a:lnTo>
                  <a:pt x="0" y="393183"/>
                </a:lnTo>
                <a:lnTo>
                  <a:pt x="1327202" y="393183"/>
                </a:lnTo>
                <a:lnTo>
                  <a:pt x="13272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false" rot="0">
            <a:off x="14315176" y="-1791115"/>
            <a:ext cx="4273603" cy="3557774"/>
          </a:xfrm>
          <a:custGeom>
            <a:avLst/>
            <a:gdLst/>
            <a:ahLst/>
            <a:cxnLst/>
            <a:rect r="r" b="b" t="t" l="l"/>
            <a:pathLst>
              <a:path h="3557774" w="4273603">
                <a:moveTo>
                  <a:pt x="4273603" y="0"/>
                </a:moveTo>
                <a:lnTo>
                  <a:pt x="0" y="0"/>
                </a:lnTo>
                <a:lnTo>
                  <a:pt x="0" y="3557775"/>
                </a:lnTo>
                <a:lnTo>
                  <a:pt x="4273603" y="3557775"/>
                </a:lnTo>
                <a:lnTo>
                  <a:pt x="4273603"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549406" y="2171011"/>
            <a:ext cx="10267132" cy="3473080"/>
            <a:chOff x="0" y="0"/>
            <a:chExt cx="5531477" cy="1871142"/>
          </a:xfrm>
        </p:grpSpPr>
        <p:sp>
          <p:nvSpPr>
            <p:cNvPr name="Freeform 4" id="4"/>
            <p:cNvSpPr/>
            <p:nvPr/>
          </p:nvSpPr>
          <p:spPr>
            <a:xfrm flipH="false" flipV="false" rot="0">
              <a:off x="0" y="0"/>
              <a:ext cx="5531477" cy="1871142"/>
            </a:xfrm>
            <a:custGeom>
              <a:avLst/>
              <a:gdLst/>
              <a:ahLst/>
              <a:cxnLst/>
              <a:rect r="r" b="b" t="t" l="l"/>
              <a:pathLst>
                <a:path h="1871142" w="5531477">
                  <a:moveTo>
                    <a:pt x="203200" y="0"/>
                  </a:moveTo>
                  <a:lnTo>
                    <a:pt x="5531477" y="0"/>
                  </a:lnTo>
                  <a:lnTo>
                    <a:pt x="5328277" y="1871142"/>
                  </a:lnTo>
                  <a:lnTo>
                    <a:pt x="0" y="1871142"/>
                  </a:lnTo>
                  <a:lnTo>
                    <a:pt x="203200" y="0"/>
                  </a:lnTo>
                  <a:close/>
                </a:path>
              </a:pathLst>
            </a:custGeom>
            <a:solidFill>
              <a:srgbClr val="CEA2E1"/>
            </a:solidFill>
          </p:spPr>
        </p:sp>
        <p:sp>
          <p:nvSpPr>
            <p:cNvPr name="TextBox 5" id="5"/>
            <p:cNvSpPr txBox="true"/>
            <p:nvPr/>
          </p:nvSpPr>
          <p:spPr>
            <a:xfrm>
              <a:off x="101600" y="-38100"/>
              <a:ext cx="5328277" cy="1909242"/>
            </a:xfrm>
            <a:prstGeom prst="rect">
              <a:avLst/>
            </a:prstGeom>
          </p:spPr>
          <p:txBody>
            <a:bodyPr anchor="ctr" rtlCol="false" tIns="50800" lIns="50800" bIns="50800" rIns="50800"/>
            <a:lstStyle/>
            <a:p>
              <a:pPr algn="ctr">
                <a:lnSpc>
                  <a:spcPts val="3360"/>
                </a:lnSpc>
              </a:pPr>
            </a:p>
          </p:txBody>
        </p:sp>
      </p:grpSp>
      <p:sp>
        <p:nvSpPr>
          <p:cNvPr name="Freeform 6" id="6"/>
          <p:cNvSpPr/>
          <p:nvPr/>
        </p:nvSpPr>
        <p:spPr>
          <a:xfrm flipH="false" flipV="false" rot="0">
            <a:off x="17510627" y="3646065"/>
            <a:ext cx="777373" cy="777373"/>
          </a:xfrm>
          <a:custGeom>
            <a:avLst/>
            <a:gdLst/>
            <a:ahLst/>
            <a:cxnLst/>
            <a:rect r="r" b="b" t="t" l="l"/>
            <a:pathLst>
              <a:path h="777373" w="777373">
                <a:moveTo>
                  <a:pt x="0" y="0"/>
                </a:moveTo>
                <a:lnTo>
                  <a:pt x="777373" y="0"/>
                </a:lnTo>
                <a:lnTo>
                  <a:pt x="777373" y="777373"/>
                </a:lnTo>
                <a:lnTo>
                  <a:pt x="0" y="777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9290854" y="6153008"/>
            <a:ext cx="9559382" cy="2771684"/>
            <a:chOff x="0" y="0"/>
            <a:chExt cx="5531477" cy="1603818"/>
          </a:xfrm>
        </p:grpSpPr>
        <p:sp>
          <p:nvSpPr>
            <p:cNvPr name="Freeform 8" id="8"/>
            <p:cNvSpPr/>
            <p:nvPr/>
          </p:nvSpPr>
          <p:spPr>
            <a:xfrm flipH="false" flipV="false" rot="0">
              <a:off x="0" y="0"/>
              <a:ext cx="5531477" cy="1603818"/>
            </a:xfrm>
            <a:custGeom>
              <a:avLst/>
              <a:gdLst/>
              <a:ahLst/>
              <a:cxnLst/>
              <a:rect r="r" b="b" t="t" l="l"/>
              <a:pathLst>
                <a:path h="1603818" w="5531477">
                  <a:moveTo>
                    <a:pt x="203200" y="0"/>
                  </a:moveTo>
                  <a:lnTo>
                    <a:pt x="5531477" y="0"/>
                  </a:lnTo>
                  <a:lnTo>
                    <a:pt x="5328277" y="1603818"/>
                  </a:lnTo>
                  <a:lnTo>
                    <a:pt x="0" y="1603818"/>
                  </a:lnTo>
                  <a:lnTo>
                    <a:pt x="203200" y="0"/>
                  </a:lnTo>
                  <a:close/>
                </a:path>
              </a:pathLst>
            </a:custGeom>
            <a:solidFill>
              <a:srgbClr val="FFFFFF"/>
            </a:solidFill>
          </p:spPr>
        </p:sp>
        <p:sp>
          <p:nvSpPr>
            <p:cNvPr name="TextBox 9" id="9"/>
            <p:cNvSpPr txBox="true"/>
            <p:nvPr/>
          </p:nvSpPr>
          <p:spPr>
            <a:xfrm>
              <a:off x="101600" y="-38100"/>
              <a:ext cx="5328277" cy="1641918"/>
            </a:xfrm>
            <a:prstGeom prst="rect">
              <a:avLst/>
            </a:prstGeom>
          </p:spPr>
          <p:txBody>
            <a:bodyPr anchor="ctr" rtlCol="false" tIns="50800" lIns="50800" bIns="50800" rIns="50800"/>
            <a:lstStyle/>
            <a:p>
              <a:pPr algn="ctr">
                <a:lnSpc>
                  <a:spcPts val="3360"/>
                </a:lnSpc>
              </a:pPr>
            </a:p>
          </p:txBody>
        </p:sp>
      </p:grpSp>
      <p:sp>
        <p:nvSpPr>
          <p:cNvPr name="Freeform 10" id="10"/>
          <p:cNvSpPr/>
          <p:nvPr/>
        </p:nvSpPr>
        <p:spPr>
          <a:xfrm flipH="false" flipV="false" rot="0">
            <a:off x="17537421" y="7120466"/>
            <a:ext cx="723786" cy="723786"/>
          </a:xfrm>
          <a:custGeom>
            <a:avLst/>
            <a:gdLst/>
            <a:ahLst/>
            <a:cxnLst/>
            <a:rect r="r" b="b" t="t" l="l"/>
            <a:pathLst>
              <a:path h="723786" w="723786">
                <a:moveTo>
                  <a:pt x="0" y="0"/>
                </a:moveTo>
                <a:lnTo>
                  <a:pt x="723785" y="0"/>
                </a:lnTo>
                <a:lnTo>
                  <a:pt x="723785" y="723786"/>
                </a:lnTo>
                <a:lnTo>
                  <a:pt x="0" y="7237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559191" y="2833370"/>
            <a:ext cx="8436388" cy="4563110"/>
          </a:xfrm>
          <a:prstGeom prst="rect">
            <a:avLst/>
          </a:prstGeom>
        </p:spPr>
        <p:txBody>
          <a:bodyPr anchor="t" rtlCol="false" tIns="0" lIns="0" bIns="0" rIns="0">
            <a:spAutoFit/>
          </a:bodyPr>
          <a:lstStyle/>
          <a:p>
            <a:pPr algn="just">
              <a:lnSpc>
                <a:spcPts val="3640"/>
              </a:lnSpc>
            </a:pPr>
            <a:r>
              <a:rPr lang="en-US" sz="2600" b="true">
                <a:solidFill>
                  <a:srgbClr val="FFFFFF"/>
                </a:solidFill>
                <a:latin typeface="Open Sans Semi-Bold"/>
                <a:ea typeface="Open Sans Semi-Bold"/>
                <a:cs typeface="Open Sans Semi-Bold"/>
                <a:sym typeface="Open Sans Semi-Bold"/>
              </a:rPr>
              <a:t>L’application web</a:t>
            </a:r>
            <a:r>
              <a:rPr lang="en-US" b="true" sz="2600">
                <a:solidFill>
                  <a:srgbClr val="FFFFFF"/>
                </a:solidFill>
                <a:latin typeface="Open Sans Semi-Bold"/>
                <a:ea typeface="Open Sans Semi-Bold"/>
                <a:cs typeface="Open Sans Semi-Bold"/>
                <a:sym typeface="Open Sans Semi-Bold"/>
              </a:rPr>
              <a:t> sera déployée sur Azure pour garantir un hébergement fiable et évolutif. Le frontend React est publié via Azure Static Web Apps, offrant un déploiement rapide, sécurisé et intégré à GitHub. Le backend FastAPI est hébergé sur Azure App Service, qui assure l’exécution du serveur, la gestion Python et l’accès sécurisé à la base de données. Cette configuration permet un fonctionnement cohérent et performant de l’ensemble du système.</a:t>
            </a:r>
          </a:p>
        </p:txBody>
      </p:sp>
      <p:sp>
        <p:nvSpPr>
          <p:cNvPr name="TextBox 12" id="12"/>
          <p:cNvSpPr txBox="true"/>
          <p:nvPr/>
        </p:nvSpPr>
        <p:spPr>
          <a:xfrm rot="0">
            <a:off x="10094003" y="2405449"/>
            <a:ext cx="7148673" cy="3238641"/>
          </a:xfrm>
          <a:prstGeom prst="rect">
            <a:avLst/>
          </a:prstGeom>
        </p:spPr>
        <p:txBody>
          <a:bodyPr anchor="t" rtlCol="false" tIns="0" lIns="0" bIns="0" rIns="0">
            <a:spAutoFit/>
          </a:bodyPr>
          <a:lstStyle/>
          <a:p>
            <a:pPr algn="just">
              <a:lnSpc>
                <a:spcPts val="2579"/>
              </a:lnSpc>
            </a:pPr>
            <a:r>
              <a:rPr lang="en-US" sz="1910" b="true">
                <a:solidFill>
                  <a:srgbClr val="000000"/>
                </a:solidFill>
                <a:latin typeface="Open Sans Bold"/>
                <a:ea typeface="Open Sans Bold"/>
                <a:cs typeface="Open Sans Bold"/>
                <a:sym typeface="Open Sans Bold"/>
              </a:rPr>
              <a:t> Déploiement du Backend (FastAP</a:t>
            </a:r>
            <a:r>
              <a:rPr lang="en-US" b="true" sz="1910">
                <a:solidFill>
                  <a:srgbClr val="000000"/>
                </a:solidFill>
                <a:latin typeface="Open Sans Bold"/>
                <a:ea typeface="Open Sans Bold"/>
                <a:cs typeface="Open Sans Bold"/>
                <a:sym typeface="Open Sans Bold"/>
              </a:rPr>
              <a:t>I)</a:t>
            </a:r>
          </a:p>
          <a:p>
            <a:pPr algn="just" marL="412560" indent="-206280" lvl="1">
              <a:lnSpc>
                <a:spcPts val="2579"/>
              </a:lnSpc>
              <a:buFont typeface="Arial"/>
              <a:buChar char="•"/>
            </a:pPr>
            <a:r>
              <a:rPr lang="en-US" b="true" sz="1910">
                <a:solidFill>
                  <a:srgbClr val="000000"/>
                </a:solidFill>
                <a:latin typeface="Open Sans Bold"/>
                <a:ea typeface="Open Sans Bold"/>
                <a:cs typeface="Open Sans Bold"/>
                <a:sym typeface="Open Sans Bold"/>
              </a:rPr>
              <a:t>Le backend FastAPI est déployé sur :</a:t>
            </a:r>
          </a:p>
          <a:p>
            <a:pPr algn="just" marL="825120" indent="-275040" lvl="2">
              <a:lnSpc>
                <a:spcPts val="2579"/>
              </a:lnSpc>
              <a:buFont typeface="Arial"/>
              <a:buChar char="⚬"/>
            </a:pPr>
            <a:r>
              <a:rPr lang="en-US" b="true" sz="1910">
                <a:solidFill>
                  <a:srgbClr val="000000"/>
                </a:solidFill>
                <a:latin typeface="Open Sans Bold"/>
                <a:ea typeface="Open Sans Bold"/>
                <a:cs typeface="Open Sans Bold"/>
                <a:sym typeface="Open Sans Bold"/>
              </a:rPr>
              <a:t>Azure App Service (ou Azure Container Apps selon votre choix)</a:t>
            </a:r>
          </a:p>
          <a:p>
            <a:pPr algn="just" marL="412560" indent="-206280" lvl="1">
              <a:lnSpc>
                <a:spcPts val="2579"/>
              </a:lnSpc>
              <a:buFont typeface="Arial"/>
              <a:buChar char="•"/>
            </a:pPr>
            <a:r>
              <a:rPr lang="en-US" b="true" sz="1910">
                <a:solidFill>
                  <a:srgbClr val="000000"/>
                </a:solidFill>
                <a:latin typeface="Open Sans Bold"/>
                <a:ea typeface="Open Sans Bold"/>
                <a:cs typeface="Open Sans Bold"/>
                <a:sym typeface="Open Sans Bold"/>
              </a:rPr>
              <a:t>Permet :</a:t>
            </a:r>
          </a:p>
          <a:p>
            <a:pPr algn="just" marL="825120" indent="-275040" lvl="2">
              <a:lnSpc>
                <a:spcPts val="2579"/>
              </a:lnSpc>
              <a:buFont typeface="Arial"/>
              <a:buChar char="⚬"/>
            </a:pPr>
            <a:r>
              <a:rPr lang="en-US" b="true" sz="1910">
                <a:solidFill>
                  <a:srgbClr val="000000"/>
                </a:solidFill>
                <a:latin typeface="Open Sans Bold"/>
                <a:ea typeface="Open Sans Bold"/>
                <a:cs typeface="Open Sans Bold"/>
                <a:sym typeface="Open Sans Bold"/>
              </a:rPr>
              <a:t>exécution du serveur Uvicorn</a:t>
            </a:r>
          </a:p>
          <a:p>
            <a:pPr algn="just" marL="825120" indent="-275040" lvl="2">
              <a:lnSpc>
                <a:spcPts val="2579"/>
              </a:lnSpc>
              <a:buFont typeface="Arial"/>
              <a:buChar char="⚬"/>
            </a:pPr>
            <a:r>
              <a:rPr lang="en-US" b="true" sz="1910">
                <a:solidFill>
                  <a:srgbClr val="000000"/>
                </a:solidFill>
                <a:latin typeface="Open Sans Bold"/>
                <a:ea typeface="Open Sans Bold"/>
                <a:cs typeface="Open Sans Bold"/>
                <a:sym typeface="Open Sans Bold"/>
              </a:rPr>
              <a:t>gestion automatique des versions de Python</a:t>
            </a:r>
          </a:p>
          <a:p>
            <a:pPr algn="just" marL="825120" indent="-275040" lvl="2">
              <a:lnSpc>
                <a:spcPts val="2579"/>
              </a:lnSpc>
              <a:buFont typeface="Arial"/>
              <a:buChar char="⚬"/>
            </a:pPr>
            <a:r>
              <a:rPr lang="en-US" b="true" sz="1910">
                <a:solidFill>
                  <a:srgbClr val="000000"/>
                </a:solidFill>
                <a:latin typeface="Open Sans Bold"/>
                <a:ea typeface="Open Sans Bold"/>
                <a:cs typeface="Open Sans Bold"/>
                <a:sym typeface="Open Sans Bold"/>
              </a:rPr>
              <a:t>redémarrage automatique et monitoring</a:t>
            </a:r>
          </a:p>
          <a:p>
            <a:pPr algn="just" marL="825120" indent="-275040" lvl="2">
              <a:lnSpc>
                <a:spcPts val="2579"/>
              </a:lnSpc>
              <a:buFont typeface="Arial"/>
              <a:buChar char="⚬"/>
            </a:pPr>
            <a:r>
              <a:rPr lang="en-US" b="true" sz="1910">
                <a:solidFill>
                  <a:srgbClr val="000000"/>
                </a:solidFill>
                <a:latin typeface="Open Sans Bold"/>
                <a:ea typeface="Open Sans Bold"/>
                <a:cs typeface="Open Sans Bold"/>
                <a:sym typeface="Open Sans Bold"/>
              </a:rPr>
              <a:t>accès sécurisé à la base de données</a:t>
            </a:r>
          </a:p>
          <a:p>
            <a:pPr algn="just">
              <a:lnSpc>
                <a:spcPts val="2579"/>
              </a:lnSpc>
            </a:pPr>
          </a:p>
        </p:txBody>
      </p:sp>
      <p:sp>
        <p:nvSpPr>
          <p:cNvPr name="TextBox 13" id="13"/>
          <p:cNvSpPr txBox="true"/>
          <p:nvPr/>
        </p:nvSpPr>
        <p:spPr>
          <a:xfrm rot="0">
            <a:off x="10094003" y="6348976"/>
            <a:ext cx="6717017" cy="2341404"/>
          </a:xfrm>
          <a:prstGeom prst="rect">
            <a:avLst/>
          </a:prstGeom>
        </p:spPr>
        <p:txBody>
          <a:bodyPr anchor="t" rtlCol="false" tIns="0" lIns="0" bIns="0" rIns="0">
            <a:spAutoFit/>
          </a:bodyPr>
          <a:lstStyle/>
          <a:p>
            <a:pPr algn="l">
              <a:lnSpc>
                <a:spcPts val="2697"/>
              </a:lnSpc>
            </a:pPr>
            <a:r>
              <a:rPr lang="en-US" sz="1998" b="true">
                <a:solidFill>
                  <a:srgbClr val="000000"/>
                </a:solidFill>
                <a:latin typeface="Open Sans Bold"/>
                <a:ea typeface="Open Sans Bold"/>
                <a:cs typeface="Open Sans Bold"/>
                <a:sym typeface="Open Sans Bold"/>
              </a:rPr>
              <a:t>1. Dépl</a:t>
            </a:r>
            <a:r>
              <a:rPr lang="en-US" sz="1998" b="true">
                <a:solidFill>
                  <a:srgbClr val="000000"/>
                </a:solidFill>
                <a:latin typeface="Open Sans Bold"/>
                <a:ea typeface="Open Sans Bold"/>
                <a:cs typeface="Open Sans Bold"/>
                <a:sym typeface="Open Sans Bold"/>
              </a:rPr>
              <a:t>oiement du Frontend (React)</a:t>
            </a:r>
          </a:p>
          <a:p>
            <a:pPr algn="l">
              <a:lnSpc>
                <a:spcPts val="2697"/>
              </a:lnSpc>
            </a:pPr>
            <a:r>
              <a:rPr lang="en-US" sz="1998" b="true">
                <a:solidFill>
                  <a:srgbClr val="000000"/>
                </a:solidFill>
                <a:latin typeface="Open Sans Bold"/>
                <a:ea typeface="Open Sans Bold"/>
                <a:cs typeface="Open Sans Bold"/>
                <a:sym typeface="Open Sans Bold"/>
              </a:rPr>
              <a:t>Le frontend est déployé sur Azure Static Web Apps.</a:t>
            </a:r>
          </a:p>
          <a:p>
            <a:pPr algn="l">
              <a:lnSpc>
                <a:spcPts val="2697"/>
              </a:lnSpc>
            </a:pPr>
            <a:r>
              <a:rPr lang="en-US" sz="1998" b="true">
                <a:solidFill>
                  <a:srgbClr val="000000"/>
                </a:solidFill>
                <a:latin typeface="Open Sans Bold"/>
                <a:ea typeface="Open Sans Bold"/>
                <a:cs typeface="Open Sans Bold"/>
                <a:sym typeface="Open Sans Bold"/>
              </a:rPr>
              <a:t>Permet :</a:t>
            </a:r>
          </a:p>
          <a:p>
            <a:pPr algn="l">
              <a:lnSpc>
                <a:spcPts val="2697"/>
              </a:lnSpc>
            </a:pPr>
            <a:r>
              <a:rPr lang="en-US" sz="1998" b="true">
                <a:solidFill>
                  <a:srgbClr val="000000"/>
                </a:solidFill>
                <a:latin typeface="Open Sans Bold"/>
                <a:ea typeface="Open Sans Bold"/>
                <a:cs typeface="Open Sans Bold"/>
                <a:sym typeface="Open Sans Bold"/>
              </a:rPr>
              <a:t>hébergement optimisé pour les applications React</a:t>
            </a:r>
          </a:p>
          <a:p>
            <a:pPr algn="l">
              <a:lnSpc>
                <a:spcPts val="2697"/>
              </a:lnSpc>
            </a:pPr>
            <a:r>
              <a:rPr lang="en-US" sz="1998" b="true">
                <a:solidFill>
                  <a:srgbClr val="000000"/>
                </a:solidFill>
                <a:latin typeface="Open Sans Bold"/>
                <a:ea typeface="Open Sans Bold"/>
                <a:cs typeface="Open Sans Bold"/>
                <a:sym typeface="Open Sans Bold"/>
              </a:rPr>
              <a:t>certificat HTTPS automatique</a:t>
            </a:r>
          </a:p>
          <a:p>
            <a:pPr algn="l">
              <a:lnSpc>
                <a:spcPts val="2697"/>
              </a:lnSpc>
            </a:pPr>
            <a:r>
              <a:rPr lang="en-US" sz="1998" b="true">
                <a:solidFill>
                  <a:srgbClr val="000000"/>
                </a:solidFill>
                <a:latin typeface="Open Sans Bold"/>
                <a:ea typeface="Open Sans Bold"/>
                <a:cs typeface="Open Sans Bold"/>
                <a:sym typeface="Open Sans Bold"/>
              </a:rPr>
              <a:t>mise à jour simple via GitHub</a:t>
            </a:r>
          </a:p>
          <a:p>
            <a:pPr algn="just">
              <a:lnSpc>
                <a:spcPts val="2697"/>
              </a:lnSpc>
            </a:pPr>
          </a:p>
        </p:txBody>
      </p:sp>
      <p:sp>
        <p:nvSpPr>
          <p:cNvPr name="Freeform 14" id="14"/>
          <p:cNvSpPr/>
          <p:nvPr/>
        </p:nvSpPr>
        <p:spPr>
          <a:xfrm flipH="false" flipV="false" rot="0">
            <a:off x="2562114" y="1606652"/>
            <a:ext cx="2815930" cy="564359"/>
          </a:xfrm>
          <a:custGeom>
            <a:avLst/>
            <a:gdLst/>
            <a:ahLst/>
            <a:cxnLst/>
            <a:rect r="r" b="b" t="t" l="l"/>
            <a:pathLst>
              <a:path h="564359" w="2815930">
                <a:moveTo>
                  <a:pt x="0" y="0"/>
                </a:moveTo>
                <a:lnTo>
                  <a:pt x="2815931" y="0"/>
                </a:lnTo>
                <a:lnTo>
                  <a:pt x="2815931" y="564359"/>
                </a:lnTo>
                <a:lnTo>
                  <a:pt x="0" y="564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2757787" y="8520340"/>
            <a:ext cx="2815930" cy="564359"/>
          </a:xfrm>
          <a:custGeom>
            <a:avLst/>
            <a:gdLst/>
            <a:ahLst/>
            <a:cxnLst/>
            <a:rect r="r" b="b" t="t" l="l"/>
            <a:pathLst>
              <a:path h="564359" w="2815930">
                <a:moveTo>
                  <a:pt x="0" y="0"/>
                </a:moveTo>
                <a:lnTo>
                  <a:pt x="2815930" y="0"/>
                </a:lnTo>
                <a:lnTo>
                  <a:pt x="2815930" y="564360"/>
                </a:lnTo>
                <a:lnTo>
                  <a:pt x="0" y="564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true" flipV="false" rot="0">
            <a:off x="-2689932" y="-1386763"/>
            <a:ext cx="4273603" cy="3557774"/>
          </a:xfrm>
          <a:custGeom>
            <a:avLst/>
            <a:gdLst/>
            <a:ahLst/>
            <a:cxnLst/>
            <a:rect r="r" b="b" t="t" l="l"/>
            <a:pathLst>
              <a:path h="3557774" w="4273603">
                <a:moveTo>
                  <a:pt x="4273603" y="0"/>
                </a:moveTo>
                <a:lnTo>
                  <a:pt x="0" y="0"/>
                </a:lnTo>
                <a:lnTo>
                  <a:pt x="0" y="3557774"/>
                </a:lnTo>
                <a:lnTo>
                  <a:pt x="4273603" y="3557774"/>
                </a:lnTo>
                <a:lnTo>
                  <a:pt x="4273603"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grpSp>
        <p:nvGrpSpPr>
          <p:cNvPr name="Group 2" id="2"/>
          <p:cNvGrpSpPr/>
          <p:nvPr/>
        </p:nvGrpSpPr>
        <p:grpSpPr>
          <a:xfrm rot="0">
            <a:off x="4165949" y="1028700"/>
            <a:ext cx="8982472" cy="1567274"/>
            <a:chOff x="0" y="0"/>
            <a:chExt cx="6234890" cy="1087872"/>
          </a:xfrm>
        </p:grpSpPr>
        <p:sp>
          <p:nvSpPr>
            <p:cNvPr name="Freeform 3" id="3"/>
            <p:cNvSpPr/>
            <p:nvPr/>
          </p:nvSpPr>
          <p:spPr>
            <a:xfrm flipH="false" flipV="false" rot="0">
              <a:off x="0" y="0"/>
              <a:ext cx="6234890" cy="1087872"/>
            </a:xfrm>
            <a:custGeom>
              <a:avLst/>
              <a:gdLst/>
              <a:ahLst/>
              <a:cxnLst/>
              <a:rect r="r" b="b" t="t" l="l"/>
              <a:pathLst>
                <a:path h="1087872" w="6234890">
                  <a:moveTo>
                    <a:pt x="203200" y="0"/>
                  </a:moveTo>
                  <a:lnTo>
                    <a:pt x="6234890" y="0"/>
                  </a:lnTo>
                  <a:lnTo>
                    <a:pt x="6031690" y="1087872"/>
                  </a:lnTo>
                  <a:lnTo>
                    <a:pt x="0" y="1087872"/>
                  </a:lnTo>
                  <a:lnTo>
                    <a:pt x="203200" y="0"/>
                  </a:lnTo>
                  <a:close/>
                </a:path>
              </a:pathLst>
            </a:custGeom>
            <a:solidFill>
              <a:srgbClr val="CEA2E1"/>
            </a:solidFill>
          </p:spPr>
        </p:sp>
        <p:sp>
          <p:nvSpPr>
            <p:cNvPr name="TextBox 4" id="4"/>
            <p:cNvSpPr txBox="true"/>
            <p:nvPr/>
          </p:nvSpPr>
          <p:spPr>
            <a:xfrm>
              <a:off x="101600" y="-57150"/>
              <a:ext cx="6031690" cy="1145022"/>
            </a:xfrm>
            <a:prstGeom prst="rect">
              <a:avLst/>
            </a:prstGeom>
          </p:spPr>
          <p:txBody>
            <a:bodyPr anchor="ctr" rtlCol="false" tIns="50800" lIns="50800" bIns="50800" rIns="50800"/>
            <a:lstStyle/>
            <a:p>
              <a:pPr algn="ctr">
                <a:lnSpc>
                  <a:spcPts val="3780"/>
                </a:lnSpc>
              </a:pPr>
              <a:r>
                <a:rPr lang="en-US" b="true" sz="2700">
                  <a:solidFill>
                    <a:srgbClr val="FFFFFF"/>
                  </a:solidFill>
                  <a:latin typeface="Open Sans Semi-Bold"/>
                  <a:ea typeface="Open Sans Semi-Bold"/>
                  <a:cs typeface="Open Sans Semi-Bold"/>
                  <a:sym typeface="Open Sans Semi-Bold"/>
                </a:rPr>
                <a:t>Communicati</a:t>
              </a:r>
              <a:r>
                <a:rPr lang="en-US" b="true" sz="2700">
                  <a:solidFill>
                    <a:srgbClr val="FFFFFF"/>
                  </a:solidFill>
                  <a:latin typeface="Open Sans Semi-Bold"/>
                  <a:ea typeface="Open Sans Semi-Bold"/>
                  <a:cs typeface="Open Sans Semi-Bold"/>
                  <a:sym typeface="Open Sans Semi-Bold"/>
                </a:rPr>
                <a:t>on entre les composants</a:t>
              </a:r>
            </a:p>
          </p:txBody>
        </p:sp>
      </p:grpSp>
      <p:sp>
        <p:nvSpPr>
          <p:cNvPr name="TextBox 5" id="5"/>
          <p:cNvSpPr txBox="true"/>
          <p:nvPr/>
        </p:nvSpPr>
        <p:spPr>
          <a:xfrm rot="0">
            <a:off x="1377777" y="3903346"/>
            <a:ext cx="10426303" cy="2185033"/>
          </a:xfrm>
          <a:prstGeom prst="rect">
            <a:avLst/>
          </a:prstGeom>
        </p:spPr>
        <p:txBody>
          <a:bodyPr anchor="t" rtlCol="false" tIns="0" lIns="0" bIns="0" rIns="0">
            <a:spAutoFit/>
          </a:bodyPr>
          <a:lstStyle/>
          <a:p>
            <a:pPr algn="l" marL="518163" indent="-259082" lvl="1">
              <a:lnSpc>
                <a:spcPts val="6000"/>
              </a:lnSpc>
              <a:buFont typeface="Arial"/>
              <a:buChar char="•"/>
            </a:pPr>
            <a:r>
              <a:rPr lang="en-US" b="true" sz="2400">
                <a:solidFill>
                  <a:srgbClr val="FFFFFF"/>
                </a:solidFill>
                <a:latin typeface="Open Sans Semi-Bold"/>
                <a:ea typeface="Open Sans Semi-Bold"/>
                <a:cs typeface="Open Sans Semi-Bold"/>
                <a:sym typeface="Open Sans Semi-Bold"/>
              </a:rPr>
              <a:t>React → FastAPI : requêtes HTTPS (JSON)</a:t>
            </a:r>
          </a:p>
          <a:p>
            <a:pPr algn="l" marL="518163" indent="-259082" lvl="1">
              <a:lnSpc>
                <a:spcPts val="6000"/>
              </a:lnSpc>
              <a:buFont typeface="Arial"/>
              <a:buChar char="•"/>
            </a:pPr>
            <a:r>
              <a:rPr lang="en-US" b="true" sz="2400">
                <a:solidFill>
                  <a:srgbClr val="FFFFFF"/>
                </a:solidFill>
                <a:latin typeface="Open Sans Semi-Bold"/>
                <a:ea typeface="Open Sans Semi-Bold"/>
                <a:cs typeface="Open Sans Semi-Bold"/>
                <a:sym typeface="Open Sans Semi-Bold"/>
              </a:rPr>
              <a:t>FastAPI → Azure SQL : connexion sécurisée via chaîne de connexion</a:t>
            </a:r>
          </a:p>
          <a:p>
            <a:pPr algn="l" marL="518163" indent="-259082" lvl="1">
              <a:lnSpc>
                <a:spcPts val="6000"/>
              </a:lnSpc>
              <a:buFont typeface="Arial"/>
              <a:buChar char="•"/>
            </a:pPr>
            <a:r>
              <a:rPr lang="en-US" b="true" sz="2400">
                <a:solidFill>
                  <a:srgbClr val="FFFFFF"/>
                </a:solidFill>
                <a:latin typeface="Open Sans Semi-Bold"/>
                <a:ea typeface="Open Sans Semi-Bold"/>
                <a:cs typeface="Open Sans Semi-Bold"/>
                <a:sym typeface="Open Sans Semi-Bold"/>
              </a:rPr>
              <a:t>Mises à jour : réalisées via GitHub ou l’interface Azure</a:t>
            </a:r>
          </a:p>
        </p:txBody>
      </p:sp>
      <p:sp>
        <p:nvSpPr>
          <p:cNvPr name="Freeform 6" id="6"/>
          <p:cNvSpPr/>
          <p:nvPr/>
        </p:nvSpPr>
        <p:spPr>
          <a:xfrm flipH="true" flipV="false" rot="0">
            <a:off x="-2895826" y="8508113"/>
            <a:ext cx="4273603" cy="3557774"/>
          </a:xfrm>
          <a:custGeom>
            <a:avLst/>
            <a:gdLst/>
            <a:ahLst/>
            <a:cxnLst/>
            <a:rect r="r" b="b" t="t" l="l"/>
            <a:pathLst>
              <a:path h="3557774" w="4273603">
                <a:moveTo>
                  <a:pt x="4273603" y="0"/>
                </a:moveTo>
                <a:lnTo>
                  <a:pt x="0" y="0"/>
                </a:lnTo>
                <a:lnTo>
                  <a:pt x="0" y="3557774"/>
                </a:lnTo>
                <a:lnTo>
                  <a:pt x="4273603" y="3557774"/>
                </a:lnTo>
                <a:lnTo>
                  <a:pt x="4273603"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4414082" y="0"/>
            <a:ext cx="4273603" cy="3557774"/>
          </a:xfrm>
          <a:custGeom>
            <a:avLst/>
            <a:gdLst/>
            <a:ahLst/>
            <a:cxnLst/>
            <a:rect r="r" b="b" t="t" l="l"/>
            <a:pathLst>
              <a:path h="3557774" w="4273603">
                <a:moveTo>
                  <a:pt x="4273603" y="0"/>
                </a:moveTo>
                <a:lnTo>
                  <a:pt x="0" y="0"/>
                </a:lnTo>
                <a:lnTo>
                  <a:pt x="0" y="3557774"/>
                </a:lnTo>
                <a:lnTo>
                  <a:pt x="4273603" y="3557774"/>
                </a:lnTo>
                <a:lnTo>
                  <a:pt x="4273603"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961E78">
                <a:alpha val="100000"/>
              </a:srgbClr>
            </a:gs>
          </a:gsLst>
          <a:lin ang="18900000"/>
        </a:gradFill>
      </p:bgPr>
    </p:bg>
    <p:spTree>
      <p:nvGrpSpPr>
        <p:cNvPr id="1" name=""/>
        <p:cNvGrpSpPr/>
        <p:nvPr/>
      </p:nvGrpSpPr>
      <p:grpSpPr>
        <a:xfrm>
          <a:off x="0" y="0"/>
          <a:ext cx="0" cy="0"/>
          <a:chOff x="0" y="0"/>
          <a:chExt cx="0" cy="0"/>
        </a:xfrm>
      </p:grpSpPr>
      <p:sp>
        <p:nvSpPr>
          <p:cNvPr name="Freeform 2" id="2"/>
          <p:cNvSpPr/>
          <p:nvPr/>
        </p:nvSpPr>
        <p:spPr>
          <a:xfrm flipH="true" flipV="true" rot="0">
            <a:off x="14372443" y="7215403"/>
            <a:ext cx="4045944" cy="3368249"/>
          </a:xfrm>
          <a:custGeom>
            <a:avLst/>
            <a:gdLst/>
            <a:ahLst/>
            <a:cxnLst/>
            <a:rect r="r" b="b" t="t" l="l"/>
            <a:pathLst>
              <a:path h="3368249" w="4045944">
                <a:moveTo>
                  <a:pt x="4045945" y="3368249"/>
                </a:moveTo>
                <a:lnTo>
                  <a:pt x="0" y="3368249"/>
                </a:lnTo>
                <a:lnTo>
                  <a:pt x="0" y="0"/>
                </a:lnTo>
                <a:lnTo>
                  <a:pt x="4045945" y="0"/>
                </a:lnTo>
                <a:lnTo>
                  <a:pt x="4045945" y="3368249"/>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4606" y="-305277"/>
            <a:ext cx="4045944" cy="3368249"/>
          </a:xfrm>
          <a:custGeom>
            <a:avLst/>
            <a:gdLst/>
            <a:ahLst/>
            <a:cxnLst/>
            <a:rect r="r" b="b" t="t" l="l"/>
            <a:pathLst>
              <a:path h="3368249" w="4045944">
                <a:moveTo>
                  <a:pt x="0" y="0"/>
                </a:moveTo>
                <a:lnTo>
                  <a:pt x="4045944" y="0"/>
                </a:lnTo>
                <a:lnTo>
                  <a:pt x="4045944" y="3368248"/>
                </a:lnTo>
                <a:lnTo>
                  <a:pt x="0" y="336824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873535" y="4330335"/>
            <a:ext cx="14521881" cy="1396993"/>
          </a:xfrm>
          <a:prstGeom prst="rect">
            <a:avLst/>
          </a:prstGeom>
        </p:spPr>
        <p:txBody>
          <a:bodyPr anchor="t" rtlCol="false" tIns="0" lIns="0" bIns="0" rIns="0">
            <a:spAutoFit/>
          </a:bodyPr>
          <a:lstStyle/>
          <a:p>
            <a:pPr algn="ctr">
              <a:lnSpc>
                <a:spcPts val="10599"/>
              </a:lnSpc>
            </a:pPr>
            <a:r>
              <a:rPr lang="en-US" sz="9999">
                <a:solidFill>
                  <a:srgbClr val="FFFFFF"/>
                </a:solidFill>
                <a:latin typeface="Passion One"/>
                <a:ea typeface="Passion One"/>
                <a:cs typeface="Passion One"/>
                <a:sym typeface="Passion One"/>
              </a:rPr>
              <a:t> CONCLUSION</a:t>
            </a:r>
          </a:p>
        </p:txBody>
      </p:sp>
      <p:sp>
        <p:nvSpPr>
          <p:cNvPr name="Freeform 5" id="5"/>
          <p:cNvSpPr/>
          <p:nvPr/>
        </p:nvSpPr>
        <p:spPr>
          <a:xfrm flipH="false" flipV="false" rot="0">
            <a:off x="1352060" y="4805652"/>
            <a:ext cx="1061999" cy="675697"/>
          </a:xfrm>
          <a:custGeom>
            <a:avLst/>
            <a:gdLst/>
            <a:ahLst/>
            <a:cxnLst/>
            <a:rect r="r" b="b" t="t" l="l"/>
            <a:pathLst>
              <a:path h="675697" w="1061999">
                <a:moveTo>
                  <a:pt x="0" y="0"/>
                </a:moveTo>
                <a:lnTo>
                  <a:pt x="1061999" y="0"/>
                </a:lnTo>
                <a:lnTo>
                  <a:pt x="1061999" y="675696"/>
                </a:lnTo>
                <a:lnTo>
                  <a:pt x="0" y="6756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864416" y="4805652"/>
            <a:ext cx="1061999" cy="675697"/>
          </a:xfrm>
          <a:custGeom>
            <a:avLst/>
            <a:gdLst/>
            <a:ahLst/>
            <a:cxnLst/>
            <a:rect r="r" b="b" t="t" l="l"/>
            <a:pathLst>
              <a:path h="675697" w="1061999">
                <a:moveTo>
                  <a:pt x="1061999" y="0"/>
                </a:moveTo>
                <a:lnTo>
                  <a:pt x="0" y="0"/>
                </a:lnTo>
                <a:lnTo>
                  <a:pt x="0" y="675696"/>
                </a:lnTo>
                <a:lnTo>
                  <a:pt x="1061999" y="675696"/>
                </a:lnTo>
                <a:lnTo>
                  <a:pt x="106199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DAG5yz9wQ-g</dc:identifier>
  <dcterms:modified xsi:type="dcterms:W3CDTF">2011-08-01T06:04:30Z</dcterms:modified>
  <cp:revision>1</cp:revision>
  <dc:title>Présentation_Système_Climat_Intelligent</dc:title>
</cp:coreProperties>
</file>